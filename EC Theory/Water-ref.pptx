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8" r:id="rId5"/>
    <p:sldId id="279" r:id="rId6"/>
    <p:sldId id="257" r:id="rId7"/>
    <p:sldId id="258" r:id="rId8"/>
    <p:sldId id="259" r:id="rId9"/>
    <p:sldId id="260" r:id="rId10"/>
    <p:sldId id="261" r:id="rId11"/>
    <p:sldId id="262" r:id="rId12"/>
    <p:sldId id="280"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6440CE-89A7-42DC-9E9B-983611B5EBB8}" v="4" dt="2020-12-23T12:38:46.404"/>
    <p1510:client id="{3518D735-EABD-41A8-953F-1F57A1D41AEF}" v="4" dt="2020-11-26T18:55:30.569"/>
    <p1510:client id="{4F5B8B50-89DB-42A0-8760-018F8F3EC66B}" v="4" dt="2020-12-22T17:07:18.622"/>
    <p1510:client id="{5456BB1E-DE69-491D-A815-CB4D6749B8E7}" v="5" dt="2021-01-22T12:30:43.706"/>
    <p1510:client id="{5DE7B92F-8292-414C-82A8-BEF3D6C26CC0}" v="15" dt="2020-11-29T13:35:46.619"/>
    <p1510:client id="{69C30E74-6841-4AC8-97F9-A187204BE838}" v="1" dt="2020-11-25T18:56:28.834"/>
    <p1510:client id="{ACA1AA75-A45A-403F-ABF8-3E57F73FCCB6}" v="77" dt="2020-12-01T17:20:14.6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8" d="100"/>
          <a:sy n="78" d="100"/>
        </p:scale>
        <p:origin x="-1134"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10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07"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16010420048_FY_Vora Yashvi Hemal" userId="S::yashvi.hv@somaiya.edu::16efe5fc-897c-4db2-926f-39054b96f46d" providerId="AD" clId="Web-{3518D735-EABD-41A8-953F-1F57A1D41AEF}"/>
    <pc:docChg chg="modSld">
      <pc:chgData name="16010420048_FY_Vora Yashvi Hemal" userId="S::yashvi.hv@somaiya.edu::16efe5fc-897c-4db2-926f-39054b96f46d" providerId="AD" clId="Web-{3518D735-EABD-41A8-953F-1F57A1D41AEF}" dt="2020-11-26T18:55:30.569" v="3" actId="20577"/>
      <pc:docMkLst>
        <pc:docMk/>
      </pc:docMkLst>
      <pc:sldChg chg="modSp">
        <pc:chgData name="16010420048_FY_Vora Yashvi Hemal" userId="S::yashvi.hv@somaiya.edu::16efe5fc-897c-4db2-926f-39054b96f46d" providerId="AD" clId="Web-{3518D735-EABD-41A8-953F-1F57A1D41AEF}" dt="2020-11-26T18:55:30.569" v="3" actId="20577"/>
        <pc:sldMkLst>
          <pc:docMk/>
          <pc:sldMk cId="2222720195" sldId="310"/>
        </pc:sldMkLst>
        <pc:spChg chg="mod">
          <ac:chgData name="16010420048_FY_Vora Yashvi Hemal" userId="S::yashvi.hv@somaiya.edu::16efe5fc-897c-4db2-926f-39054b96f46d" providerId="AD" clId="Web-{3518D735-EABD-41A8-953F-1F57A1D41AEF}" dt="2020-11-26T18:55:30.569" v="3" actId="20577"/>
          <ac:spMkLst>
            <pc:docMk/>
            <pc:sldMk cId="2222720195" sldId="310"/>
            <ac:spMk id="4" creationId="{00000000-0000-0000-0000-000000000000}"/>
          </ac:spMkLst>
        </pc:spChg>
      </pc:sldChg>
    </pc:docChg>
  </pc:docChgLst>
  <pc:docChgLst>
    <pc:chgData name="16010420085_FY_Nair Avyay Suresh" userId="S::avyay.nair@somaiya.edu::fffa1599-cf72-46cc-860e-d58da9a5ce5e" providerId="AD" clId="Web-{ACA1AA75-A45A-403F-ABF8-3E57F73FCCB6}"/>
    <pc:docChg chg="modSld">
      <pc:chgData name="16010420085_FY_Nair Avyay Suresh" userId="S::avyay.nair@somaiya.edu::fffa1599-cf72-46cc-860e-d58da9a5ce5e" providerId="AD" clId="Web-{ACA1AA75-A45A-403F-ABF8-3E57F73FCCB6}" dt="2020-12-01T17:20:14.673" v="76" actId="14100"/>
      <pc:docMkLst>
        <pc:docMk/>
      </pc:docMkLst>
      <pc:sldChg chg="modSp">
        <pc:chgData name="16010420085_FY_Nair Avyay Suresh" userId="S::avyay.nair@somaiya.edu::fffa1599-cf72-46cc-860e-d58da9a5ce5e" providerId="AD" clId="Web-{ACA1AA75-A45A-403F-ABF8-3E57F73FCCB6}" dt="2020-12-01T15:17:17.424" v="0" actId="20577"/>
        <pc:sldMkLst>
          <pc:docMk/>
          <pc:sldMk cId="2423515405" sldId="258"/>
        </pc:sldMkLst>
        <pc:spChg chg="mod">
          <ac:chgData name="16010420085_FY_Nair Avyay Suresh" userId="S::avyay.nair@somaiya.edu::fffa1599-cf72-46cc-860e-d58da9a5ce5e" providerId="AD" clId="Web-{ACA1AA75-A45A-403F-ABF8-3E57F73FCCB6}" dt="2020-12-01T15:17:17.424" v="0" actId="20577"/>
          <ac:spMkLst>
            <pc:docMk/>
            <pc:sldMk cId="2423515405" sldId="258"/>
            <ac:spMk id="4" creationId="{00000000-0000-0000-0000-000000000000}"/>
          </ac:spMkLst>
        </pc:spChg>
      </pc:sldChg>
      <pc:sldChg chg="modSp">
        <pc:chgData name="16010420085_FY_Nair Avyay Suresh" userId="S::avyay.nair@somaiya.edu::fffa1599-cf72-46cc-860e-d58da9a5ce5e" providerId="AD" clId="Web-{ACA1AA75-A45A-403F-ABF8-3E57F73FCCB6}" dt="2020-12-01T15:18:24.962" v="3" actId="20577"/>
        <pc:sldMkLst>
          <pc:docMk/>
          <pc:sldMk cId="492246174" sldId="261"/>
        </pc:sldMkLst>
        <pc:spChg chg="mod">
          <ac:chgData name="16010420085_FY_Nair Avyay Suresh" userId="S::avyay.nair@somaiya.edu::fffa1599-cf72-46cc-860e-d58da9a5ce5e" providerId="AD" clId="Web-{ACA1AA75-A45A-403F-ABF8-3E57F73FCCB6}" dt="2020-12-01T15:18:24.962" v="3" actId="20577"/>
          <ac:spMkLst>
            <pc:docMk/>
            <pc:sldMk cId="492246174" sldId="261"/>
            <ac:spMk id="2" creationId="{00000000-0000-0000-0000-000000000000}"/>
          </ac:spMkLst>
        </pc:spChg>
      </pc:sldChg>
      <pc:sldChg chg="modSp">
        <pc:chgData name="16010420085_FY_Nair Avyay Suresh" userId="S::avyay.nair@somaiya.edu::fffa1599-cf72-46cc-860e-d58da9a5ce5e" providerId="AD" clId="Web-{ACA1AA75-A45A-403F-ABF8-3E57F73FCCB6}" dt="2020-12-01T15:27:09.029" v="43" actId="20577"/>
        <pc:sldMkLst>
          <pc:docMk/>
          <pc:sldMk cId="2539084411" sldId="268"/>
        </pc:sldMkLst>
        <pc:spChg chg="mod">
          <ac:chgData name="16010420085_FY_Nair Avyay Suresh" userId="S::avyay.nair@somaiya.edu::fffa1599-cf72-46cc-860e-d58da9a5ce5e" providerId="AD" clId="Web-{ACA1AA75-A45A-403F-ABF8-3E57F73FCCB6}" dt="2020-12-01T15:27:09.029" v="43" actId="20577"/>
          <ac:spMkLst>
            <pc:docMk/>
            <pc:sldMk cId="2539084411" sldId="268"/>
            <ac:spMk id="4" creationId="{00000000-0000-0000-0000-000000000000}"/>
          </ac:spMkLst>
        </pc:spChg>
      </pc:sldChg>
      <pc:sldChg chg="modSp">
        <pc:chgData name="16010420085_FY_Nair Avyay Suresh" userId="S::avyay.nair@somaiya.edu::fffa1599-cf72-46cc-860e-d58da9a5ce5e" providerId="AD" clId="Web-{ACA1AA75-A45A-403F-ABF8-3E57F73FCCB6}" dt="2020-12-01T15:28:56.008" v="46"/>
        <pc:sldMkLst>
          <pc:docMk/>
          <pc:sldMk cId="2586643510" sldId="270"/>
        </pc:sldMkLst>
        <pc:graphicFrameChg chg="modGraphic">
          <ac:chgData name="16010420085_FY_Nair Avyay Suresh" userId="S::avyay.nair@somaiya.edu::fffa1599-cf72-46cc-860e-d58da9a5ce5e" providerId="AD" clId="Web-{ACA1AA75-A45A-403F-ABF8-3E57F73FCCB6}" dt="2020-12-01T15:28:56.008" v="46"/>
          <ac:graphicFrameMkLst>
            <pc:docMk/>
            <pc:sldMk cId="2586643510" sldId="270"/>
            <ac:graphicFrameMk id="4" creationId="{00000000-0000-0000-0000-000000000000}"/>
          </ac:graphicFrameMkLst>
        </pc:graphicFrameChg>
      </pc:sldChg>
      <pc:sldChg chg="modSp">
        <pc:chgData name="16010420085_FY_Nair Avyay Suresh" userId="S::avyay.nair@somaiya.edu::fffa1599-cf72-46cc-860e-d58da9a5ce5e" providerId="AD" clId="Web-{ACA1AA75-A45A-403F-ABF8-3E57F73FCCB6}" dt="2020-12-01T16:38:19.951" v="51" actId="20577"/>
        <pc:sldMkLst>
          <pc:docMk/>
          <pc:sldMk cId="3398867089" sldId="281"/>
        </pc:sldMkLst>
        <pc:spChg chg="mod">
          <ac:chgData name="16010420085_FY_Nair Avyay Suresh" userId="S::avyay.nair@somaiya.edu::fffa1599-cf72-46cc-860e-d58da9a5ce5e" providerId="AD" clId="Web-{ACA1AA75-A45A-403F-ABF8-3E57F73FCCB6}" dt="2020-12-01T16:38:19.951" v="51" actId="20577"/>
          <ac:spMkLst>
            <pc:docMk/>
            <pc:sldMk cId="3398867089" sldId="281"/>
            <ac:spMk id="2" creationId="{00000000-0000-0000-0000-000000000000}"/>
          </ac:spMkLst>
        </pc:spChg>
      </pc:sldChg>
      <pc:sldChg chg="modSp">
        <pc:chgData name="16010420085_FY_Nair Avyay Suresh" userId="S::avyay.nair@somaiya.edu::fffa1599-cf72-46cc-860e-d58da9a5ce5e" providerId="AD" clId="Web-{ACA1AA75-A45A-403F-ABF8-3E57F73FCCB6}" dt="2020-12-01T16:38:34.686" v="53" actId="20577"/>
        <pc:sldMkLst>
          <pc:docMk/>
          <pc:sldMk cId="1076518219" sldId="283"/>
        </pc:sldMkLst>
        <pc:spChg chg="mod">
          <ac:chgData name="16010420085_FY_Nair Avyay Suresh" userId="S::avyay.nair@somaiya.edu::fffa1599-cf72-46cc-860e-d58da9a5ce5e" providerId="AD" clId="Web-{ACA1AA75-A45A-403F-ABF8-3E57F73FCCB6}" dt="2020-12-01T16:38:34.686" v="53" actId="20577"/>
          <ac:spMkLst>
            <pc:docMk/>
            <pc:sldMk cId="1076518219" sldId="283"/>
            <ac:spMk id="4" creationId="{00000000-0000-0000-0000-000000000000}"/>
          </ac:spMkLst>
        </pc:spChg>
      </pc:sldChg>
      <pc:sldChg chg="modSp">
        <pc:chgData name="16010420085_FY_Nair Avyay Suresh" userId="S::avyay.nair@somaiya.edu::fffa1599-cf72-46cc-860e-d58da9a5ce5e" providerId="AD" clId="Web-{ACA1AA75-A45A-403F-ABF8-3E57F73FCCB6}" dt="2020-12-01T16:41:17.580" v="62" actId="20577"/>
        <pc:sldMkLst>
          <pc:docMk/>
          <pc:sldMk cId="3929746108" sldId="284"/>
        </pc:sldMkLst>
        <pc:spChg chg="mod">
          <ac:chgData name="16010420085_FY_Nair Avyay Suresh" userId="S::avyay.nair@somaiya.edu::fffa1599-cf72-46cc-860e-d58da9a5ce5e" providerId="AD" clId="Web-{ACA1AA75-A45A-403F-ABF8-3E57F73FCCB6}" dt="2020-12-01T16:41:17.580" v="62" actId="20577"/>
          <ac:spMkLst>
            <pc:docMk/>
            <pc:sldMk cId="3929746108" sldId="284"/>
            <ac:spMk id="4" creationId="{00000000-0000-0000-0000-000000000000}"/>
          </ac:spMkLst>
        </pc:spChg>
      </pc:sldChg>
      <pc:sldChg chg="modSp">
        <pc:chgData name="16010420085_FY_Nair Avyay Suresh" userId="S::avyay.nair@somaiya.edu::fffa1599-cf72-46cc-860e-d58da9a5ce5e" providerId="AD" clId="Web-{ACA1AA75-A45A-403F-ABF8-3E57F73FCCB6}" dt="2020-12-01T17:17:27.440" v="72" actId="20577"/>
        <pc:sldMkLst>
          <pc:docMk/>
          <pc:sldMk cId="3941208233" sldId="292"/>
        </pc:sldMkLst>
        <pc:spChg chg="mod">
          <ac:chgData name="16010420085_FY_Nair Avyay Suresh" userId="S::avyay.nair@somaiya.edu::fffa1599-cf72-46cc-860e-d58da9a5ce5e" providerId="AD" clId="Web-{ACA1AA75-A45A-403F-ABF8-3E57F73FCCB6}" dt="2020-12-01T17:17:27.440" v="72" actId="20577"/>
          <ac:spMkLst>
            <pc:docMk/>
            <pc:sldMk cId="3941208233" sldId="292"/>
            <ac:spMk id="4" creationId="{00000000-0000-0000-0000-000000000000}"/>
          </ac:spMkLst>
        </pc:spChg>
      </pc:sldChg>
      <pc:sldChg chg="modSp">
        <pc:chgData name="16010420085_FY_Nair Avyay Suresh" userId="S::avyay.nair@somaiya.edu::fffa1599-cf72-46cc-860e-d58da9a5ce5e" providerId="AD" clId="Web-{ACA1AA75-A45A-403F-ABF8-3E57F73FCCB6}" dt="2020-12-01T17:20:14.673" v="76" actId="14100"/>
        <pc:sldMkLst>
          <pc:docMk/>
          <pc:sldMk cId="1231749265" sldId="295"/>
        </pc:sldMkLst>
        <pc:spChg chg="mod">
          <ac:chgData name="16010420085_FY_Nair Avyay Suresh" userId="S::avyay.nair@somaiya.edu::fffa1599-cf72-46cc-860e-d58da9a5ce5e" providerId="AD" clId="Web-{ACA1AA75-A45A-403F-ABF8-3E57F73FCCB6}" dt="2020-12-01T17:20:14.673" v="76" actId="14100"/>
          <ac:spMkLst>
            <pc:docMk/>
            <pc:sldMk cId="1231749265" sldId="295"/>
            <ac:spMk id="4" creationId="{00000000-0000-0000-0000-000000000000}"/>
          </ac:spMkLst>
        </pc:spChg>
      </pc:sldChg>
    </pc:docChg>
  </pc:docChgLst>
  <pc:docChgLst>
    <pc:chgData name="16010420047_FY_Mehta Niyati Bimal" userId="S::mehta.nb@somaiya.edu::8ec9ce92-26b0-47f0-8d76-1ff115e4ab64" providerId="AD" clId="Web-{48DE8719-F250-44BC-B578-C380021FEA9D}"/>
    <pc:docChg chg="addSld delSld">
      <pc:chgData name="16010420047_FY_Mehta Niyati Bimal" userId="S::mehta.nb@somaiya.edu::8ec9ce92-26b0-47f0-8d76-1ff115e4ab64" providerId="AD" clId="Web-{48DE8719-F250-44BC-B578-C380021FEA9D}" dt="2020-11-24T03:53:55.029" v="1"/>
      <pc:docMkLst>
        <pc:docMk/>
      </pc:docMkLst>
      <pc:sldChg chg="new del">
        <pc:chgData name="16010420047_FY_Mehta Niyati Bimal" userId="S::mehta.nb@somaiya.edu::8ec9ce92-26b0-47f0-8d76-1ff115e4ab64" providerId="AD" clId="Web-{48DE8719-F250-44BC-B578-C380021FEA9D}" dt="2020-11-24T03:53:55.029" v="1"/>
        <pc:sldMkLst>
          <pc:docMk/>
          <pc:sldMk cId="1819523325" sldId="355"/>
        </pc:sldMkLst>
      </pc:sldChg>
    </pc:docChg>
  </pc:docChgLst>
  <pc:docChgLst>
    <pc:chgData name="16010120191_FY_Karamchandani Anushka Sachin" userId="S::a.karamchandani@somaiya.edu::61887ab8-ddea-45e2-8aa7-54cd7abc2906" providerId="AD" clId="Web-{5456BB1E-DE69-491D-A815-CB4D6749B8E7}"/>
    <pc:docChg chg="modSld">
      <pc:chgData name="16010120191_FY_Karamchandani Anushka Sachin" userId="S::a.karamchandani@somaiya.edu::61887ab8-ddea-45e2-8aa7-54cd7abc2906" providerId="AD" clId="Web-{5456BB1E-DE69-491D-A815-CB4D6749B8E7}" dt="2021-01-22T12:30:43.706" v="4" actId="14100"/>
      <pc:docMkLst>
        <pc:docMk/>
      </pc:docMkLst>
      <pc:sldChg chg="modSp">
        <pc:chgData name="16010120191_FY_Karamchandani Anushka Sachin" userId="S::a.karamchandani@somaiya.edu::61887ab8-ddea-45e2-8aa7-54cd7abc2906" providerId="AD" clId="Web-{5456BB1E-DE69-491D-A815-CB4D6749B8E7}" dt="2021-01-22T12:30:43.706" v="4" actId="14100"/>
        <pc:sldMkLst>
          <pc:docMk/>
          <pc:sldMk cId="3927728688" sldId="351"/>
        </pc:sldMkLst>
        <pc:spChg chg="mod">
          <ac:chgData name="16010120191_FY_Karamchandani Anushka Sachin" userId="S::a.karamchandani@somaiya.edu::61887ab8-ddea-45e2-8aa7-54cd7abc2906" providerId="AD" clId="Web-{5456BB1E-DE69-491D-A815-CB4D6749B8E7}" dt="2021-01-22T12:30:43.706" v="4" actId="14100"/>
          <ac:spMkLst>
            <pc:docMk/>
            <pc:sldMk cId="3927728688" sldId="351"/>
            <ac:spMk id="4" creationId="{00000000-0000-0000-0000-000000000000}"/>
          </ac:spMkLst>
        </pc:spChg>
      </pc:sldChg>
    </pc:docChg>
  </pc:docChgLst>
  <pc:docChgLst>
    <pc:chgData name="16010420087_FY_Shah Surin Mayank" userId="S::surin.shah@somaiya.edu::a7d8ccb4-e16f-4fcb-b42b-8aa4a90b951d" providerId="AD" clId="Web-{32588807-2E57-4483-8B39-70DF91D9B6E7}"/>
    <pc:docChg chg="modSld">
      <pc:chgData name="16010420087_FY_Shah Surin Mayank" userId="S::surin.shah@somaiya.edu::a7d8ccb4-e16f-4fcb-b42b-8aa4a90b951d" providerId="AD" clId="Web-{32588807-2E57-4483-8B39-70DF91D9B6E7}" dt="2020-11-22T06:00:02.033" v="11" actId="1076"/>
      <pc:docMkLst>
        <pc:docMk/>
      </pc:docMkLst>
      <pc:sldChg chg="modSp">
        <pc:chgData name="16010420087_FY_Shah Surin Mayank" userId="S::surin.shah@somaiya.edu::a7d8ccb4-e16f-4fcb-b42b-8aa4a90b951d" providerId="AD" clId="Web-{32588807-2E57-4483-8B39-70DF91D9B6E7}" dt="2020-11-22T05:53:58.744" v="6" actId="20577"/>
        <pc:sldMkLst>
          <pc:docMk/>
          <pc:sldMk cId="2423515405" sldId="258"/>
        </pc:sldMkLst>
        <pc:spChg chg="mod">
          <ac:chgData name="16010420087_FY_Shah Surin Mayank" userId="S::surin.shah@somaiya.edu::a7d8ccb4-e16f-4fcb-b42b-8aa4a90b951d" providerId="AD" clId="Web-{32588807-2E57-4483-8B39-70DF91D9B6E7}" dt="2020-11-22T05:53:58.744" v="6" actId="20577"/>
          <ac:spMkLst>
            <pc:docMk/>
            <pc:sldMk cId="2423515405" sldId="258"/>
            <ac:spMk id="4" creationId="{00000000-0000-0000-0000-000000000000}"/>
          </ac:spMkLst>
        </pc:spChg>
      </pc:sldChg>
      <pc:sldChg chg="modSp">
        <pc:chgData name="16010420087_FY_Shah Surin Mayank" userId="S::surin.shah@somaiya.edu::a7d8ccb4-e16f-4fcb-b42b-8aa4a90b951d" providerId="AD" clId="Web-{32588807-2E57-4483-8B39-70DF91D9B6E7}" dt="2020-11-22T06:00:02.033" v="11" actId="1076"/>
        <pc:sldMkLst>
          <pc:docMk/>
          <pc:sldMk cId="859021592" sldId="263"/>
        </pc:sldMkLst>
        <pc:spChg chg="mod">
          <ac:chgData name="16010420087_FY_Shah Surin Mayank" userId="S::surin.shah@somaiya.edu::a7d8ccb4-e16f-4fcb-b42b-8aa4a90b951d" providerId="AD" clId="Web-{32588807-2E57-4483-8B39-70DF91D9B6E7}" dt="2020-11-22T06:00:02.033" v="11" actId="1076"/>
          <ac:spMkLst>
            <pc:docMk/>
            <pc:sldMk cId="859021592" sldId="263"/>
            <ac:spMk id="4" creationId="{00000000-0000-0000-0000-000000000000}"/>
          </ac:spMkLst>
        </pc:spChg>
      </pc:sldChg>
    </pc:docChg>
  </pc:docChgLst>
  <pc:docChgLst>
    <pc:chgData name="16010420084_FY_Chotalia Sagar Dayalji" userId="S::sagar.chotalia@somaiya.edu::26c8961c-14f5-4777-b767-d4e0ce7efef4" providerId="AD" clId="Web-{4F5B8B50-89DB-42A0-8760-018F8F3EC66B}"/>
    <pc:docChg chg="modSld">
      <pc:chgData name="16010420084_FY_Chotalia Sagar Dayalji" userId="S::sagar.chotalia@somaiya.edu::26c8961c-14f5-4777-b767-d4e0ce7efef4" providerId="AD" clId="Web-{4F5B8B50-89DB-42A0-8760-018F8F3EC66B}" dt="2020-12-22T17:07:18.622" v="3" actId="20577"/>
      <pc:docMkLst>
        <pc:docMk/>
      </pc:docMkLst>
      <pc:sldChg chg="modSp">
        <pc:chgData name="16010420084_FY_Chotalia Sagar Dayalji" userId="S::sagar.chotalia@somaiya.edu::26c8961c-14f5-4777-b767-d4e0ce7efef4" providerId="AD" clId="Web-{4F5B8B50-89DB-42A0-8760-018F8F3EC66B}" dt="2020-12-22T17:07:18.622" v="2" actId="20577"/>
        <pc:sldMkLst>
          <pc:docMk/>
          <pc:sldMk cId="1330718930" sldId="278"/>
        </pc:sldMkLst>
        <pc:spChg chg="mod">
          <ac:chgData name="16010420084_FY_Chotalia Sagar Dayalji" userId="S::sagar.chotalia@somaiya.edu::26c8961c-14f5-4777-b767-d4e0ce7efef4" providerId="AD" clId="Web-{4F5B8B50-89DB-42A0-8760-018F8F3EC66B}" dt="2020-12-22T17:07:18.622" v="2" actId="20577"/>
          <ac:spMkLst>
            <pc:docMk/>
            <pc:sldMk cId="1330718930" sldId="278"/>
            <ac:spMk id="2" creationId="{00000000-0000-0000-0000-000000000000}"/>
          </ac:spMkLst>
        </pc:spChg>
      </pc:sldChg>
    </pc:docChg>
  </pc:docChgLst>
  <pc:docChgLst>
    <pc:chgData name="16010420066_FY_Shah Aayush Vinod" userId="S::aayush28@somaiya.edu::b5cc6768-d81a-466c-b3e5-ff3cf59e6bf5" providerId="AD" clId="Web-{2BF829C1-B6FA-4A24-9426-EAF4AF6B0819}"/>
    <pc:docChg chg="modSld">
      <pc:chgData name="16010420066_FY_Shah Aayush Vinod" userId="S::aayush28@somaiya.edu::b5cc6768-d81a-466c-b3e5-ff3cf59e6bf5" providerId="AD" clId="Web-{2BF829C1-B6FA-4A24-9426-EAF4AF6B0819}" dt="2020-11-18T16:45:43.724" v="0" actId="1076"/>
      <pc:docMkLst>
        <pc:docMk/>
      </pc:docMkLst>
      <pc:sldChg chg="modSp">
        <pc:chgData name="16010420066_FY_Shah Aayush Vinod" userId="S::aayush28@somaiya.edu::b5cc6768-d81a-466c-b3e5-ff3cf59e6bf5" providerId="AD" clId="Web-{2BF829C1-B6FA-4A24-9426-EAF4AF6B0819}" dt="2020-11-18T16:45:43.724" v="0" actId="1076"/>
        <pc:sldMkLst>
          <pc:docMk/>
          <pc:sldMk cId="2259064229" sldId="282"/>
        </pc:sldMkLst>
        <pc:picChg chg="mod">
          <ac:chgData name="16010420066_FY_Shah Aayush Vinod" userId="S::aayush28@somaiya.edu::b5cc6768-d81a-466c-b3e5-ff3cf59e6bf5" providerId="AD" clId="Web-{2BF829C1-B6FA-4A24-9426-EAF4AF6B0819}" dt="2020-11-18T16:45:43.724" v="0" actId="1076"/>
          <ac:picMkLst>
            <pc:docMk/>
            <pc:sldMk cId="2259064229" sldId="282"/>
            <ac:picMk id="1028" creationId="{00000000-0000-0000-0000-000000000000}"/>
          </ac:picMkLst>
        </pc:picChg>
      </pc:sldChg>
    </pc:docChg>
  </pc:docChgLst>
  <pc:docChgLst>
    <pc:chgData name="16010420118_FY_Singh Parthsarthi" userId="S::parthsarthi.s@somaiya.edu::c26d3b5f-822b-4ffe-b0e1-8141ba9e30ce" providerId="AD" clId="Web-{6942DAB6-16A0-4B9B-8221-1A859A2C2B08}"/>
    <pc:docChg chg="modSld">
      <pc:chgData name="16010420118_FY_Singh Parthsarthi" userId="S::parthsarthi.s@somaiya.edu::c26d3b5f-822b-4ffe-b0e1-8141ba9e30ce" providerId="AD" clId="Web-{6942DAB6-16A0-4B9B-8221-1A859A2C2B08}" dt="2020-11-23T13:25:06.541" v="13" actId="20577"/>
      <pc:docMkLst>
        <pc:docMk/>
      </pc:docMkLst>
      <pc:sldChg chg="modSp">
        <pc:chgData name="16010420118_FY_Singh Parthsarthi" userId="S::parthsarthi.s@somaiya.edu::c26d3b5f-822b-4ffe-b0e1-8141ba9e30ce" providerId="AD" clId="Web-{6942DAB6-16A0-4B9B-8221-1A859A2C2B08}" dt="2020-11-23T13:25:06.525" v="12" actId="20577"/>
        <pc:sldMkLst>
          <pc:docMk/>
          <pc:sldMk cId="2539084411" sldId="268"/>
        </pc:sldMkLst>
        <pc:spChg chg="mod">
          <ac:chgData name="16010420118_FY_Singh Parthsarthi" userId="S::parthsarthi.s@somaiya.edu::c26d3b5f-822b-4ffe-b0e1-8141ba9e30ce" providerId="AD" clId="Web-{6942DAB6-16A0-4B9B-8221-1A859A2C2B08}" dt="2020-11-23T13:25:06.525" v="12" actId="20577"/>
          <ac:spMkLst>
            <pc:docMk/>
            <pc:sldMk cId="2539084411" sldId="268"/>
            <ac:spMk id="4" creationId="{00000000-0000-0000-0000-000000000000}"/>
          </ac:spMkLst>
        </pc:spChg>
      </pc:sldChg>
      <pc:sldChg chg="modSp">
        <pc:chgData name="16010420118_FY_Singh Parthsarthi" userId="S::parthsarthi.s@somaiya.edu::c26d3b5f-822b-4ffe-b0e1-8141ba9e30ce" providerId="AD" clId="Web-{6942DAB6-16A0-4B9B-8221-1A859A2C2B08}" dt="2020-11-23T12:56:06.678" v="6" actId="20577"/>
        <pc:sldMkLst>
          <pc:docMk/>
          <pc:sldMk cId="319549905" sldId="279"/>
        </pc:sldMkLst>
        <pc:spChg chg="mod">
          <ac:chgData name="16010420118_FY_Singh Parthsarthi" userId="S::parthsarthi.s@somaiya.edu::c26d3b5f-822b-4ffe-b0e1-8141ba9e30ce" providerId="AD" clId="Web-{6942DAB6-16A0-4B9B-8221-1A859A2C2B08}" dt="2020-11-23T12:56:06.678" v="6" actId="20577"/>
          <ac:spMkLst>
            <pc:docMk/>
            <pc:sldMk cId="319549905" sldId="279"/>
            <ac:spMk id="4" creationId="{00000000-0000-0000-0000-000000000000}"/>
          </ac:spMkLst>
        </pc:spChg>
      </pc:sldChg>
    </pc:docChg>
  </pc:docChgLst>
  <pc:docChgLst>
    <pc:chgData name="16010420054_FY_Londhe Rohit Vinit" userId="S::rohit.londhe@somaiya.edu::865dc74f-cc1a-426f-a4c9-26f9513af7d1" providerId="AD" clId="Web-{256440CE-89A7-42DC-9E9B-983611B5EBB8}"/>
    <pc:docChg chg="modSld">
      <pc:chgData name="16010420054_FY_Londhe Rohit Vinit" userId="S::rohit.londhe@somaiya.edu::865dc74f-cc1a-426f-a4c9-26f9513af7d1" providerId="AD" clId="Web-{256440CE-89A7-42DC-9E9B-983611B5EBB8}" dt="2020-12-23T12:38:46.404" v="3" actId="20577"/>
      <pc:docMkLst>
        <pc:docMk/>
      </pc:docMkLst>
      <pc:sldChg chg="modSp">
        <pc:chgData name="16010420054_FY_Londhe Rohit Vinit" userId="S::rohit.londhe@somaiya.edu::865dc74f-cc1a-426f-a4c9-26f9513af7d1" providerId="AD" clId="Web-{256440CE-89A7-42DC-9E9B-983611B5EBB8}" dt="2020-12-23T12:38:46.389" v="2" actId="20577"/>
        <pc:sldMkLst>
          <pc:docMk/>
          <pc:sldMk cId="492246174" sldId="261"/>
        </pc:sldMkLst>
        <pc:spChg chg="mod">
          <ac:chgData name="16010420054_FY_Londhe Rohit Vinit" userId="S::rohit.londhe@somaiya.edu::865dc74f-cc1a-426f-a4c9-26f9513af7d1" providerId="AD" clId="Web-{256440CE-89A7-42DC-9E9B-983611B5EBB8}" dt="2020-12-23T12:38:46.389" v="2" actId="20577"/>
          <ac:spMkLst>
            <pc:docMk/>
            <pc:sldMk cId="492246174" sldId="261"/>
            <ac:spMk id="2" creationId="{00000000-0000-0000-0000-000000000000}"/>
          </ac:spMkLst>
        </pc:spChg>
      </pc:sldChg>
    </pc:docChg>
  </pc:docChgLst>
  <pc:docChgLst>
    <pc:chgData name="16010420015_FY_Desai Pratyush Amit" userId="S::pratyush.d@somaiya.edu::0222a673-a301-4322-9b11-4e45ad9ca4a8" providerId="AD" clId="Web-{5E502148-E8A6-4D38-8AAC-D36D81B541D4}"/>
    <pc:docChg chg="addSld">
      <pc:chgData name="16010420015_FY_Desai Pratyush Amit" userId="S::pratyush.d@somaiya.edu::0222a673-a301-4322-9b11-4e45ad9ca4a8" providerId="AD" clId="Web-{5E502148-E8A6-4D38-8AAC-D36D81B541D4}" dt="2020-11-17T10:02:26.170" v="0"/>
      <pc:docMkLst>
        <pc:docMk/>
      </pc:docMkLst>
      <pc:sldChg chg="new">
        <pc:chgData name="16010420015_FY_Desai Pratyush Amit" userId="S::pratyush.d@somaiya.edu::0222a673-a301-4322-9b11-4e45ad9ca4a8" providerId="AD" clId="Web-{5E502148-E8A6-4D38-8AAC-D36D81B541D4}" dt="2020-11-17T10:02:26.170" v="0"/>
        <pc:sldMkLst>
          <pc:docMk/>
          <pc:sldMk cId="307113344" sldId="354"/>
        </pc:sldMkLst>
      </pc:sldChg>
    </pc:docChg>
  </pc:docChgLst>
  <pc:docChgLst>
    <pc:chgData name="16010420048_FY_Vora Yashvi Hemal" userId="S::yashvi.hv@somaiya.edu::16efe5fc-897c-4db2-926f-39054b96f46d" providerId="AD" clId="Web-{69C30E74-6841-4AC8-97F9-A187204BE838}"/>
    <pc:docChg chg="modSld">
      <pc:chgData name="16010420048_FY_Vora Yashvi Hemal" userId="S::yashvi.hv@somaiya.edu::16efe5fc-897c-4db2-926f-39054b96f46d" providerId="AD" clId="Web-{69C30E74-6841-4AC8-97F9-A187204BE838}" dt="2020-11-25T18:56:28.834" v="0" actId="1076"/>
      <pc:docMkLst>
        <pc:docMk/>
      </pc:docMkLst>
      <pc:sldChg chg="modSp">
        <pc:chgData name="16010420048_FY_Vora Yashvi Hemal" userId="S::yashvi.hv@somaiya.edu::16efe5fc-897c-4db2-926f-39054b96f46d" providerId="AD" clId="Web-{69C30E74-6841-4AC8-97F9-A187204BE838}" dt="2020-11-25T18:56:28.834" v="0" actId="1076"/>
        <pc:sldMkLst>
          <pc:docMk/>
          <pc:sldMk cId="1859404142" sldId="299"/>
        </pc:sldMkLst>
        <pc:spChg chg="mod">
          <ac:chgData name="16010420048_FY_Vora Yashvi Hemal" userId="S::yashvi.hv@somaiya.edu::16efe5fc-897c-4db2-926f-39054b96f46d" providerId="AD" clId="Web-{69C30E74-6841-4AC8-97F9-A187204BE838}" dt="2020-11-25T18:56:28.834" v="0" actId="1076"/>
          <ac:spMkLst>
            <pc:docMk/>
            <pc:sldMk cId="1859404142" sldId="299"/>
            <ac:spMk id="4" creationId="{00000000-0000-0000-0000-000000000000}"/>
          </ac:spMkLst>
        </pc:spChg>
      </pc:sldChg>
    </pc:docChg>
  </pc:docChgLst>
  <pc:docChgLst>
    <pc:chgData name="16010420048_FY_Vora Yashvi Hemal" userId="S::yashvi.hv@somaiya.edu::16efe5fc-897c-4db2-926f-39054b96f46d" providerId="AD" clId="Web-{5DE7B92F-8292-414C-82A8-BEF3D6C26CC0}"/>
    <pc:docChg chg="modSld sldOrd">
      <pc:chgData name="16010420048_FY_Vora Yashvi Hemal" userId="S::yashvi.hv@somaiya.edu::16efe5fc-897c-4db2-926f-39054b96f46d" providerId="AD" clId="Web-{5DE7B92F-8292-414C-82A8-BEF3D6C26CC0}" dt="2020-11-29T13:35:46.619" v="4"/>
      <pc:docMkLst>
        <pc:docMk/>
      </pc:docMkLst>
      <pc:sldChg chg="ord">
        <pc:chgData name="16010420048_FY_Vora Yashvi Hemal" userId="S::yashvi.hv@somaiya.edu::16efe5fc-897c-4db2-926f-39054b96f46d" providerId="AD" clId="Web-{5DE7B92F-8292-414C-82A8-BEF3D6C26CC0}" dt="2020-11-29T13:35:08.900" v="3"/>
        <pc:sldMkLst>
          <pc:docMk/>
          <pc:sldMk cId="859021592" sldId="263"/>
        </pc:sldMkLst>
      </pc:sldChg>
      <pc:sldChg chg="ord">
        <pc:chgData name="16010420048_FY_Vora Yashvi Hemal" userId="S::yashvi.hv@somaiya.edu::16efe5fc-897c-4db2-926f-39054b96f46d" providerId="AD" clId="Web-{5DE7B92F-8292-414C-82A8-BEF3D6C26CC0}" dt="2020-11-29T13:35:46.619" v="4"/>
        <pc:sldMkLst>
          <pc:docMk/>
          <pc:sldMk cId="3341736801" sldId="309"/>
        </pc:sldMkLst>
      </pc:sldChg>
      <pc:sldChg chg="modSp">
        <pc:chgData name="16010420048_FY_Vora Yashvi Hemal" userId="S::yashvi.hv@somaiya.edu::16efe5fc-897c-4db2-926f-39054b96f46d" providerId="AD" clId="Web-{5DE7B92F-8292-414C-82A8-BEF3D6C26CC0}" dt="2020-11-29T13:32:57.084" v="2"/>
        <pc:sldMkLst>
          <pc:docMk/>
          <pc:sldMk cId="2638439574" sldId="328"/>
        </pc:sldMkLst>
        <pc:graphicFrameChg chg="mod modGraphic">
          <ac:chgData name="16010420048_FY_Vora Yashvi Hemal" userId="S::yashvi.hv@somaiya.edu::16efe5fc-897c-4db2-926f-39054b96f46d" providerId="AD" clId="Web-{5DE7B92F-8292-414C-82A8-BEF3D6C26CC0}" dt="2020-11-29T13:32:57.084" v="2"/>
          <ac:graphicFrameMkLst>
            <pc:docMk/>
            <pc:sldMk cId="2638439574" sldId="328"/>
            <ac:graphicFrameMk id="4" creationId="{00000000-0000-0000-0000-000000000000}"/>
          </ac:graphicFrameMkLst>
        </pc:graphicFrameChg>
      </pc:sldChg>
    </pc:docChg>
  </pc:docChgLst>
  <pc:docChgLst>
    <pc:chgData name="16010420033_FY_Jani Tanmay Kalpesh" userId="S::tanmay.jani@somaiya.edu::214031da-c746-41bd-8f2a-71a88f814cc1" providerId="AD" clId="Web-{0F0B3776-39E6-4D55-982E-A00B37214BA6}"/>
    <pc:docChg chg="addSld delSld">
      <pc:chgData name="16010420033_FY_Jani Tanmay Kalpesh" userId="S::tanmay.jani@somaiya.edu::214031da-c746-41bd-8f2a-71a88f814cc1" providerId="AD" clId="Web-{0F0B3776-39E6-4D55-982E-A00B37214BA6}" dt="2020-11-23T05:22:32.599" v="1"/>
      <pc:docMkLst>
        <pc:docMk/>
      </pc:docMkLst>
      <pc:sldChg chg="new del">
        <pc:chgData name="16010420033_FY_Jani Tanmay Kalpesh" userId="S::tanmay.jani@somaiya.edu::214031da-c746-41bd-8f2a-71a88f814cc1" providerId="AD" clId="Web-{0F0B3776-39E6-4D55-982E-A00B37214BA6}" dt="2020-11-23T05:22:32.599" v="1"/>
        <pc:sldMkLst>
          <pc:docMk/>
          <pc:sldMk cId="346924662" sldId="35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04/06/2022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04/06/2022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0"/>
            <a:ext cx="8229600" cy="1143000"/>
          </a:xfrm>
        </p:spPr>
        <p:txBody>
          <a:bodyPr/>
          <a:lstStyle/>
          <a:p>
            <a:r>
              <a:rPr lang="en-US" b="1">
                <a:solidFill>
                  <a:srgbClr val="0070C0"/>
                </a:solidFill>
              </a:rPr>
              <a:t>Water</a:t>
            </a:r>
          </a:p>
        </p:txBody>
      </p:sp>
      <p:sp>
        <p:nvSpPr>
          <p:cNvPr id="3" name="Content Placeholder 2"/>
          <p:cNvSpPr>
            <a:spLocks noGrp="1"/>
          </p:cNvSpPr>
          <p:nvPr>
            <p:ph idx="1"/>
          </p:nvPr>
        </p:nvSpPr>
        <p:spPr>
          <a:xfrm>
            <a:off x="3429000" y="3886200"/>
            <a:ext cx="2514600" cy="1524000"/>
          </a:xfrm>
        </p:spPr>
        <p:txBody>
          <a:bodyPr>
            <a:normAutofit/>
          </a:bodyPr>
          <a:lstStyle/>
          <a:p>
            <a:pPr marL="0" indent="0" algn="ctr">
              <a:buNone/>
            </a:pPr>
            <a:r>
              <a:rPr lang="en-US" sz="1800" b="1"/>
              <a:t>Dr. Bharati Choudhari</a:t>
            </a:r>
          </a:p>
          <a:p>
            <a:pPr marL="0" indent="0" algn="ctr">
              <a:buNone/>
            </a:pPr>
            <a:r>
              <a:rPr lang="en-US" sz="1800" b="1"/>
              <a:t>Asst. Professor- S&amp;H</a:t>
            </a:r>
          </a:p>
          <a:p>
            <a:pPr marL="0" indent="0" algn="ctr">
              <a:buNone/>
            </a:pPr>
            <a:r>
              <a:rPr lang="en-US" sz="1800" b="1"/>
              <a:t>KJSCE, SVU,</a:t>
            </a:r>
          </a:p>
          <a:p>
            <a:pPr marL="0" indent="0" algn="ctr">
              <a:buNone/>
            </a:pPr>
            <a:r>
              <a:rPr lang="en-US" sz="1800" b="1"/>
              <a:t>Vidyavihar.</a:t>
            </a:r>
          </a:p>
        </p:txBody>
      </p:sp>
    </p:spTree>
    <p:extLst>
      <p:ext uri="{BB962C8B-B14F-4D97-AF65-F5344CB8AC3E}">
        <p14:creationId xmlns:p14="http://schemas.microsoft.com/office/powerpoint/2010/main" val="1330718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33400"/>
            <a:ext cx="7924800" cy="5755422"/>
          </a:xfrm>
          <a:prstGeom prst="rect">
            <a:avLst/>
          </a:prstGeom>
        </p:spPr>
        <p:txBody>
          <a:bodyPr wrap="square" lIns="91440" tIns="45720" rIns="91440" bIns="45720" anchor="t">
            <a:spAutoFit/>
          </a:bodyPr>
          <a:lstStyle/>
          <a:p>
            <a:r>
              <a:rPr lang="en-US" sz="3200" b="1"/>
              <a:t>Introduction</a:t>
            </a:r>
          </a:p>
          <a:p>
            <a:pPr algn="ctr"/>
            <a:endParaRPr lang="en-US" sz="2400" b="1"/>
          </a:p>
          <a:p>
            <a:pPr algn="just"/>
            <a:r>
              <a:rPr lang="en-US" sz="2400" b="1"/>
              <a:t>1). Like air, water is one of the few basic materials which is of prime importance for the preservation of life on this earth. </a:t>
            </a:r>
          </a:p>
          <a:p>
            <a:pPr algn="just"/>
            <a:endParaRPr lang="en-US" sz="2400" b="1">
              <a:cs typeface="Calibri"/>
            </a:endParaRPr>
          </a:p>
          <a:p>
            <a:pPr algn="just"/>
            <a:r>
              <a:rPr lang="en-US" sz="2400" b="1"/>
              <a:t>2). All are aware of the uses of water for drinking, cooking, cooking, bathing &amp; for farming etc. </a:t>
            </a:r>
            <a:endParaRPr lang="en-US" sz="2400" b="1">
              <a:cs typeface="Calibri"/>
            </a:endParaRPr>
          </a:p>
          <a:p>
            <a:pPr algn="just"/>
            <a:endParaRPr lang="en-US" sz="2400" b="1"/>
          </a:p>
          <a:p>
            <a:pPr algn="just"/>
            <a:r>
              <a:rPr lang="en-US" sz="2400" b="1"/>
              <a:t>3). But few know the importance of water as an engineering material. </a:t>
            </a:r>
            <a:endParaRPr lang="en-US" sz="2400" b="1">
              <a:cs typeface="Calibri"/>
            </a:endParaRPr>
          </a:p>
          <a:p>
            <a:pPr algn="just"/>
            <a:endParaRPr lang="en-US" sz="2400" b="1"/>
          </a:p>
          <a:p>
            <a:pPr algn="just"/>
            <a:r>
              <a:rPr lang="en-US" sz="2400" b="1"/>
              <a:t>4). </a:t>
            </a:r>
            <a:r>
              <a:rPr lang="en-US" sz="2400" b="1">
                <a:solidFill>
                  <a:srgbClr val="7030A0"/>
                </a:solidFill>
              </a:rPr>
              <a:t>As an engineering material water is used for producing steam, in boilers to generate hydro-electric power, furnishing steam for engines, for construction of concrete structures for manufacturing purposes &amp; as a solvent in chemical process.</a:t>
            </a:r>
            <a:endParaRPr lang="en-US" sz="2400" b="1">
              <a:solidFill>
                <a:srgbClr val="7030A0"/>
              </a:solidFill>
              <a:cs typeface="Calibri"/>
            </a:endParaRPr>
          </a:p>
        </p:txBody>
      </p:sp>
    </p:spTree>
    <p:extLst>
      <p:ext uri="{BB962C8B-B14F-4D97-AF65-F5344CB8AC3E}">
        <p14:creationId xmlns:p14="http://schemas.microsoft.com/office/powerpoint/2010/main" val="319549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457200"/>
            <a:ext cx="7848600" cy="3046988"/>
          </a:xfrm>
          <a:prstGeom prst="rect">
            <a:avLst/>
          </a:prstGeom>
        </p:spPr>
        <p:txBody>
          <a:bodyPr wrap="square">
            <a:spAutoFit/>
          </a:bodyPr>
          <a:lstStyle/>
          <a:p>
            <a:pPr algn="just"/>
            <a:r>
              <a:rPr lang="en-US" sz="3200" b="1"/>
              <a:t>Sources of Water:</a:t>
            </a:r>
          </a:p>
          <a:p>
            <a:pPr algn="just"/>
            <a:r>
              <a:rPr lang="en-US" sz="3200"/>
              <a:t>The Main Sources Of Water Are: </a:t>
            </a:r>
          </a:p>
          <a:p>
            <a:pPr algn="just"/>
            <a:r>
              <a:rPr lang="en-US" sz="3200"/>
              <a:t>1). Rain water </a:t>
            </a:r>
          </a:p>
          <a:p>
            <a:pPr algn="just"/>
            <a:r>
              <a:rPr lang="en-US" sz="3200"/>
              <a:t>2). River water </a:t>
            </a:r>
          </a:p>
          <a:p>
            <a:pPr algn="just"/>
            <a:r>
              <a:rPr lang="en-US" sz="3200"/>
              <a:t>3). Spring or well water </a:t>
            </a:r>
          </a:p>
          <a:p>
            <a:pPr algn="just"/>
            <a:r>
              <a:rPr lang="en-US" sz="3200"/>
              <a:t>4). Sea water</a:t>
            </a:r>
          </a:p>
        </p:txBody>
      </p:sp>
    </p:spTree>
    <p:extLst>
      <p:ext uri="{BB962C8B-B14F-4D97-AF65-F5344CB8AC3E}">
        <p14:creationId xmlns:p14="http://schemas.microsoft.com/office/powerpoint/2010/main" val="1423894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457200"/>
            <a:ext cx="8077200" cy="5509200"/>
          </a:xfrm>
          <a:prstGeom prst="rect">
            <a:avLst/>
          </a:prstGeom>
        </p:spPr>
        <p:txBody>
          <a:bodyPr wrap="square" lIns="91440" tIns="45720" rIns="91440" bIns="45720" anchor="t">
            <a:spAutoFit/>
          </a:bodyPr>
          <a:lstStyle/>
          <a:p>
            <a:pPr algn="just"/>
            <a:r>
              <a:rPr lang="en-US" sz="3200" b="1"/>
              <a:t>Types of impurities in water: </a:t>
            </a:r>
          </a:p>
          <a:p>
            <a:pPr algn="just"/>
            <a:r>
              <a:rPr lang="en-US" sz="3200"/>
              <a:t>The impurities present in water are classified as: </a:t>
            </a:r>
          </a:p>
          <a:p>
            <a:pPr algn="just"/>
            <a:r>
              <a:rPr lang="en-US" sz="3200"/>
              <a:t>1). </a:t>
            </a:r>
            <a:r>
              <a:rPr lang="en-US" sz="3200" u="sng"/>
              <a:t>Dissolved impurities: </a:t>
            </a:r>
            <a:r>
              <a:rPr lang="en-US" sz="3200"/>
              <a:t>dissolved impurities may organic or inorganic. </a:t>
            </a:r>
            <a:endParaRPr lang="en-US" sz="3200">
              <a:cs typeface="Calibri"/>
            </a:endParaRPr>
          </a:p>
          <a:p>
            <a:pPr algn="just"/>
            <a:r>
              <a:rPr lang="en-US" sz="3200">
                <a:solidFill>
                  <a:srgbClr val="FF0000"/>
                </a:solidFill>
              </a:rPr>
              <a:t>Inorganic impurities: </a:t>
            </a:r>
            <a:r>
              <a:rPr lang="en-US" sz="3200"/>
              <a:t>the carbonates, bicarbonates, sulphates, chlorides of calcium, magnesium, iron potassium and aluminium. </a:t>
            </a:r>
          </a:p>
          <a:p>
            <a:pPr algn="just"/>
            <a:r>
              <a:rPr lang="en-US" sz="3200">
                <a:solidFill>
                  <a:srgbClr val="FF0000"/>
                </a:solidFill>
              </a:rPr>
              <a:t>Organic impurities: </a:t>
            </a:r>
            <a:r>
              <a:rPr lang="en-US" sz="3200"/>
              <a:t>Organic water products, amino acids, proteins, etc. Gases: O</a:t>
            </a:r>
            <a:r>
              <a:rPr lang="en-US" sz="3200" baseline="-25000"/>
              <a:t>2</a:t>
            </a:r>
            <a:r>
              <a:rPr lang="en-US" sz="3200"/>
              <a:t>, CO</a:t>
            </a:r>
            <a:r>
              <a:rPr lang="en-US" sz="3200" baseline="-25000"/>
              <a:t>2</a:t>
            </a:r>
            <a:r>
              <a:rPr lang="en-US" sz="3200"/>
              <a:t>, Oxides of nitrogen and sulphur, H</a:t>
            </a:r>
            <a:r>
              <a:rPr lang="en-US" sz="3200" baseline="-25000"/>
              <a:t>2</a:t>
            </a:r>
            <a:r>
              <a:rPr lang="en-US" sz="3200"/>
              <a:t>S etc. </a:t>
            </a:r>
          </a:p>
        </p:txBody>
      </p:sp>
    </p:spTree>
    <p:extLst>
      <p:ext uri="{BB962C8B-B14F-4D97-AF65-F5344CB8AC3E}">
        <p14:creationId xmlns:p14="http://schemas.microsoft.com/office/powerpoint/2010/main" val="2423515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609600"/>
            <a:ext cx="8229600" cy="3046988"/>
          </a:xfrm>
          <a:prstGeom prst="rect">
            <a:avLst/>
          </a:prstGeom>
        </p:spPr>
        <p:txBody>
          <a:bodyPr wrap="square">
            <a:spAutoFit/>
          </a:bodyPr>
          <a:lstStyle/>
          <a:p>
            <a:r>
              <a:rPr lang="en-US" sz="3200"/>
              <a:t>2). </a:t>
            </a:r>
            <a:r>
              <a:rPr lang="en-US" sz="3200" b="1"/>
              <a:t>Suspended impurities:</a:t>
            </a:r>
            <a:r>
              <a:rPr lang="en-US" sz="3200"/>
              <a:t> It is of two types: </a:t>
            </a:r>
          </a:p>
          <a:p>
            <a:pPr marL="514350" indent="-514350">
              <a:buAutoNum type="arabicPeriod"/>
            </a:pPr>
            <a:r>
              <a:rPr lang="en-US" sz="3200">
                <a:solidFill>
                  <a:srgbClr val="FF0000"/>
                </a:solidFill>
              </a:rPr>
              <a:t>Inorganic-</a:t>
            </a:r>
            <a:r>
              <a:rPr lang="en-US" sz="3200"/>
              <a:t> sand &amp; clay; </a:t>
            </a:r>
          </a:p>
          <a:p>
            <a:pPr marL="514350" indent="-514350">
              <a:buAutoNum type="arabicPeriod"/>
            </a:pPr>
            <a:r>
              <a:rPr lang="en-US" sz="3200">
                <a:solidFill>
                  <a:srgbClr val="FF0000"/>
                </a:solidFill>
              </a:rPr>
              <a:t>Organic-</a:t>
            </a:r>
            <a:r>
              <a:rPr lang="en-US" sz="3200"/>
              <a:t> vegetable and animal matter. </a:t>
            </a:r>
          </a:p>
          <a:p>
            <a:endParaRPr lang="en-US" sz="3200"/>
          </a:p>
          <a:p>
            <a:r>
              <a:rPr lang="en-US" sz="3200"/>
              <a:t>3) </a:t>
            </a:r>
            <a:r>
              <a:rPr lang="en-US" sz="3200" b="1"/>
              <a:t>Biological Impurities: </a:t>
            </a:r>
            <a:r>
              <a:rPr lang="en-US" sz="3200"/>
              <a:t>Micro-organisms like pathogenic bacteria, fungi, algae, etc.</a:t>
            </a:r>
          </a:p>
        </p:txBody>
      </p:sp>
    </p:spTree>
    <p:extLst>
      <p:ext uri="{BB962C8B-B14F-4D97-AF65-F5344CB8AC3E}">
        <p14:creationId xmlns:p14="http://schemas.microsoft.com/office/powerpoint/2010/main" val="3696282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685800"/>
            <a:ext cx="8001000" cy="5509200"/>
          </a:xfrm>
          <a:prstGeom prst="rect">
            <a:avLst/>
          </a:prstGeom>
        </p:spPr>
        <p:txBody>
          <a:bodyPr wrap="square">
            <a:spAutoFit/>
          </a:bodyPr>
          <a:lstStyle/>
          <a:p>
            <a:pPr algn="just"/>
            <a:r>
              <a:rPr lang="en-US" sz="3200" b="1"/>
              <a:t>DISADVANTAGES OF HARDWATER/ CAUSES OF HARDNESS: </a:t>
            </a:r>
          </a:p>
          <a:p>
            <a:pPr algn="just"/>
            <a:r>
              <a:rPr lang="en-US" sz="3200"/>
              <a:t>The following are the disadvantages when hard water is used for various purpose: </a:t>
            </a:r>
          </a:p>
          <a:p>
            <a:pPr marL="571500" indent="-571500" algn="just">
              <a:buAutoNum type="romanLcParenBoth"/>
            </a:pPr>
            <a:r>
              <a:rPr lang="en-US" sz="3200">
                <a:solidFill>
                  <a:srgbClr val="FF0000"/>
                </a:solidFill>
              </a:rPr>
              <a:t>DOMESTIC USE: </a:t>
            </a:r>
          </a:p>
          <a:p>
            <a:pPr marL="514350" indent="-514350" algn="just">
              <a:buAutoNum type="alphaLcParenBoth"/>
            </a:pPr>
            <a:r>
              <a:rPr lang="en-US" sz="3200" u="sng"/>
              <a:t>Washing and Bathing: </a:t>
            </a:r>
            <a:r>
              <a:rPr lang="en-US" sz="3200"/>
              <a:t>Hard water does not form lather easily with soap, so soap is wasted </a:t>
            </a:r>
          </a:p>
          <a:p>
            <a:pPr algn="just"/>
            <a:r>
              <a:rPr lang="en-US" sz="3200"/>
              <a:t>(b) </a:t>
            </a:r>
            <a:r>
              <a:rPr lang="en-US" sz="3200" u="sng"/>
              <a:t>Drinking: </a:t>
            </a:r>
            <a:r>
              <a:rPr lang="en-US" sz="3200"/>
              <a:t>Hard water causes bad effects on our digestive system. Sometimes, stone formation takes place in kidneys</a:t>
            </a:r>
          </a:p>
        </p:txBody>
      </p:sp>
    </p:spTree>
    <p:extLst>
      <p:ext uri="{BB962C8B-B14F-4D97-AF65-F5344CB8AC3E}">
        <p14:creationId xmlns:p14="http://schemas.microsoft.com/office/powerpoint/2010/main" val="3405319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533400"/>
            <a:ext cx="8382000" cy="1569660"/>
          </a:xfrm>
          <a:prstGeom prst="rect">
            <a:avLst/>
          </a:prstGeom>
        </p:spPr>
        <p:txBody>
          <a:bodyPr wrap="square">
            <a:spAutoFit/>
          </a:bodyPr>
          <a:lstStyle/>
          <a:p>
            <a:pPr algn="just"/>
            <a:r>
              <a:rPr lang="en-US" sz="3200"/>
              <a:t>(c) </a:t>
            </a:r>
            <a:r>
              <a:rPr lang="en-US" sz="3200" u="sng"/>
              <a:t>Cooking: </a:t>
            </a:r>
            <a:r>
              <a:rPr lang="en-US" sz="3200"/>
              <a:t>The boiling point of water is increased due to the presence of salts. Hence, more fuel and time are required for cooking.</a:t>
            </a:r>
          </a:p>
        </p:txBody>
      </p:sp>
      <p:sp>
        <p:nvSpPr>
          <p:cNvPr id="2" name="Rectangle 1"/>
          <p:cNvSpPr/>
          <p:nvPr/>
        </p:nvSpPr>
        <p:spPr>
          <a:xfrm>
            <a:off x="381000" y="2263200"/>
            <a:ext cx="8382000" cy="4031873"/>
          </a:xfrm>
          <a:prstGeom prst="rect">
            <a:avLst/>
          </a:prstGeom>
        </p:spPr>
        <p:txBody>
          <a:bodyPr wrap="square" lIns="91440" tIns="45720" rIns="91440" bIns="45720" anchor="t">
            <a:spAutoFit/>
          </a:bodyPr>
          <a:lstStyle/>
          <a:p>
            <a:pPr algn="just"/>
            <a:r>
              <a:rPr lang="en-US" sz="3200"/>
              <a:t>(ii) </a:t>
            </a:r>
            <a:r>
              <a:rPr lang="en-US" sz="3200">
                <a:solidFill>
                  <a:srgbClr val="FF0000"/>
                </a:solidFill>
              </a:rPr>
              <a:t>INDUSTRIAL USE: </a:t>
            </a:r>
          </a:p>
          <a:p>
            <a:pPr marL="514350" indent="-514350" algn="just">
              <a:buAutoNum type="alphaLcParenBoth"/>
            </a:pPr>
            <a:r>
              <a:rPr lang="en-US" sz="3200" u="sng"/>
              <a:t>Textile Industry:</a:t>
            </a:r>
            <a:r>
              <a:rPr lang="en-US" sz="3200"/>
              <a:t> Hard water causes wastage of soap. Precipitates of calcium and magnesium soap adhere to the fabrics and cause problem such difference in color shades, dull shades, patches, etc. </a:t>
            </a:r>
            <a:endParaRPr lang="en-US" sz="3200">
              <a:cs typeface="Calibri"/>
            </a:endParaRPr>
          </a:p>
          <a:p>
            <a:pPr marL="514350" indent="-514350" algn="just">
              <a:buAutoNum type="alphaLcParenBoth"/>
            </a:pPr>
            <a:r>
              <a:rPr lang="en-US" sz="3200" u="sng"/>
              <a:t>Paper Industry:</a:t>
            </a:r>
            <a:r>
              <a:rPr lang="en-US" sz="3200"/>
              <a:t> Calcium and Magnesium salts in water may affect the quality of paper. </a:t>
            </a:r>
            <a:endParaRPr lang="en-US" sz="3200">
              <a:cs typeface="Calibri"/>
            </a:endParaRPr>
          </a:p>
        </p:txBody>
      </p:sp>
    </p:spTree>
    <p:extLst>
      <p:ext uri="{BB962C8B-B14F-4D97-AF65-F5344CB8AC3E}">
        <p14:creationId xmlns:p14="http://schemas.microsoft.com/office/powerpoint/2010/main" val="492246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33400"/>
            <a:ext cx="8458200" cy="3046988"/>
          </a:xfrm>
          <a:prstGeom prst="rect">
            <a:avLst/>
          </a:prstGeom>
        </p:spPr>
        <p:txBody>
          <a:bodyPr wrap="square">
            <a:spAutoFit/>
          </a:bodyPr>
          <a:lstStyle/>
          <a:p>
            <a:pPr algn="just"/>
            <a:r>
              <a:rPr lang="en-US" sz="3200" u="sng"/>
              <a:t>(c) Sugar Industry:</a:t>
            </a:r>
            <a:r>
              <a:rPr lang="en-US" sz="3200"/>
              <a:t> Water containing </a:t>
            </a:r>
            <a:r>
              <a:rPr lang="en-US" sz="3200" err="1"/>
              <a:t>sulphates</a:t>
            </a:r>
            <a:r>
              <a:rPr lang="en-US" sz="3200"/>
              <a:t>, carbonates, nitrates affects the </a:t>
            </a:r>
            <a:r>
              <a:rPr lang="en-US" sz="3200" err="1"/>
              <a:t>crystallisation</a:t>
            </a:r>
            <a:r>
              <a:rPr lang="en-US" sz="3200"/>
              <a:t> of sugar. </a:t>
            </a:r>
          </a:p>
          <a:p>
            <a:pPr algn="just"/>
            <a:r>
              <a:rPr lang="en-US" sz="3200"/>
              <a:t>(d) </a:t>
            </a:r>
            <a:r>
              <a:rPr lang="en-US" sz="3200" u="sng"/>
              <a:t>Pharmaceutical Industry:</a:t>
            </a:r>
            <a:r>
              <a:rPr lang="en-US" sz="3200"/>
              <a:t> Hard water may form some undesirable products while preparation of pharmaceutical products. </a:t>
            </a:r>
          </a:p>
        </p:txBody>
      </p:sp>
    </p:spTree>
    <p:extLst>
      <p:ext uri="{BB962C8B-B14F-4D97-AF65-F5344CB8AC3E}">
        <p14:creationId xmlns:p14="http://schemas.microsoft.com/office/powerpoint/2010/main" val="3451222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1066800"/>
            <a:ext cx="8305800" cy="4524315"/>
          </a:xfrm>
          <a:prstGeom prst="rect">
            <a:avLst/>
          </a:prstGeom>
        </p:spPr>
        <p:txBody>
          <a:bodyPr wrap="square">
            <a:spAutoFit/>
          </a:bodyPr>
          <a:lstStyle/>
          <a:p>
            <a:r>
              <a:rPr lang="en-US" sz="3200"/>
              <a:t>(iii) </a:t>
            </a:r>
            <a:r>
              <a:rPr lang="en-US" sz="3200">
                <a:solidFill>
                  <a:srgbClr val="FF0000"/>
                </a:solidFill>
              </a:rPr>
              <a:t>STEAM GENERATION IN BOILERS:</a:t>
            </a:r>
            <a:r>
              <a:rPr lang="en-US" sz="3200"/>
              <a:t> For steam generation, boilers are employed. If hard water is used in boilers, It may lead to the following troubles-</a:t>
            </a:r>
          </a:p>
          <a:p>
            <a:pPr marL="514350" indent="-514350">
              <a:buAutoNum type="alphaLcParenBoth"/>
            </a:pPr>
            <a:r>
              <a:rPr lang="en-US" sz="3200"/>
              <a:t>Boiler Corrosion </a:t>
            </a:r>
          </a:p>
          <a:p>
            <a:pPr marL="514350" indent="-514350">
              <a:buAutoNum type="alphaLcParenBoth"/>
            </a:pPr>
            <a:r>
              <a:rPr lang="en-US" sz="3200"/>
              <a:t>Scale and Sludge formation. </a:t>
            </a:r>
          </a:p>
          <a:p>
            <a:pPr marL="514350" indent="-514350">
              <a:buAutoNum type="alphaLcParenBoth"/>
            </a:pPr>
            <a:r>
              <a:rPr lang="en-US" sz="3200"/>
              <a:t>Priming and Foaming </a:t>
            </a:r>
          </a:p>
          <a:p>
            <a:pPr marL="514350" indent="-514350">
              <a:buAutoNum type="alphaLcParenBoth"/>
            </a:pPr>
            <a:r>
              <a:rPr lang="en-US" sz="3200"/>
              <a:t>Caustic embrittlement Pharmaceutical industry</a:t>
            </a:r>
          </a:p>
        </p:txBody>
      </p:sp>
    </p:spTree>
    <p:extLst>
      <p:ext uri="{BB962C8B-B14F-4D97-AF65-F5344CB8AC3E}">
        <p14:creationId xmlns:p14="http://schemas.microsoft.com/office/powerpoint/2010/main" val="3185526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33400"/>
            <a:ext cx="8305800" cy="5509200"/>
          </a:xfrm>
          <a:prstGeom prst="rect">
            <a:avLst/>
          </a:prstGeom>
        </p:spPr>
        <p:txBody>
          <a:bodyPr wrap="square">
            <a:spAutoFit/>
          </a:bodyPr>
          <a:lstStyle/>
          <a:p>
            <a:pPr algn="just"/>
            <a:r>
              <a:rPr lang="en-US" sz="3200" b="1"/>
              <a:t>HARDNESS OF WATER (OR) HARDWATER AND SOFT WATER:</a:t>
            </a:r>
            <a:r>
              <a:rPr lang="en-US" sz="3200"/>
              <a:t> </a:t>
            </a:r>
          </a:p>
          <a:p>
            <a:pPr algn="just"/>
            <a:r>
              <a:rPr lang="en-US" sz="3200">
                <a:solidFill>
                  <a:srgbClr val="FF0000"/>
                </a:solidFill>
              </a:rPr>
              <a:t>Hard Water:</a:t>
            </a:r>
            <a:r>
              <a:rPr lang="en-US" sz="3200"/>
              <a:t> The water which does not produce lather (or) very little lather with soap is called Hard Water.</a:t>
            </a:r>
          </a:p>
          <a:p>
            <a:pPr algn="just"/>
            <a:r>
              <a:rPr lang="en-US" sz="3200">
                <a:solidFill>
                  <a:srgbClr val="FF0000"/>
                </a:solidFill>
              </a:rPr>
              <a:t>Soft Water:</a:t>
            </a:r>
            <a:r>
              <a:rPr lang="en-US" sz="3200"/>
              <a:t> Soft water readily produces a lot of lather when mixed with little soap. </a:t>
            </a:r>
          </a:p>
          <a:p>
            <a:pPr algn="just"/>
            <a:r>
              <a:rPr lang="en-US" sz="3200"/>
              <a:t>The Hardness of water is caused by the presence of dissolved salts such as Bicarbonates, Sulphates, Chlorides and Nitrates of bivalent metal ions like Ca</a:t>
            </a:r>
            <a:r>
              <a:rPr lang="en-US" sz="3200" baseline="30000"/>
              <a:t>+2</a:t>
            </a:r>
            <a:r>
              <a:rPr lang="en-US" sz="3200"/>
              <a:t> &amp; Mg</a:t>
            </a:r>
            <a:r>
              <a:rPr lang="en-US" sz="3200" baseline="30000"/>
              <a:t>+2</a:t>
            </a:r>
            <a:r>
              <a:rPr lang="en-US" sz="3200"/>
              <a:t>.</a:t>
            </a:r>
          </a:p>
        </p:txBody>
      </p:sp>
    </p:spTree>
    <p:extLst>
      <p:ext uri="{BB962C8B-B14F-4D97-AF65-F5344CB8AC3E}">
        <p14:creationId xmlns:p14="http://schemas.microsoft.com/office/powerpoint/2010/main" val="859021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066800"/>
            <a:ext cx="8382000" cy="4031873"/>
          </a:xfrm>
          <a:prstGeom prst="rect">
            <a:avLst/>
          </a:prstGeom>
        </p:spPr>
        <p:txBody>
          <a:bodyPr wrap="square">
            <a:spAutoFit/>
          </a:bodyPr>
          <a:lstStyle/>
          <a:p>
            <a:pPr algn="just"/>
            <a:r>
              <a:rPr lang="en-US" sz="3200"/>
              <a:t>Soap is sodium/ potassium salt of higher fatty acids like stearic, oleic and </a:t>
            </a:r>
            <a:r>
              <a:rPr lang="en-US" sz="3200" err="1"/>
              <a:t>palmetic</a:t>
            </a:r>
            <a:r>
              <a:rPr lang="en-US" sz="3200"/>
              <a:t> acids. When soap is mixed with soft water lather is produced due to stearic acid and sodium stearate.</a:t>
            </a:r>
          </a:p>
          <a:p>
            <a:pPr algn="just"/>
            <a:r>
              <a:rPr lang="en-US" sz="3200"/>
              <a:t> Na – Stearate + H</a:t>
            </a:r>
            <a:r>
              <a:rPr lang="en-US" sz="3200" baseline="-25000"/>
              <a:t>2</a:t>
            </a:r>
            <a:r>
              <a:rPr lang="en-US" sz="3200"/>
              <a:t>O </a:t>
            </a:r>
            <a:r>
              <a:rPr lang="en-US" sz="3200">
                <a:sym typeface="Wingdings" pitchFamily="2" charset="2"/>
              </a:rPr>
              <a:t></a:t>
            </a:r>
            <a:r>
              <a:rPr lang="en-US" sz="3200"/>
              <a:t>  </a:t>
            </a:r>
            <a:r>
              <a:rPr lang="en-US" sz="3200" err="1"/>
              <a:t>NaOH</a:t>
            </a:r>
            <a:r>
              <a:rPr lang="en-US" sz="3200"/>
              <a:t> + Stearic Acid</a:t>
            </a:r>
          </a:p>
          <a:p>
            <a:pPr algn="just"/>
            <a:r>
              <a:rPr lang="en-US" sz="3200"/>
              <a:t>                                                          [C</a:t>
            </a:r>
            <a:r>
              <a:rPr lang="en-US" sz="3200" baseline="-25000"/>
              <a:t>17</a:t>
            </a:r>
            <a:r>
              <a:rPr lang="en-US" sz="3200"/>
              <a:t>H</a:t>
            </a:r>
            <a:r>
              <a:rPr lang="en-US" sz="3200" baseline="-25000"/>
              <a:t>35</a:t>
            </a:r>
            <a:r>
              <a:rPr lang="en-US" sz="3200"/>
              <a:t>COOH] </a:t>
            </a:r>
          </a:p>
          <a:p>
            <a:pPr algn="just"/>
            <a:r>
              <a:rPr lang="en-US" sz="3200"/>
              <a:t> Stearic Acid + Na-Stearate </a:t>
            </a:r>
            <a:r>
              <a:rPr lang="en-US" sz="3200">
                <a:sym typeface="Wingdings" pitchFamily="2" charset="2"/>
              </a:rPr>
              <a:t>  </a:t>
            </a:r>
            <a:r>
              <a:rPr lang="en-US" sz="3200"/>
              <a:t> Formation of lather. </a:t>
            </a:r>
          </a:p>
        </p:txBody>
      </p:sp>
    </p:spTree>
    <p:extLst>
      <p:ext uri="{BB962C8B-B14F-4D97-AF65-F5344CB8AC3E}">
        <p14:creationId xmlns:p14="http://schemas.microsoft.com/office/powerpoint/2010/main" val="1189693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915174"/>
            <a:ext cx="8382000" cy="4647426"/>
          </a:xfrm>
          <a:prstGeom prst="rect">
            <a:avLst/>
          </a:prstGeom>
        </p:spPr>
        <p:txBody>
          <a:bodyPr wrap="square">
            <a:spAutoFit/>
          </a:bodyPr>
          <a:lstStyle/>
          <a:p>
            <a:pPr algn="just"/>
            <a:r>
              <a:rPr lang="en-US" sz="3200"/>
              <a:t>When soap comes in contact with HARD WATER, Sodium stearate will react with dissolved calcium and magnesium salts and produce calcium stearate or magnesium stearate which is white precipitate.</a:t>
            </a:r>
          </a:p>
          <a:p>
            <a:pPr algn="just"/>
            <a:r>
              <a:rPr lang="en-US" sz="3200"/>
              <a:t>2Na– Stearate + Ca</a:t>
            </a:r>
            <a:r>
              <a:rPr lang="en-US" sz="3200" baseline="30000"/>
              <a:t>+2</a:t>
            </a:r>
            <a:r>
              <a:rPr lang="en-US" sz="3200"/>
              <a:t> </a:t>
            </a:r>
            <a:r>
              <a:rPr lang="en-US" sz="3200">
                <a:sym typeface="Wingdings" pitchFamily="2" charset="2"/>
              </a:rPr>
              <a:t></a:t>
            </a:r>
            <a:r>
              <a:rPr lang="en-US" sz="3200"/>
              <a:t> Ca– Stearate↓ + 2Na</a:t>
            </a:r>
            <a:r>
              <a:rPr lang="en-US" sz="3200" baseline="30000"/>
              <a:t>+</a:t>
            </a:r>
          </a:p>
          <a:p>
            <a:pPr algn="just"/>
            <a:r>
              <a:rPr lang="en-US" sz="2800"/>
              <a:t>[2C</a:t>
            </a:r>
            <a:r>
              <a:rPr lang="en-US" sz="2800" baseline="-25000"/>
              <a:t>17</a:t>
            </a:r>
            <a:r>
              <a:rPr lang="en-US" sz="2800"/>
              <a:t>H</a:t>
            </a:r>
            <a:r>
              <a:rPr lang="en-US" sz="2800" baseline="-25000"/>
              <a:t>35</a:t>
            </a:r>
            <a:r>
              <a:rPr lang="en-US" sz="2800"/>
              <a:t>COONa] + Ca</a:t>
            </a:r>
            <a:r>
              <a:rPr lang="en-US" sz="2800" baseline="30000"/>
              <a:t>+2</a:t>
            </a:r>
            <a:r>
              <a:rPr lang="en-US" sz="2800"/>
              <a:t> </a:t>
            </a:r>
            <a:r>
              <a:rPr lang="en-US" sz="2800">
                <a:sym typeface="Wingdings" pitchFamily="2" charset="2"/>
              </a:rPr>
              <a:t></a:t>
            </a:r>
            <a:r>
              <a:rPr lang="en-US" sz="2800"/>
              <a:t> [(C</a:t>
            </a:r>
            <a:r>
              <a:rPr lang="en-US" sz="2800" baseline="-25000"/>
              <a:t>17</a:t>
            </a:r>
            <a:r>
              <a:rPr lang="en-US" sz="2800"/>
              <a:t>H</a:t>
            </a:r>
            <a:r>
              <a:rPr lang="en-US" sz="2800" baseline="-25000"/>
              <a:t>35</a:t>
            </a:r>
            <a:r>
              <a:rPr lang="en-US" sz="2800"/>
              <a:t>COO)</a:t>
            </a:r>
            <a:r>
              <a:rPr lang="en-US" sz="2800" baseline="-25000"/>
              <a:t>2</a:t>
            </a:r>
            <a:r>
              <a:rPr lang="en-US" sz="2800"/>
              <a:t>Ca]↓ + 2Na</a:t>
            </a:r>
            <a:r>
              <a:rPr lang="en-US" sz="2800" baseline="30000"/>
              <a:t>+</a:t>
            </a:r>
            <a:r>
              <a:rPr lang="en-US" sz="3200"/>
              <a:t>           </a:t>
            </a:r>
            <a:r>
              <a:rPr lang="en-US" sz="2000"/>
              <a:t>(Soap)                                   (Soluble)                          (Insoluble)                   (Soluble)</a:t>
            </a:r>
          </a:p>
          <a:p>
            <a:pPr algn="just"/>
            <a:r>
              <a:rPr lang="en-US" sz="3200"/>
              <a:t> </a:t>
            </a:r>
            <a:r>
              <a:rPr lang="en-US" sz="2800"/>
              <a:t>[2C</a:t>
            </a:r>
            <a:r>
              <a:rPr lang="en-US" sz="2800" baseline="-25000"/>
              <a:t>17</a:t>
            </a:r>
            <a:r>
              <a:rPr lang="en-US" sz="2800"/>
              <a:t>H</a:t>
            </a:r>
            <a:r>
              <a:rPr lang="en-US" sz="2800" baseline="-25000"/>
              <a:t>35</a:t>
            </a:r>
            <a:r>
              <a:rPr lang="en-US" sz="2800"/>
              <a:t>COONa] + Mg</a:t>
            </a:r>
            <a:r>
              <a:rPr lang="en-US" sz="2800" baseline="30000"/>
              <a:t>+2</a:t>
            </a:r>
            <a:r>
              <a:rPr lang="en-US" sz="2800"/>
              <a:t> </a:t>
            </a:r>
            <a:r>
              <a:rPr lang="en-US" sz="2800">
                <a:sym typeface="Wingdings" pitchFamily="2" charset="2"/>
              </a:rPr>
              <a:t></a:t>
            </a:r>
            <a:r>
              <a:rPr lang="en-US" sz="2800"/>
              <a:t> [(C</a:t>
            </a:r>
            <a:r>
              <a:rPr lang="en-US" sz="2800" baseline="-25000"/>
              <a:t>17</a:t>
            </a:r>
            <a:r>
              <a:rPr lang="en-US" sz="2800"/>
              <a:t>H</a:t>
            </a:r>
            <a:r>
              <a:rPr lang="en-US" sz="2800" baseline="-25000"/>
              <a:t>35</a:t>
            </a:r>
            <a:r>
              <a:rPr lang="en-US" sz="2800"/>
              <a:t>COO)</a:t>
            </a:r>
            <a:r>
              <a:rPr lang="en-US" sz="2800" baseline="-25000"/>
              <a:t>2</a:t>
            </a:r>
            <a:r>
              <a:rPr lang="en-US" sz="2800"/>
              <a:t>Mg]↓ + 2Na</a:t>
            </a:r>
            <a:r>
              <a:rPr lang="en-US" sz="2800" baseline="30000"/>
              <a:t>+</a:t>
            </a:r>
            <a:r>
              <a:rPr lang="en-US" sz="3200"/>
              <a:t>   </a:t>
            </a:r>
            <a:r>
              <a:rPr lang="en-US" sz="2000"/>
              <a:t>(Soluble)                              (Soluble)                         (Insoluble)                     (Soluble) </a:t>
            </a:r>
          </a:p>
        </p:txBody>
      </p:sp>
    </p:spTree>
    <p:extLst>
      <p:ext uri="{BB962C8B-B14F-4D97-AF65-F5344CB8AC3E}">
        <p14:creationId xmlns:p14="http://schemas.microsoft.com/office/powerpoint/2010/main" val="2848686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382000" cy="6186309"/>
          </a:xfrm>
          <a:prstGeom prst="rect">
            <a:avLst/>
          </a:prstGeom>
        </p:spPr>
        <p:txBody>
          <a:bodyPr wrap="square">
            <a:spAutoFit/>
          </a:bodyPr>
          <a:lstStyle/>
          <a:p>
            <a:pPr algn="just"/>
            <a:r>
              <a:rPr lang="en-US" sz="3200" b="1"/>
              <a:t>TYPES OF HARDNESS</a:t>
            </a:r>
          </a:p>
          <a:p>
            <a:pPr algn="just"/>
            <a:r>
              <a:rPr lang="en-US" sz="3200"/>
              <a:t>The hardness of water is of two types-</a:t>
            </a:r>
          </a:p>
          <a:p>
            <a:pPr marL="514350" indent="-514350" algn="just">
              <a:buAutoNum type="arabicParenBoth"/>
            </a:pPr>
            <a:r>
              <a:rPr lang="en-US" sz="3200"/>
              <a:t>Temporary hardness (or) Carbonate hardness </a:t>
            </a:r>
          </a:p>
          <a:p>
            <a:pPr marL="514350" indent="-514350" algn="just">
              <a:buAutoNum type="arabicParenBoth"/>
            </a:pPr>
            <a:r>
              <a:rPr lang="en-US" sz="3200"/>
              <a:t>Permanent hardness (or) Non-Carbonate hardness </a:t>
            </a:r>
          </a:p>
          <a:p>
            <a:pPr algn="just"/>
            <a:endParaRPr lang="en-US" sz="1200"/>
          </a:p>
          <a:p>
            <a:pPr algn="just"/>
            <a:r>
              <a:rPr lang="en-US" sz="3200">
                <a:solidFill>
                  <a:srgbClr val="FF0000"/>
                </a:solidFill>
              </a:rPr>
              <a:t>(1) Temporary Hardness:</a:t>
            </a:r>
            <a:r>
              <a:rPr lang="en-US" sz="3200"/>
              <a:t> Temporary hardness is caused by two dissolved bicarbonate salts Ca(HCO</a:t>
            </a:r>
            <a:r>
              <a:rPr lang="en-US" sz="3200" baseline="-25000"/>
              <a:t>3</a:t>
            </a:r>
            <a:r>
              <a:rPr lang="en-US" sz="3200"/>
              <a:t>)</a:t>
            </a:r>
            <a:r>
              <a:rPr lang="en-US" sz="3200" baseline="-25000"/>
              <a:t>2</a:t>
            </a:r>
            <a:r>
              <a:rPr lang="en-US" sz="3200"/>
              <a:t> and Mg(HCO</a:t>
            </a:r>
            <a:r>
              <a:rPr lang="en-US" sz="3200" baseline="-25000"/>
              <a:t>3</a:t>
            </a:r>
            <a:r>
              <a:rPr lang="en-US" sz="3200"/>
              <a:t>)</a:t>
            </a:r>
            <a:r>
              <a:rPr lang="en-US" sz="3200" baseline="-25000"/>
              <a:t>2</a:t>
            </a:r>
            <a:r>
              <a:rPr lang="en-US" sz="3200"/>
              <a:t>. The hardness is called “Temporary Hardness” because it can be removed easily by means of </a:t>
            </a:r>
            <a:r>
              <a:rPr lang="en-US" sz="3200">
                <a:solidFill>
                  <a:srgbClr val="FF0000"/>
                </a:solidFill>
              </a:rPr>
              <a:t>boiling</a:t>
            </a:r>
            <a:r>
              <a:rPr lang="en-US" sz="3200"/>
              <a:t>.</a:t>
            </a:r>
          </a:p>
          <a:p>
            <a:pPr algn="just"/>
            <a:r>
              <a:rPr lang="en-US" sz="3200"/>
              <a:t>Ca(HCO</a:t>
            </a:r>
            <a:r>
              <a:rPr lang="en-US" sz="3200" baseline="-25000"/>
              <a:t>3</a:t>
            </a:r>
            <a:r>
              <a:rPr lang="en-US" sz="3200"/>
              <a:t>)</a:t>
            </a:r>
            <a:r>
              <a:rPr lang="en-US" sz="3200" baseline="-25000"/>
              <a:t>2</a:t>
            </a:r>
            <a:r>
              <a:rPr lang="en-US" sz="3200"/>
              <a:t> + Heating  </a:t>
            </a:r>
            <a:r>
              <a:rPr lang="en-US" sz="3200">
                <a:sym typeface="Wingdings" pitchFamily="2" charset="2"/>
              </a:rPr>
              <a:t></a:t>
            </a:r>
            <a:r>
              <a:rPr lang="en-US" sz="3200"/>
              <a:t> CaCO</a:t>
            </a:r>
            <a:r>
              <a:rPr lang="en-US" sz="3200" baseline="-25000"/>
              <a:t>3</a:t>
            </a:r>
            <a:r>
              <a:rPr lang="en-US" sz="3200"/>
              <a:t>↓ + H</a:t>
            </a:r>
            <a:r>
              <a:rPr lang="en-US" sz="3200" baseline="-25000"/>
              <a:t>2</a:t>
            </a:r>
            <a:r>
              <a:rPr lang="en-US" sz="3200"/>
              <a:t>O + CO</a:t>
            </a:r>
            <a:r>
              <a:rPr lang="en-US" sz="3200" baseline="-25000"/>
              <a:t>2</a:t>
            </a:r>
            <a:r>
              <a:rPr lang="en-US" sz="3200"/>
              <a:t>↑ Mg(HCO</a:t>
            </a:r>
            <a:r>
              <a:rPr lang="en-US" sz="3200" baseline="-25000"/>
              <a:t>3</a:t>
            </a:r>
            <a:r>
              <a:rPr lang="en-US" sz="3200"/>
              <a:t>)</a:t>
            </a:r>
            <a:r>
              <a:rPr lang="en-US" sz="3200" baseline="-25000"/>
              <a:t>2 </a:t>
            </a:r>
            <a:r>
              <a:rPr lang="en-US" sz="3200"/>
              <a:t>+ Heating  </a:t>
            </a:r>
            <a:r>
              <a:rPr lang="en-US" sz="3200">
                <a:sym typeface="Wingdings" pitchFamily="2" charset="2"/>
              </a:rPr>
              <a:t> </a:t>
            </a:r>
            <a:r>
              <a:rPr lang="en-US" sz="3200"/>
              <a:t>Mg(OH)</a:t>
            </a:r>
            <a:r>
              <a:rPr lang="en-US" sz="3200" baseline="-25000"/>
              <a:t>2</a:t>
            </a:r>
            <a:r>
              <a:rPr lang="en-US" sz="3200"/>
              <a:t>↓ + 2CO</a:t>
            </a:r>
            <a:r>
              <a:rPr lang="en-US" sz="3200" baseline="-25000"/>
              <a:t>2</a:t>
            </a:r>
            <a:r>
              <a:rPr lang="en-US" sz="3200"/>
              <a:t>↑</a:t>
            </a:r>
          </a:p>
        </p:txBody>
      </p:sp>
    </p:spTree>
    <p:extLst>
      <p:ext uri="{BB962C8B-B14F-4D97-AF65-F5344CB8AC3E}">
        <p14:creationId xmlns:p14="http://schemas.microsoft.com/office/powerpoint/2010/main" val="4090211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381000"/>
            <a:ext cx="8229600" cy="4832092"/>
          </a:xfrm>
          <a:prstGeom prst="rect">
            <a:avLst/>
          </a:prstGeom>
        </p:spPr>
        <p:txBody>
          <a:bodyPr wrap="square">
            <a:spAutoFit/>
          </a:bodyPr>
          <a:lstStyle/>
          <a:p>
            <a:pPr algn="just"/>
            <a:r>
              <a:rPr lang="en-US" sz="3200"/>
              <a:t>(2) </a:t>
            </a:r>
            <a:r>
              <a:rPr lang="en-US" sz="3200">
                <a:solidFill>
                  <a:srgbClr val="FF0000"/>
                </a:solidFill>
              </a:rPr>
              <a:t>Permanent Hardness:</a:t>
            </a:r>
            <a:r>
              <a:rPr lang="en-US" sz="3200"/>
              <a:t> Permanent hardness of water is due to the dissolved chlorides, </a:t>
            </a:r>
            <a:r>
              <a:rPr lang="en-US" sz="3200" err="1"/>
              <a:t>sulphates</a:t>
            </a:r>
            <a:r>
              <a:rPr lang="en-US" sz="3200"/>
              <a:t> and nitrates of calcium and magnesium. These salts are CaCl</a:t>
            </a:r>
            <a:r>
              <a:rPr lang="en-US" sz="3200" baseline="-25000"/>
              <a:t>2</a:t>
            </a:r>
            <a:r>
              <a:rPr lang="en-US" sz="3200"/>
              <a:t>, CaSO</a:t>
            </a:r>
            <a:r>
              <a:rPr lang="en-US" sz="3200" baseline="-25000"/>
              <a:t>4</a:t>
            </a:r>
            <a:r>
              <a:rPr lang="en-US" sz="3200"/>
              <a:t>, Ca(NO</a:t>
            </a:r>
            <a:r>
              <a:rPr lang="en-US" sz="3200" baseline="-25000"/>
              <a:t>3</a:t>
            </a:r>
            <a:r>
              <a:rPr lang="en-US" sz="3200"/>
              <a:t>)</a:t>
            </a:r>
            <a:r>
              <a:rPr lang="en-US" sz="3200" baseline="-25000"/>
              <a:t>2</a:t>
            </a:r>
            <a:r>
              <a:rPr lang="en-US" sz="3200"/>
              <a:t>, MgCl</a:t>
            </a:r>
            <a:r>
              <a:rPr lang="en-US" sz="3200" baseline="-25000"/>
              <a:t>2,</a:t>
            </a:r>
            <a:r>
              <a:rPr lang="en-US" sz="3200"/>
              <a:t> MgSO</a:t>
            </a:r>
            <a:r>
              <a:rPr lang="en-US" sz="3200" baseline="-25000"/>
              <a:t>4</a:t>
            </a:r>
            <a:r>
              <a:rPr lang="en-US" sz="3200"/>
              <a:t>, Mg(NO</a:t>
            </a:r>
            <a:r>
              <a:rPr lang="en-US" sz="3200" baseline="-25000"/>
              <a:t>3</a:t>
            </a:r>
            <a:r>
              <a:rPr lang="en-US" sz="3200"/>
              <a:t>)</a:t>
            </a:r>
            <a:r>
              <a:rPr lang="en-US" sz="3200" baseline="-25000"/>
              <a:t>2.</a:t>
            </a:r>
            <a:r>
              <a:rPr lang="en-US" sz="3200"/>
              <a:t> These hardness cannot be removed easily by boiling. Hence it is called “Permanent Hardness”. Only </a:t>
            </a:r>
            <a:r>
              <a:rPr lang="en-US" sz="3200">
                <a:solidFill>
                  <a:srgbClr val="FF0000"/>
                </a:solidFill>
              </a:rPr>
              <a:t>chemical treatment </a:t>
            </a:r>
            <a:r>
              <a:rPr lang="en-US" sz="3200"/>
              <a:t>can remove this hardness.</a:t>
            </a:r>
          </a:p>
          <a:p>
            <a:pPr algn="just"/>
            <a:r>
              <a:rPr lang="en-US" sz="3200"/>
              <a:t> </a:t>
            </a:r>
          </a:p>
          <a:p>
            <a:pPr algn="just"/>
            <a:r>
              <a:rPr lang="en-US" sz="2000" b="1">
                <a:solidFill>
                  <a:srgbClr val="0070C0"/>
                </a:solidFill>
              </a:rPr>
              <a:t>Total Hardness Of Water = Temporary Hardness +  Permanent Hardness</a:t>
            </a:r>
          </a:p>
        </p:txBody>
      </p:sp>
    </p:spTree>
    <p:extLst>
      <p:ext uri="{BB962C8B-B14F-4D97-AF65-F5344CB8AC3E}">
        <p14:creationId xmlns:p14="http://schemas.microsoft.com/office/powerpoint/2010/main" val="2802549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609600"/>
            <a:ext cx="8305800" cy="5509200"/>
          </a:xfrm>
          <a:prstGeom prst="rect">
            <a:avLst/>
          </a:prstGeom>
        </p:spPr>
        <p:txBody>
          <a:bodyPr wrap="square" lIns="91440" tIns="45720" rIns="91440" bIns="45720" anchor="t">
            <a:spAutoFit/>
          </a:bodyPr>
          <a:lstStyle/>
          <a:p>
            <a:pPr algn="just"/>
            <a:r>
              <a:rPr lang="en-US" sz="3200" b="1"/>
              <a:t>DEGREE OF HARDNESS:</a:t>
            </a:r>
            <a:r>
              <a:rPr lang="en-US" sz="3200"/>
              <a:t> </a:t>
            </a:r>
          </a:p>
          <a:p>
            <a:pPr algn="just"/>
            <a:r>
              <a:rPr lang="en-US" sz="3200"/>
              <a:t>• The Concentration of hardness as well as non-hardness constituting ions are, usually expressed in the term of </a:t>
            </a:r>
            <a:r>
              <a:rPr lang="en-US" sz="3200">
                <a:solidFill>
                  <a:srgbClr val="FF0000"/>
                </a:solidFill>
              </a:rPr>
              <a:t>“Equivalent amount of CaCO</a:t>
            </a:r>
            <a:r>
              <a:rPr lang="en-US" sz="3200" baseline="-25000">
                <a:solidFill>
                  <a:srgbClr val="FF0000"/>
                </a:solidFill>
              </a:rPr>
              <a:t>3</a:t>
            </a:r>
            <a:r>
              <a:rPr lang="en-US" sz="3200">
                <a:solidFill>
                  <a:srgbClr val="FF0000"/>
                </a:solidFill>
              </a:rPr>
              <a:t>”</a:t>
            </a:r>
            <a:r>
              <a:rPr lang="en-US" sz="3200"/>
              <a:t> </a:t>
            </a:r>
            <a:endParaRPr lang="en-US" sz="3200">
              <a:cs typeface="Calibri"/>
            </a:endParaRPr>
          </a:p>
          <a:p>
            <a:pPr algn="just"/>
            <a:r>
              <a:rPr lang="en-US" sz="3200"/>
              <a:t>• Since this mode permits the multiplication and division concentration, when required. </a:t>
            </a:r>
            <a:endParaRPr lang="en-US" sz="3200">
              <a:cs typeface="Calibri"/>
            </a:endParaRPr>
          </a:p>
          <a:p>
            <a:pPr algn="just"/>
            <a:r>
              <a:rPr lang="en-US" sz="3200"/>
              <a:t>• The choice of CaCO</a:t>
            </a:r>
            <a:r>
              <a:rPr lang="en-US" sz="3200" baseline="-25000"/>
              <a:t>3</a:t>
            </a:r>
            <a:r>
              <a:rPr lang="en-US" sz="3200"/>
              <a:t> in particular is due to its molecular weight (</a:t>
            </a:r>
            <a:r>
              <a:rPr lang="en-US" sz="3200" err="1"/>
              <a:t>m.wt</a:t>
            </a:r>
            <a:r>
              <a:rPr lang="en-US" sz="3200"/>
              <a:t>.) is “100” (Equivalent wt. = 50), and </a:t>
            </a:r>
          </a:p>
          <a:p>
            <a:pPr algn="just"/>
            <a:r>
              <a:rPr lang="en-US" sz="3200"/>
              <a:t>• Moreover, it is insoluble salt that can be precipitated in water treatment.</a:t>
            </a:r>
            <a:endParaRPr lang="en-US" sz="3200">
              <a:cs typeface="Calibri"/>
            </a:endParaRPr>
          </a:p>
        </p:txBody>
      </p:sp>
    </p:spTree>
    <p:extLst>
      <p:ext uri="{BB962C8B-B14F-4D97-AF65-F5344CB8AC3E}">
        <p14:creationId xmlns:p14="http://schemas.microsoft.com/office/powerpoint/2010/main" val="2539084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774442"/>
            <a:ext cx="7924800" cy="5016758"/>
          </a:xfrm>
          <a:prstGeom prst="rect">
            <a:avLst/>
          </a:prstGeom>
        </p:spPr>
        <p:txBody>
          <a:bodyPr wrap="square">
            <a:spAutoFit/>
          </a:bodyPr>
          <a:lstStyle/>
          <a:p>
            <a:r>
              <a:rPr lang="en-US" sz="3200"/>
              <a:t>Therefore, 100 parts by weight of CaCO</a:t>
            </a:r>
            <a:r>
              <a:rPr lang="en-US" sz="3200" baseline="-25000"/>
              <a:t>3</a:t>
            </a:r>
            <a:r>
              <a:rPr lang="en-US" sz="3200"/>
              <a:t> hardness must be equivalent to-</a:t>
            </a:r>
          </a:p>
          <a:p>
            <a:pPr marL="457200" indent="-457200">
              <a:buFont typeface="Arial" pitchFamily="34" charset="0"/>
              <a:buChar char="•"/>
            </a:pPr>
            <a:r>
              <a:rPr lang="en-US" sz="3200"/>
              <a:t>162 parts by weight of Ca(HCO</a:t>
            </a:r>
            <a:r>
              <a:rPr lang="en-US" sz="3200" baseline="-25000"/>
              <a:t>3</a:t>
            </a:r>
            <a:r>
              <a:rPr lang="en-US" sz="3200"/>
              <a:t>)</a:t>
            </a:r>
            <a:r>
              <a:rPr lang="en-US" sz="3200" baseline="-25000"/>
              <a:t>2</a:t>
            </a:r>
            <a:r>
              <a:rPr lang="en-US" sz="3200"/>
              <a:t> hardness</a:t>
            </a:r>
          </a:p>
          <a:p>
            <a:pPr marL="457200" indent="-457200">
              <a:buFont typeface="Arial" pitchFamily="34" charset="0"/>
              <a:buChar char="•"/>
            </a:pPr>
            <a:r>
              <a:rPr lang="en-US" sz="3200"/>
              <a:t>146 parts by weight of Mg(HCO</a:t>
            </a:r>
            <a:r>
              <a:rPr lang="en-US" sz="3200" baseline="-25000"/>
              <a:t>3</a:t>
            </a:r>
            <a:r>
              <a:rPr lang="en-US" sz="3200"/>
              <a:t>)</a:t>
            </a:r>
            <a:r>
              <a:rPr lang="en-US" sz="3200" baseline="-25000"/>
              <a:t>2</a:t>
            </a:r>
            <a:r>
              <a:rPr lang="en-US" sz="3200"/>
              <a:t> hardness</a:t>
            </a:r>
          </a:p>
          <a:p>
            <a:pPr marL="457200" indent="-457200">
              <a:buFont typeface="Arial" pitchFamily="34" charset="0"/>
              <a:buChar char="•"/>
            </a:pPr>
            <a:r>
              <a:rPr lang="en-US" sz="3200"/>
              <a:t>136 parts by weight of CaSO</a:t>
            </a:r>
            <a:r>
              <a:rPr lang="en-US" sz="3200" baseline="-25000"/>
              <a:t>4</a:t>
            </a:r>
            <a:r>
              <a:rPr lang="en-US" sz="3200"/>
              <a:t> hardness</a:t>
            </a:r>
          </a:p>
          <a:p>
            <a:pPr marL="457200" indent="-457200">
              <a:buFont typeface="Arial" pitchFamily="34" charset="0"/>
              <a:buChar char="•"/>
            </a:pPr>
            <a:r>
              <a:rPr lang="en-US" sz="3200"/>
              <a:t>111 parts by weight of CaCl</a:t>
            </a:r>
            <a:r>
              <a:rPr lang="en-US" sz="3200" baseline="-25000"/>
              <a:t>2</a:t>
            </a:r>
            <a:r>
              <a:rPr lang="en-US" sz="3200"/>
              <a:t> hardness</a:t>
            </a:r>
          </a:p>
          <a:p>
            <a:pPr marL="457200" indent="-457200">
              <a:buFont typeface="Arial" pitchFamily="34" charset="0"/>
              <a:buChar char="•"/>
            </a:pPr>
            <a:r>
              <a:rPr lang="en-US" sz="3200"/>
              <a:t>164 parts by weight of Ca(NO</a:t>
            </a:r>
            <a:r>
              <a:rPr lang="en-US" sz="3200" baseline="-25000"/>
              <a:t>3</a:t>
            </a:r>
            <a:r>
              <a:rPr lang="en-US" sz="3200"/>
              <a:t>)</a:t>
            </a:r>
            <a:r>
              <a:rPr lang="en-US" sz="3200" baseline="-25000"/>
              <a:t>2</a:t>
            </a:r>
            <a:r>
              <a:rPr lang="en-US" sz="3200"/>
              <a:t> hardness</a:t>
            </a:r>
          </a:p>
          <a:p>
            <a:pPr marL="457200" indent="-457200">
              <a:buFont typeface="Arial" pitchFamily="34" charset="0"/>
              <a:buChar char="•"/>
            </a:pPr>
            <a:r>
              <a:rPr lang="en-US" sz="3200"/>
              <a:t>120 parts by weight of MgSO</a:t>
            </a:r>
            <a:r>
              <a:rPr lang="en-US" sz="3200" baseline="-25000"/>
              <a:t>4</a:t>
            </a:r>
            <a:r>
              <a:rPr lang="en-US" sz="3200"/>
              <a:t> hardness</a:t>
            </a:r>
          </a:p>
          <a:p>
            <a:pPr marL="457200" indent="-457200">
              <a:buFont typeface="Arial" pitchFamily="34" charset="0"/>
              <a:buChar char="•"/>
            </a:pPr>
            <a:r>
              <a:rPr lang="en-US" sz="3200"/>
              <a:t>146 parts by weight of MgCl</a:t>
            </a:r>
            <a:r>
              <a:rPr lang="en-US" sz="3200" baseline="-25000"/>
              <a:t>2</a:t>
            </a:r>
            <a:r>
              <a:rPr lang="en-US" sz="3200"/>
              <a:t> hardness</a:t>
            </a:r>
          </a:p>
          <a:p>
            <a:pPr marL="457200" indent="-457200">
              <a:buFont typeface="Arial" pitchFamily="34" charset="0"/>
              <a:buChar char="•"/>
            </a:pPr>
            <a:r>
              <a:rPr lang="en-US" sz="3200"/>
              <a:t>148 parts by weight of Mg(NO</a:t>
            </a:r>
            <a:r>
              <a:rPr lang="en-US" sz="3200" baseline="-25000"/>
              <a:t>3</a:t>
            </a:r>
            <a:r>
              <a:rPr lang="en-US" sz="3200"/>
              <a:t>)</a:t>
            </a:r>
            <a:r>
              <a:rPr lang="en-US" sz="3200" baseline="-25000"/>
              <a:t>2</a:t>
            </a:r>
            <a:r>
              <a:rPr lang="en-US" sz="3200"/>
              <a:t> hardness</a:t>
            </a:r>
          </a:p>
        </p:txBody>
      </p:sp>
    </p:spTree>
    <p:extLst>
      <p:ext uri="{BB962C8B-B14F-4D97-AF65-F5344CB8AC3E}">
        <p14:creationId xmlns:p14="http://schemas.microsoft.com/office/powerpoint/2010/main" val="2145266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975685952"/>
              </p:ext>
            </p:extLst>
          </p:nvPr>
        </p:nvGraphicFramePr>
        <p:xfrm>
          <a:off x="381000" y="381000"/>
          <a:ext cx="8382000" cy="5933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xmlns="" val="20000"/>
                    </a:ext>
                  </a:extLst>
                </a:gridCol>
                <a:gridCol w="1600200">
                  <a:extLst>
                    <a:ext uri="{9D8B030D-6E8A-4147-A177-3AD203B41FA5}">
                      <a16:colId xmlns:a16="http://schemas.microsoft.com/office/drawing/2014/main" xmlns="" val="20001"/>
                    </a:ext>
                  </a:extLst>
                </a:gridCol>
                <a:gridCol w="2438400">
                  <a:extLst>
                    <a:ext uri="{9D8B030D-6E8A-4147-A177-3AD203B41FA5}">
                      <a16:colId xmlns:a16="http://schemas.microsoft.com/office/drawing/2014/main" xmlns="" val="20002"/>
                    </a:ext>
                  </a:extLst>
                </a:gridCol>
                <a:gridCol w="2819400">
                  <a:extLst>
                    <a:ext uri="{9D8B030D-6E8A-4147-A177-3AD203B41FA5}">
                      <a16:colId xmlns:a16="http://schemas.microsoft.com/office/drawing/2014/main" xmlns="" val="20003"/>
                    </a:ext>
                  </a:extLst>
                </a:gridCol>
              </a:tblGrid>
              <a:tr h="370840">
                <a:tc>
                  <a:txBody>
                    <a:bodyPr/>
                    <a:lstStyle/>
                    <a:p>
                      <a:r>
                        <a:rPr lang="en-US"/>
                        <a:t>Salt</a:t>
                      </a:r>
                    </a:p>
                  </a:txBody>
                  <a:tcPr/>
                </a:tc>
                <a:tc>
                  <a:txBody>
                    <a:bodyPr/>
                    <a:lstStyle/>
                    <a:p>
                      <a:r>
                        <a:rPr lang="en-US"/>
                        <a:t>Molar Mass</a:t>
                      </a:r>
                    </a:p>
                  </a:txBody>
                  <a:tcPr/>
                </a:tc>
                <a:tc>
                  <a:txBody>
                    <a:bodyPr/>
                    <a:lstStyle/>
                    <a:p>
                      <a:r>
                        <a:rPr lang="en-US"/>
                        <a:t>Chemical Equivalent</a:t>
                      </a:r>
                    </a:p>
                  </a:txBody>
                  <a:tcPr/>
                </a:tc>
                <a:tc>
                  <a:txBody>
                    <a:bodyPr/>
                    <a:lstStyle/>
                    <a:p>
                      <a:r>
                        <a:rPr lang="en-US"/>
                        <a:t>Multiplication Factor</a:t>
                      </a:r>
                    </a:p>
                  </a:txBody>
                  <a:tcPr/>
                </a:tc>
                <a:extLst>
                  <a:ext uri="{0D108BD9-81ED-4DB2-BD59-A6C34878D82A}">
                    <a16:rowId xmlns:a16="http://schemas.microsoft.com/office/drawing/2014/main" xmlns="" val="10000"/>
                  </a:ext>
                </a:extLst>
              </a:tr>
              <a:tr h="370840">
                <a:tc>
                  <a:txBody>
                    <a:bodyPr/>
                    <a:lstStyle/>
                    <a:p>
                      <a:r>
                        <a:rPr lang="en-US"/>
                        <a:t>Ca(HCO</a:t>
                      </a:r>
                      <a:r>
                        <a:rPr lang="en-US" baseline="-25000"/>
                        <a:t>3</a:t>
                      </a:r>
                      <a:r>
                        <a:rPr lang="en-US"/>
                        <a:t>)</a:t>
                      </a:r>
                      <a:r>
                        <a:rPr lang="en-US" baseline="-25000"/>
                        <a:t>2</a:t>
                      </a:r>
                    </a:p>
                  </a:txBody>
                  <a:tcPr/>
                </a:tc>
                <a:tc>
                  <a:txBody>
                    <a:bodyPr/>
                    <a:lstStyle/>
                    <a:p>
                      <a:r>
                        <a:rPr lang="en-US"/>
                        <a:t>162</a:t>
                      </a:r>
                    </a:p>
                  </a:txBody>
                  <a:tcPr/>
                </a:tc>
                <a:tc>
                  <a:txBody>
                    <a:bodyPr/>
                    <a:lstStyle/>
                    <a:p>
                      <a:r>
                        <a:rPr lang="en-US"/>
                        <a:t>81</a:t>
                      </a:r>
                    </a:p>
                  </a:txBody>
                  <a:tcPr/>
                </a:tc>
                <a:tc>
                  <a:txBody>
                    <a:bodyPr/>
                    <a:lstStyle/>
                    <a:p>
                      <a:r>
                        <a:rPr lang="en-US"/>
                        <a:t>100/ 162</a:t>
                      </a:r>
                    </a:p>
                  </a:txBody>
                  <a:tcPr/>
                </a:tc>
                <a:extLst>
                  <a:ext uri="{0D108BD9-81ED-4DB2-BD59-A6C34878D82A}">
                    <a16:rowId xmlns:a16="http://schemas.microsoft.com/office/drawing/2014/main" xmlns="" val="10001"/>
                  </a:ext>
                </a:extLst>
              </a:tr>
              <a:tr h="370840">
                <a:tc>
                  <a:txBody>
                    <a:bodyPr/>
                    <a:lstStyle/>
                    <a:p>
                      <a:r>
                        <a:rPr lang="en-US"/>
                        <a:t>Mg(HCO</a:t>
                      </a:r>
                      <a:r>
                        <a:rPr lang="en-US" baseline="-25000"/>
                        <a:t>3</a:t>
                      </a:r>
                      <a:r>
                        <a:rPr lang="en-US"/>
                        <a:t>)</a:t>
                      </a:r>
                      <a:r>
                        <a:rPr lang="en-US" baseline="-25000"/>
                        <a:t>2</a:t>
                      </a:r>
                    </a:p>
                  </a:txBody>
                  <a:tcPr/>
                </a:tc>
                <a:tc>
                  <a:txBody>
                    <a:bodyPr/>
                    <a:lstStyle/>
                    <a:p>
                      <a:r>
                        <a:rPr lang="en-US"/>
                        <a:t>142</a:t>
                      </a:r>
                    </a:p>
                  </a:txBody>
                  <a:tcPr/>
                </a:tc>
                <a:tc>
                  <a:txBody>
                    <a:bodyPr/>
                    <a:lstStyle/>
                    <a:p>
                      <a:r>
                        <a:rPr lang="en-US"/>
                        <a:t>73</a:t>
                      </a:r>
                    </a:p>
                  </a:txBody>
                  <a:tcPr/>
                </a:tc>
                <a:tc>
                  <a:txBody>
                    <a:bodyPr/>
                    <a:lstStyle/>
                    <a:p>
                      <a:r>
                        <a:rPr lang="en-US"/>
                        <a:t>100/ 142</a:t>
                      </a:r>
                    </a:p>
                  </a:txBody>
                  <a:tcPr/>
                </a:tc>
                <a:extLst>
                  <a:ext uri="{0D108BD9-81ED-4DB2-BD59-A6C34878D82A}">
                    <a16:rowId xmlns:a16="http://schemas.microsoft.com/office/drawing/2014/main" xmlns="" val="10002"/>
                  </a:ext>
                </a:extLst>
              </a:tr>
              <a:tr h="370840">
                <a:tc>
                  <a:txBody>
                    <a:bodyPr/>
                    <a:lstStyle/>
                    <a:p>
                      <a:r>
                        <a:rPr lang="en-US"/>
                        <a:t>CaSO</a:t>
                      </a:r>
                      <a:r>
                        <a:rPr lang="en-US" baseline="-25000"/>
                        <a:t>4</a:t>
                      </a:r>
                    </a:p>
                  </a:txBody>
                  <a:tcPr/>
                </a:tc>
                <a:tc>
                  <a:txBody>
                    <a:bodyPr/>
                    <a:lstStyle/>
                    <a:p>
                      <a:r>
                        <a:rPr lang="en-US"/>
                        <a:t>136</a:t>
                      </a:r>
                    </a:p>
                  </a:txBody>
                  <a:tcPr/>
                </a:tc>
                <a:tc>
                  <a:txBody>
                    <a:bodyPr/>
                    <a:lstStyle/>
                    <a:p>
                      <a:r>
                        <a:rPr lang="en-US"/>
                        <a:t>68</a:t>
                      </a:r>
                    </a:p>
                  </a:txBody>
                  <a:tcPr/>
                </a:tc>
                <a:tc>
                  <a:txBody>
                    <a:bodyPr/>
                    <a:lstStyle/>
                    <a:p>
                      <a:r>
                        <a:rPr lang="en-US"/>
                        <a:t>100/ 136</a:t>
                      </a:r>
                    </a:p>
                  </a:txBody>
                  <a:tcPr/>
                </a:tc>
                <a:extLst>
                  <a:ext uri="{0D108BD9-81ED-4DB2-BD59-A6C34878D82A}">
                    <a16:rowId xmlns:a16="http://schemas.microsoft.com/office/drawing/2014/main" xmlns="" val="10003"/>
                  </a:ext>
                </a:extLst>
              </a:tr>
              <a:tr h="370840">
                <a:tc>
                  <a:txBody>
                    <a:bodyPr/>
                    <a:lstStyle/>
                    <a:p>
                      <a:r>
                        <a:rPr lang="en-US"/>
                        <a:t>FeCl</a:t>
                      </a:r>
                      <a:r>
                        <a:rPr lang="en-US" baseline="-25000"/>
                        <a:t>2</a:t>
                      </a:r>
                    </a:p>
                  </a:txBody>
                  <a:tcPr/>
                </a:tc>
                <a:tc>
                  <a:txBody>
                    <a:bodyPr/>
                    <a:lstStyle/>
                    <a:p>
                      <a:r>
                        <a:rPr lang="en-US"/>
                        <a:t>127</a:t>
                      </a:r>
                    </a:p>
                  </a:txBody>
                  <a:tcPr/>
                </a:tc>
                <a:tc>
                  <a:txBody>
                    <a:bodyPr/>
                    <a:lstStyle/>
                    <a:p>
                      <a:r>
                        <a:rPr lang="en-US"/>
                        <a:t>63.5</a:t>
                      </a:r>
                    </a:p>
                  </a:txBody>
                  <a:tcPr/>
                </a:tc>
                <a:tc>
                  <a:txBody>
                    <a:bodyPr/>
                    <a:lstStyle/>
                    <a:p>
                      <a:r>
                        <a:rPr lang="en-US"/>
                        <a:t>100/ 127</a:t>
                      </a:r>
                    </a:p>
                  </a:txBody>
                  <a:tcPr/>
                </a:tc>
                <a:extLst>
                  <a:ext uri="{0D108BD9-81ED-4DB2-BD59-A6C34878D82A}">
                    <a16:rowId xmlns:a16="http://schemas.microsoft.com/office/drawing/2014/main" xmlns="" val="10004"/>
                  </a:ext>
                </a:extLst>
              </a:tr>
              <a:tr h="370840">
                <a:tc>
                  <a:txBody>
                    <a:bodyPr/>
                    <a:lstStyle/>
                    <a:p>
                      <a:r>
                        <a:rPr lang="en-US"/>
                        <a:t>CaCl</a:t>
                      </a:r>
                      <a:r>
                        <a:rPr lang="en-US" baseline="-25000"/>
                        <a:t>2</a:t>
                      </a:r>
                    </a:p>
                  </a:txBody>
                  <a:tcPr/>
                </a:tc>
                <a:tc>
                  <a:txBody>
                    <a:bodyPr/>
                    <a:lstStyle/>
                    <a:p>
                      <a:r>
                        <a:rPr lang="en-US"/>
                        <a:t>111</a:t>
                      </a:r>
                    </a:p>
                  </a:txBody>
                  <a:tcPr/>
                </a:tc>
                <a:tc>
                  <a:txBody>
                    <a:bodyPr/>
                    <a:lstStyle/>
                    <a:p>
                      <a:r>
                        <a:rPr lang="en-US"/>
                        <a:t>55.5</a:t>
                      </a:r>
                    </a:p>
                  </a:txBody>
                  <a:tcPr/>
                </a:tc>
                <a:tc>
                  <a:txBody>
                    <a:bodyPr/>
                    <a:lstStyle/>
                    <a:p>
                      <a:r>
                        <a:rPr lang="en-US"/>
                        <a:t>100/ 111</a:t>
                      </a:r>
                    </a:p>
                  </a:txBody>
                  <a:tcPr/>
                </a:tc>
                <a:extLst>
                  <a:ext uri="{0D108BD9-81ED-4DB2-BD59-A6C34878D82A}">
                    <a16:rowId xmlns:a16="http://schemas.microsoft.com/office/drawing/2014/main" xmlns="" val="10005"/>
                  </a:ext>
                </a:extLst>
              </a:tr>
              <a:tr h="370840">
                <a:tc>
                  <a:txBody>
                    <a:bodyPr/>
                    <a:lstStyle/>
                    <a:p>
                      <a:r>
                        <a:rPr lang="en-US"/>
                        <a:t>MgSO</a:t>
                      </a:r>
                      <a:r>
                        <a:rPr lang="en-US" baseline="-25000"/>
                        <a:t>4</a:t>
                      </a:r>
                    </a:p>
                  </a:txBody>
                  <a:tcPr/>
                </a:tc>
                <a:tc>
                  <a:txBody>
                    <a:bodyPr/>
                    <a:lstStyle/>
                    <a:p>
                      <a:r>
                        <a:rPr lang="en-US"/>
                        <a:t>120</a:t>
                      </a:r>
                    </a:p>
                  </a:txBody>
                  <a:tcPr/>
                </a:tc>
                <a:tc>
                  <a:txBody>
                    <a:bodyPr/>
                    <a:lstStyle/>
                    <a:p>
                      <a:r>
                        <a:rPr lang="en-US"/>
                        <a:t>60</a:t>
                      </a:r>
                    </a:p>
                  </a:txBody>
                  <a:tcPr/>
                </a:tc>
                <a:tc>
                  <a:txBody>
                    <a:bodyPr/>
                    <a:lstStyle/>
                    <a:p>
                      <a:r>
                        <a:rPr lang="en-US"/>
                        <a:t>100/ 120</a:t>
                      </a:r>
                    </a:p>
                  </a:txBody>
                  <a:tcPr/>
                </a:tc>
                <a:extLst>
                  <a:ext uri="{0D108BD9-81ED-4DB2-BD59-A6C34878D82A}">
                    <a16:rowId xmlns:a16="http://schemas.microsoft.com/office/drawing/2014/main" xmlns="" val="10006"/>
                  </a:ext>
                </a:extLst>
              </a:tr>
              <a:tr h="370840">
                <a:tc>
                  <a:txBody>
                    <a:bodyPr/>
                    <a:lstStyle/>
                    <a:p>
                      <a:r>
                        <a:rPr lang="en-US"/>
                        <a:t>MgCl</a:t>
                      </a:r>
                      <a:r>
                        <a:rPr lang="en-US" baseline="-25000"/>
                        <a:t>2</a:t>
                      </a:r>
                    </a:p>
                  </a:txBody>
                  <a:tcPr/>
                </a:tc>
                <a:tc>
                  <a:txBody>
                    <a:bodyPr/>
                    <a:lstStyle/>
                    <a:p>
                      <a:r>
                        <a:rPr lang="en-US"/>
                        <a:t>95</a:t>
                      </a:r>
                    </a:p>
                  </a:txBody>
                  <a:tcPr/>
                </a:tc>
                <a:tc>
                  <a:txBody>
                    <a:bodyPr/>
                    <a:lstStyle/>
                    <a:p>
                      <a:r>
                        <a:rPr lang="en-US"/>
                        <a:t>47.5</a:t>
                      </a:r>
                    </a:p>
                  </a:txBody>
                  <a:tcPr/>
                </a:tc>
                <a:tc>
                  <a:txBody>
                    <a:bodyPr/>
                    <a:lstStyle/>
                    <a:p>
                      <a:r>
                        <a:rPr lang="en-US"/>
                        <a:t>100/ 95</a:t>
                      </a:r>
                    </a:p>
                  </a:txBody>
                  <a:tcPr/>
                </a:tc>
                <a:extLst>
                  <a:ext uri="{0D108BD9-81ED-4DB2-BD59-A6C34878D82A}">
                    <a16:rowId xmlns:a16="http://schemas.microsoft.com/office/drawing/2014/main" xmlns="" val="10007"/>
                  </a:ext>
                </a:extLst>
              </a:tr>
              <a:tr h="370840">
                <a:tc>
                  <a:txBody>
                    <a:bodyPr/>
                    <a:lstStyle/>
                    <a:p>
                      <a:r>
                        <a:rPr lang="en-US"/>
                        <a:t>CaCO</a:t>
                      </a:r>
                      <a:r>
                        <a:rPr lang="en-US" baseline="-25000"/>
                        <a:t>3</a:t>
                      </a:r>
                    </a:p>
                  </a:txBody>
                  <a:tcPr/>
                </a:tc>
                <a:tc>
                  <a:txBody>
                    <a:bodyPr/>
                    <a:lstStyle/>
                    <a:p>
                      <a:r>
                        <a:rPr lang="en-US"/>
                        <a:t>100</a:t>
                      </a:r>
                    </a:p>
                  </a:txBody>
                  <a:tcPr/>
                </a:tc>
                <a:tc>
                  <a:txBody>
                    <a:bodyPr/>
                    <a:lstStyle/>
                    <a:p>
                      <a:r>
                        <a:rPr lang="en-US"/>
                        <a:t>50</a:t>
                      </a:r>
                    </a:p>
                  </a:txBody>
                  <a:tcPr/>
                </a:tc>
                <a:tc>
                  <a:txBody>
                    <a:bodyPr/>
                    <a:lstStyle/>
                    <a:p>
                      <a:r>
                        <a:rPr lang="en-US"/>
                        <a:t>100/ 100</a:t>
                      </a:r>
                    </a:p>
                  </a:txBody>
                  <a:tcPr/>
                </a:tc>
                <a:extLst>
                  <a:ext uri="{0D108BD9-81ED-4DB2-BD59-A6C34878D82A}">
                    <a16:rowId xmlns:a16="http://schemas.microsoft.com/office/drawing/2014/main" xmlns="" val="10008"/>
                  </a:ext>
                </a:extLst>
              </a:tr>
              <a:tr h="370840">
                <a:tc>
                  <a:txBody>
                    <a:bodyPr/>
                    <a:lstStyle/>
                    <a:p>
                      <a:r>
                        <a:rPr lang="en-US"/>
                        <a:t>MgCO</a:t>
                      </a:r>
                      <a:r>
                        <a:rPr lang="en-US" baseline="-25000"/>
                        <a:t>3</a:t>
                      </a:r>
                    </a:p>
                  </a:txBody>
                  <a:tcPr/>
                </a:tc>
                <a:tc>
                  <a:txBody>
                    <a:bodyPr/>
                    <a:lstStyle/>
                    <a:p>
                      <a:r>
                        <a:rPr lang="en-US"/>
                        <a:t>84</a:t>
                      </a:r>
                    </a:p>
                  </a:txBody>
                  <a:tcPr/>
                </a:tc>
                <a:tc>
                  <a:txBody>
                    <a:bodyPr/>
                    <a:lstStyle/>
                    <a:p>
                      <a:r>
                        <a:rPr lang="en-US"/>
                        <a:t>42</a:t>
                      </a:r>
                    </a:p>
                  </a:txBody>
                  <a:tcPr/>
                </a:tc>
                <a:tc>
                  <a:txBody>
                    <a:bodyPr/>
                    <a:lstStyle/>
                    <a:p>
                      <a:r>
                        <a:rPr lang="en-US"/>
                        <a:t>100/ 84</a:t>
                      </a:r>
                    </a:p>
                  </a:txBody>
                  <a:tcPr/>
                </a:tc>
                <a:extLst>
                  <a:ext uri="{0D108BD9-81ED-4DB2-BD59-A6C34878D82A}">
                    <a16:rowId xmlns:a16="http://schemas.microsoft.com/office/drawing/2014/main" xmlns="" val="10009"/>
                  </a:ext>
                </a:extLst>
              </a:tr>
              <a:tr h="370840">
                <a:tc>
                  <a:txBody>
                    <a:bodyPr/>
                    <a:lstStyle/>
                    <a:p>
                      <a:r>
                        <a:rPr lang="en-US"/>
                        <a:t>CO</a:t>
                      </a:r>
                      <a:r>
                        <a:rPr lang="en-US" baseline="-25000"/>
                        <a:t>2</a:t>
                      </a:r>
                    </a:p>
                  </a:txBody>
                  <a:tcPr/>
                </a:tc>
                <a:tc>
                  <a:txBody>
                    <a:bodyPr/>
                    <a:lstStyle/>
                    <a:p>
                      <a:r>
                        <a:rPr lang="en-US"/>
                        <a:t>44</a:t>
                      </a:r>
                    </a:p>
                  </a:txBody>
                  <a:tcPr/>
                </a:tc>
                <a:tc>
                  <a:txBody>
                    <a:bodyPr/>
                    <a:lstStyle/>
                    <a:p>
                      <a:r>
                        <a:rPr lang="en-US"/>
                        <a:t>22</a:t>
                      </a:r>
                    </a:p>
                  </a:txBody>
                  <a:tcPr/>
                </a:tc>
                <a:tc>
                  <a:txBody>
                    <a:bodyPr/>
                    <a:lstStyle/>
                    <a:p>
                      <a:r>
                        <a:rPr lang="en-US"/>
                        <a:t>100/ 44</a:t>
                      </a:r>
                    </a:p>
                  </a:txBody>
                  <a:tcPr/>
                </a:tc>
                <a:extLst>
                  <a:ext uri="{0D108BD9-81ED-4DB2-BD59-A6C34878D82A}">
                    <a16:rowId xmlns:a16="http://schemas.microsoft.com/office/drawing/2014/main" xmlns="" val="10010"/>
                  </a:ext>
                </a:extLst>
              </a:tr>
              <a:tr h="370840">
                <a:tc>
                  <a:txBody>
                    <a:bodyPr/>
                    <a:lstStyle/>
                    <a:p>
                      <a:r>
                        <a:rPr lang="en-US"/>
                        <a:t>Ca(NO</a:t>
                      </a:r>
                      <a:r>
                        <a:rPr lang="en-US" baseline="-25000"/>
                        <a:t>3</a:t>
                      </a:r>
                      <a:r>
                        <a:rPr lang="en-US"/>
                        <a:t>)</a:t>
                      </a:r>
                      <a:r>
                        <a:rPr lang="en-US" baseline="-25000"/>
                        <a:t>2</a:t>
                      </a:r>
                    </a:p>
                  </a:txBody>
                  <a:tcPr/>
                </a:tc>
                <a:tc>
                  <a:txBody>
                    <a:bodyPr/>
                    <a:lstStyle/>
                    <a:p>
                      <a:r>
                        <a:rPr lang="en-US"/>
                        <a:t>164</a:t>
                      </a:r>
                    </a:p>
                  </a:txBody>
                  <a:tcPr/>
                </a:tc>
                <a:tc>
                  <a:txBody>
                    <a:bodyPr/>
                    <a:lstStyle/>
                    <a:p>
                      <a:r>
                        <a:rPr lang="en-US"/>
                        <a:t>82</a:t>
                      </a:r>
                    </a:p>
                  </a:txBody>
                  <a:tcPr/>
                </a:tc>
                <a:tc>
                  <a:txBody>
                    <a:bodyPr/>
                    <a:lstStyle/>
                    <a:p>
                      <a:r>
                        <a:rPr lang="en-US"/>
                        <a:t>100/164</a:t>
                      </a:r>
                    </a:p>
                  </a:txBody>
                  <a:tcPr/>
                </a:tc>
                <a:extLst>
                  <a:ext uri="{0D108BD9-81ED-4DB2-BD59-A6C34878D82A}">
                    <a16:rowId xmlns:a16="http://schemas.microsoft.com/office/drawing/2014/main" xmlns="" val="10011"/>
                  </a:ext>
                </a:extLst>
              </a:tr>
              <a:tr h="370840">
                <a:tc>
                  <a:txBody>
                    <a:bodyPr/>
                    <a:lstStyle/>
                    <a:p>
                      <a:r>
                        <a:rPr lang="en-US"/>
                        <a:t>Mg(NO</a:t>
                      </a:r>
                      <a:r>
                        <a:rPr lang="en-US" baseline="-25000"/>
                        <a:t>3</a:t>
                      </a:r>
                      <a:r>
                        <a:rPr lang="en-US"/>
                        <a:t>)</a:t>
                      </a:r>
                      <a:r>
                        <a:rPr lang="en-US" baseline="-25000"/>
                        <a:t>2</a:t>
                      </a:r>
                    </a:p>
                  </a:txBody>
                  <a:tcPr/>
                </a:tc>
                <a:tc>
                  <a:txBody>
                    <a:bodyPr/>
                    <a:lstStyle/>
                    <a:p>
                      <a:r>
                        <a:rPr lang="en-US"/>
                        <a:t>148</a:t>
                      </a:r>
                    </a:p>
                  </a:txBody>
                  <a:tcPr/>
                </a:tc>
                <a:tc>
                  <a:txBody>
                    <a:bodyPr/>
                    <a:lstStyle/>
                    <a:p>
                      <a:r>
                        <a:rPr lang="en-US"/>
                        <a:t>74</a:t>
                      </a:r>
                    </a:p>
                  </a:txBody>
                  <a:tcPr/>
                </a:tc>
                <a:tc>
                  <a:txBody>
                    <a:bodyPr/>
                    <a:lstStyle/>
                    <a:p>
                      <a:r>
                        <a:rPr lang="en-US"/>
                        <a:t>100/ 148</a:t>
                      </a:r>
                    </a:p>
                  </a:txBody>
                  <a:tcPr/>
                </a:tc>
                <a:extLst>
                  <a:ext uri="{0D108BD9-81ED-4DB2-BD59-A6C34878D82A}">
                    <a16:rowId xmlns:a16="http://schemas.microsoft.com/office/drawing/2014/main" xmlns="" val="10012"/>
                  </a:ext>
                </a:extLst>
              </a:tr>
              <a:tr h="370840">
                <a:tc>
                  <a:txBody>
                    <a:bodyPr/>
                    <a:lstStyle/>
                    <a:p>
                      <a:r>
                        <a:rPr lang="en-US"/>
                        <a:t>HCO</a:t>
                      </a:r>
                      <a:r>
                        <a:rPr lang="en-US" baseline="-25000"/>
                        <a:t>3</a:t>
                      </a:r>
                      <a:r>
                        <a:rPr lang="en-US" baseline="30000"/>
                        <a:t>-</a:t>
                      </a:r>
                    </a:p>
                  </a:txBody>
                  <a:tcPr/>
                </a:tc>
                <a:tc>
                  <a:txBody>
                    <a:bodyPr/>
                    <a:lstStyle/>
                    <a:p>
                      <a:r>
                        <a:rPr lang="en-US"/>
                        <a:t>61</a:t>
                      </a:r>
                    </a:p>
                  </a:txBody>
                  <a:tcPr/>
                </a:tc>
                <a:tc>
                  <a:txBody>
                    <a:bodyPr/>
                    <a:lstStyle/>
                    <a:p>
                      <a:r>
                        <a:rPr lang="en-US"/>
                        <a:t>61</a:t>
                      </a:r>
                    </a:p>
                  </a:txBody>
                  <a:tcPr/>
                </a:tc>
                <a:tc>
                  <a:txBody>
                    <a:bodyPr/>
                    <a:lstStyle/>
                    <a:p>
                      <a:r>
                        <a:rPr lang="en-US"/>
                        <a:t>100/ 122</a:t>
                      </a:r>
                    </a:p>
                  </a:txBody>
                  <a:tcPr/>
                </a:tc>
                <a:extLst>
                  <a:ext uri="{0D108BD9-81ED-4DB2-BD59-A6C34878D82A}">
                    <a16:rowId xmlns:a16="http://schemas.microsoft.com/office/drawing/2014/main" xmlns="" val="10013"/>
                  </a:ext>
                </a:extLst>
              </a:tr>
              <a:tr h="370840">
                <a:tc>
                  <a:txBody>
                    <a:bodyPr/>
                    <a:lstStyle/>
                    <a:p>
                      <a:r>
                        <a:rPr lang="en-US"/>
                        <a:t>OH</a:t>
                      </a:r>
                      <a:r>
                        <a:rPr lang="en-US" baseline="30000"/>
                        <a:t>-</a:t>
                      </a:r>
                    </a:p>
                  </a:txBody>
                  <a:tcPr/>
                </a:tc>
                <a:tc>
                  <a:txBody>
                    <a:bodyPr/>
                    <a:lstStyle/>
                    <a:p>
                      <a:r>
                        <a:rPr lang="en-US"/>
                        <a:t>17</a:t>
                      </a:r>
                    </a:p>
                  </a:txBody>
                  <a:tcPr/>
                </a:tc>
                <a:tc>
                  <a:txBody>
                    <a:bodyPr/>
                    <a:lstStyle/>
                    <a:p>
                      <a:r>
                        <a:rPr lang="en-US"/>
                        <a:t>17</a:t>
                      </a:r>
                    </a:p>
                  </a:txBody>
                  <a:tcPr/>
                </a:tc>
                <a:tc>
                  <a:txBody>
                    <a:bodyPr/>
                    <a:lstStyle/>
                    <a:p>
                      <a:r>
                        <a:rPr lang="en-US"/>
                        <a:t>100/ 34</a:t>
                      </a:r>
                    </a:p>
                  </a:txBody>
                  <a:tcPr/>
                </a:tc>
                <a:extLst>
                  <a:ext uri="{0D108BD9-81ED-4DB2-BD59-A6C34878D82A}">
                    <a16:rowId xmlns:a16="http://schemas.microsoft.com/office/drawing/2014/main" xmlns="" val="10014"/>
                  </a:ext>
                </a:extLst>
              </a:tr>
              <a:tr h="370840">
                <a:tc>
                  <a:txBody>
                    <a:bodyPr/>
                    <a:lstStyle/>
                    <a:p>
                      <a:r>
                        <a:rPr lang="en-US"/>
                        <a:t>CO</a:t>
                      </a:r>
                      <a:r>
                        <a:rPr lang="en-US" baseline="-25000"/>
                        <a:t>3</a:t>
                      </a:r>
                      <a:r>
                        <a:rPr lang="en-US" baseline="30000"/>
                        <a:t>2-</a:t>
                      </a:r>
                    </a:p>
                  </a:txBody>
                  <a:tcPr/>
                </a:tc>
                <a:tc>
                  <a:txBody>
                    <a:bodyPr/>
                    <a:lstStyle/>
                    <a:p>
                      <a:r>
                        <a:rPr lang="en-US"/>
                        <a:t>60</a:t>
                      </a:r>
                    </a:p>
                  </a:txBody>
                  <a:tcPr/>
                </a:tc>
                <a:tc>
                  <a:txBody>
                    <a:bodyPr/>
                    <a:lstStyle/>
                    <a:p>
                      <a:r>
                        <a:rPr lang="en-US"/>
                        <a:t>30</a:t>
                      </a:r>
                    </a:p>
                  </a:txBody>
                  <a:tcPr/>
                </a:tc>
                <a:tc>
                  <a:txBody>
                    <a:bodyPr/>
                    <a:lstStyle/>
                    <a:p>
                      <a:r>
                        <a:rPr lang="en-US"/>
                        <a:t>100/ 60</a:t>
                      </a:r>
                    </a:p>
                  </a:txBody>
                  <a:tcPr/>
                </a:tc>
                <a:extLst>
                  <a:ext uri="{0D108BD9-81ED-4DB2-BD59-A6C34878D82A}">
                    <a16:rowId xmlns:a16="http://schemas.microsoft.com/office/drawing/2014/main" xmlns="" val="10015"/>
                  </a:ext>
                </a:extLst>
              </a:tr>
            </a:tbl>
          </a:graphicData>
        </a:graphic>
      </p:graphicFrame>
    </p:spTree>
    <p:extLst>
      <p:ext uri="{BB962C8B-B14F-4D97-AF65-F5344CB8AC3E}">
        <p14:creationId xmlns:p14="http://schemas.microsoft.com/office/powerpoint/2010/main" val="2586643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224073339"/>
              </p:ext>
            </p:extLst>
          </p:nvPr>
        </p:nvGraphicFramePr>
        <p:xfrm>
          <a:off x="381000" y="381000"/>
          <a:ext cx="8382000" cy="22250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xmlns="" val="20000"/>
                    </a:ext>
                  </a:extLst>
                </a:gridCol>
                <a:gridCol w="1600200">
                  <a:extLst>
                    <a:ext uri="{9D8B030D-6E8A-4147-A177-3AD203B41FA5}">
                      <a16:colId xmlns:a16="http://schemas.microsoft.com/office/drawing/2014/main" xmlns="" val="20001"/>
                    </a:ext>
                  </a:extLst>
                </a:gridCol>
                <a:gridCol w="2438400">
                  <a:extLst>
                    <a:ext uri="{9D8B030D-6E8A-4147-A177-3AD203B41FA5}">
                      <a16:colId xmlns:a16="http://schemas.microsoft.com/office/drawing/2014/main" xmlns="" val="20002"/>
                    </a:ext>
                  </a:extLst>
                </a:gridCol>
                <a:gridCol w="2819400">
                  <a:extLst>
                    <a:ext uri="{9D8B030D-6E8A-4147-A177-3AD203B41FA5}">
                      <a16:colId xmlns:a16="http://schemas.microsoft.com/office/drawing/2014/main" xmlns="" val="20003"/>
                    </a:ext>
                  </a:extLst>
                </a:gridCol>
              </a:tblGrid>
              <a:tr h="370840">
                <a:tc>
                  <a:txBody>
                    <a:bodyPr/>
                    <a:lstStyle/>
                    <a:p>
                      <a:r>
                        <a:rPr lang="en-US"/>
                        <a:t>Salt</a:t>
                      </a:r>
                    </a:p>
                  </a:txBody>
                  <a:tcPr/>
                </a:tc>
                <a:tc>
                  <a:txBody>
                    <a:bodyPr/>
                    <a:lstStyle/>
                    <a:p>
                      <a:r>
                        <a:rPr lang="en-US"/>
                        <a:t>Molar Mass</a:t>
                      </a:r>
                    </a:p>
                  </a:txBody>
                  <a:tcPr/>
                </a:tc>
                <a:tc>
                  <a:txBody>
                    <a:bodyPr/>
                    <a:lstStyle/>
                    <a:p>
                      <a:r>
                        <a:rPr lang="en-US"/>
                        <a:t>Chemical Equivalent</a:t>
                      </a:r>
                    </a:p>
                  </a:txBody>
                  <a:tcPr/>
                </a:tc>
                <a:tc>
                  <a:txBody>
                    <a:bodyPr/>
                    <a:lstStyle/>
                    <a:p>
                      <a:r>
                        <a:rPr lang="en-US"/>
                        <a:t>Multiplication Factor</a:t>
                      </a:r>
                    </a:p>
                  </a:txBody>
                  <a:tcPr/>
                </a:tc>
                <a:extLst>
                  <a:ext uri="{0D108BD9-81ED-4DB2-BD59-A6C34878D82A}">
                    <a16:rowId xmlns:a16="http://schemas.microsoft.com/office/drawing/2014/main" xmlns="" val="10000"/>
                  </a:ext>
                </a:extLst>
              </a:tr>
              <a:tr h="370840">
                <a:tc>
                  <a:txBody>
                    <a:bodyPr/>
                    <a:lstStyle/>
                    <a:p>
                      <a:r>
                        <a:rPr lang="en-US"/>
                        <a:t>NaAlO</a:t>
                      </a:r>
                      <a:r>
                        <a:rPr lang="en-US" baseline="-25000"/>
                        <a:t>2</a:t>
                      </a:r>
                    </a:p>
                  </a:txBody>
                  <a:tcPr/>
                </a:tc>
                <a:tc>
                  <a:txBody>
                    <a:bodyPr/>
                    <a:lstStyle/>
                    <a:p>
                      <a:r>
                        <a:rPr lang="en-US"/>
                        <a:t>82</a:t>
                      </a:r>
                    </a:p>
                  </a:txBody>
                  <a:tcPr/>
                </a:tc>
                <a:tc>
                  <a:txBody>
                    <a:bodyPr/>
                    <a:lstStyle/>
                    <a:p>
                      <a:r>
                        <a:rPr lang="en-US"/>
                        <a:t>82</a:t>
                      </a:r>
                    </a:p>
                  </a:txBody>
                  <a:tcPr/>
                </a:tc>
                <a:tc>
                  <a:txBody>
                    <a:bodyPr/>
                    <a:lstStyle/>
                    <a:p>
                      <a:r>
                        <a:rPr lang="en-US"/>
                        <a:t>100/ 164</a:t>
                      </a:r>
                    </a:p>
                  </a:txBody>
                  <a:tcPr/>
                </a:tc>
                <a:extLst>
                  <a:ext uri="{0D108BD9-81ED-4DB2-BD59-A6C34878D82A}">
                    <a16:rowId xmlns:a16="http://schemas.microsoft.com/office/drawing/2014/main" xmlns="" val="10001"/>
                  </a:ext>
                </a:extLst>
              </a:tr>
              <a:tr h="370840">
                <a:tc>
                  <a:txBody>
                    <a:bodyPr/>
                    <a:lstStyle/>
                    <a:p>
                      <a:r>
                        <a:rPr lang="en-US"/>
                        <a:t>Al</a:t>
                      </a:r>
                      <a:r>
                        <a:rPr lang="en-US" baseline="-25000"/>
                        <a:t>2</a:t>
                      </a:r>
                      <a:r>
                        <a:rPr lang="en-US"/>
                        <a:t>(SO</a:t>
                      </a:r>
                      <a:r>
                        <a:rPr lang="en-US" baseline="-25000"/>
                        <a:t>4</a:t>
                      </a:r>
                      <a:r>
                        <a:rPr lang="en-US"/>
                        <a:t>)</a:t>
                      </a:r>
                      <a:r>
                        <a:rPr lang="en-US" baseline="-25000"/>
                        <a:t>3</a:t>
                      </a:r>
                    </a:p>
                  </a:txBody>
                  <a:tcPr/>
                </a:tc>
                <a:tc>
                  <a:txBody>
                    <a:bodyPr/>
                    <a:lstStyle/>
                    <a:p>
                      <a:r>
                        <a:rPr lang="en-US"/>
                        <a:t>342</a:t>
                      </a:r>
                    </a:p>
                  </a:txBody>
                  <a:tcPr/>
                </a:tc>
                <a:tc>
                  <a:txBody>
                    <a:bodyPr/>
                    <a:lstStyle/>
                    <a:p>
                      <a:r>
                        <a:rPr lang="en-US"/>
                        <a:t>57</a:t>
                      </a:r>
                    </a:p>
                  </a:txBody>
                  <a:tcPr/>
                </a:tc>
                <a:tc>
                  <a:txBody>
                    <a:bodyPr/>
                    <a:lstStyle/>
                    <a:p>
                      <a:r>
                        <a:rPr lang="en-US"/>
                        <a:t>100/ 114</a:t>
                      </a:r>
                    </a:p>
                  </a:txBody>
                  <a:tcPr/>
                </a:tc>
                <a:extLst>
                  <a:ext uri="{0D108BD9-81ED-4DB2-BD59-A6C34878D82A}">
                    <a16:rowId xmlns:a16="http://schemas.microsoft.com/office/drawing/2014/main" xmlns="" val="10002"/>
                  </a:ext>
                </a:extLst>
              </a:tr>
              <a:tr h="370840">
                <a:tc>
                  <a:txBody>
                    <a:bodyPr/>
                    <a:lstStyle/>
                    <a:p>
                      <a:r>
                        <a:rPr lang="en-US"/>
                        <a:t>FeSO</a:t>
                      </a:r>
                      <a:r>
                        <a:rPr lang="en-US" baseline="-25000"/>
                        <a:t>4</a:t>
                      </a:r>
                      <a:r>
                        <a:rPr lang="en-US"/>
                        <a:t>.7H</a:t>
                      </a:r>
                      <a:r>
                        <a:rPr lang="en-US" baseline="-25000"/>
                        <a:t>2</a:t>
                      </a:r>
                      <a:r>
                        <a:rPr lang="en-US"/>
                        <a:t>O</a:t>
                      </a:r>
                    </a:p>
                  </a:txBody>
                  <a:tcPr/>
                </a:tc>
                <a:tc>
                  <a:txBody>
                    <a:bodyPr/>
                    <a:lstStyle/>
                    <a:p>
                      <a:r>
                        <a:rPr lang="en-US"/>
                        <a:t>278</a:t>
                      </a:r>
                    </a:p>
                  </a:txBody>
                  <a:tcPr/>
                </a:tc>
                <a:tc>
                  <a:txBody>
                    <a:bodyPr/>
                    <a:lstStyle/>
                    <a:p>
                      <a:r>
                        <a:rPr lang="en-US"/>
                        <a:t>139</a:t>
                      </a:r>
                    </a:p>
                  </a:txBody>
                  <a:tcPr/>
                </a:tc>
                <a:tc>
                  <a:txBody>
                    <a:bodyPr/>
                    <a:lstStyle/>
                    <a:p>
                      <a:r>
                        <a:rPr lang="en-US"/>
                        <a:t>100/ 278</a:t>
                      </a:r>
                    </a:p>
                  </a:txBody>
                  <a:tcPr/>
                </a:tc>
                <a:extLst>
                  <a:ext uri="{0D108BD9-81ED-4DB2-BD59-A6C34878D82A}">
                    <a16:rowId xmlns:a16="http://schemas.microsoft.com/office/drawing/2014/main" xmlns="" val="10003"/>
                  </a:ext>
                </a:extLst>
              </a:tr>
              <a:tr h="370840">
                <a:tc>
                  <a:txBody>
                    <a:bodyPr/>
                    <a:lstStyle/>
                    <a:p>
                      <a:r>
                        <a:rPr lang="en-US"/>
                        <a:t>H</a:t>
                      </a:r>
                      <a:r>
                        <a:rPr lang="en-US" baseline="30000"/>
                        <a:t>+</a:t>
                      </a:r>
                    </a:p>
                  </a:txBody>
                  <a:tcPr/>
                </a:tc>
                <a:tc>
                  <a:txBody>
                    <a:bodyPr/>
                    <a:lstStyle/>
                    <a:p>
                      <a:r>
                        <a:rPr lang="en-US"/>
                        <a:t>1</a:t>
                      </a:r>
                    </a:p>
                  </a:txBody>
                  <a:tcPr/>
                </a:tc>
                <a:tc>
                  <a:txBody>
                    <a:bodyPr/>
                    <a:lstStyle/>
                    <a:p>
                      <a:r>
                        <a:rPr lang="en-US"/>
                        <a:t>1</a:t>
                      </a:r>
                    </a:p>
                  </a:txBody>
                  <a:tcPr/>
                </a:tc>
                <a:tc>
                  <a:txBody>
                    <a:bodyPr/>
                    <a:lstStyle/>
                    <a:p>
                      <a:r>
                        <a:rPr lang="en-US"/>
                        <a:t>100/ 2</a:t>
                      </a:r>
                    </a:p>
                  </a:txBody>
                  <a:tcPr/>
                </a:tc>
                <a:extLst>
                  <a:ext uri="{0D108BD9-81ED-4DB2-BD59-A6C34878D82A}">
                    <a16:rowId xmlns:a16="http://schemas.microsoft.com/office/drawing/2014/main" xmlns="" val="10004"/>
                  </a:ext>
                </a:extLst>
              </a:tr>
              <a:tr h="370840">
                <a:tc>
                  <a:txBody>
                    <a:bodyPr/>
                    <a:lstStyle/>
                    <a:p>
                      <a:r>
                        <a:rPr lang="en-US"/>
                        <a:t>HCl</a:t>
                      </a:r>
                    </a:p>
                  </a:txBody>
                  <a:tcPr/>
                </a:tc>
                <a:tc>
                  <a:txBody>
                    <a:bodyPr/>
                    <a:lstStyle/>
                    <a:p>
                      <a:r>
                        <a:rPr lang="en-US"/>
                        <a:t>36.5</a:t>
                      </a:r>
                    </a:p>
                  </a:txBody>
                  <a:tcPr/>
                </a:tc>
                <a:tc>
                  <a:txBody>
                    <a:bodyPr/>
                    <a:lstStyle/>
                    <a:p>
                      <a:r>
                        <a:rPr lang="en-US"/>
                        <a:t>36.5</a:t>
                      </a:r>
                    </a:p>
                  </a:txBody>
                  <a:tcPr/>
                </a:tc>
                <a:tc>
                  <a:txBody>
                    <a:bodyPr/>
                    <a:lstStyle/>
                    <a:p>
                      <a:r>
                        <a:rPr lang="en-US"/>
                        <a:t>100/ 73</a:t>
                      </a:r>
                    </a:p>
                  </a:txBody>
                  <a:tcPr/>
                </a:tc>
                <a:extLst>
                  <a:ext uri="{0D108BD9-81ED-4DB2-BD59-A6C34878D82A}">
                    <a16:rowId xmlns:a16="http://schemas.microsoft.com/office/drawing/2014/main" xmlns="" val="10005"/>
                  </a:ext>
                </a:extLst>
              </a:tr>
            </a:tbl>
          </a:graphicData>
        </a:graphic>
      </p:graphicFrame>
      <p:sp>
        <p:nvSpPr>
          <p:cNvPr id="5" name="Rectangle 4"/>
          <p:cNvSpPr/>
          <p:nvPr/>
        </p:nvSpPr>
        <p:spPr>
          <a:xfrm>
            <a:off x="457200" y="2931855"/>
            <a:ext cx="8305800" cy="3046988"/>
          </a:xfrm>
          <a:prstGeom prst="rect">
            <a:avLst/>
          </a:prstGeom>
        </p:spPr>
        <p:txBody>
          <a:bodyPr wrap="square">
            <a:spAutoFit/>
          </a:bodyPr>
          <a:lstStyle/>
          <a:p>
            <a:pPr algn="just"/>
            <a:r>
              <a:rPr lang="en-US" sz="3200"/>
              <a:t>The method of calculating degree of hardness is  given by the following formula</a:t>
            </a:r>
          </a:p>
          <a:p>
            <a:pPr algn="just"/>
            <a:r>
              <a:rPr lang="en-US" sz="3200"/>
              <a:t>•</a:t>
            </a:r>
            <a:r>
              <a:rPr lang="en-US" sz="3200" b="1">
                <a:solidFill>
                  <a:srgbClr val="FF0000"/>
                </a:solidFill>
              </a:rPr>
              <a:t>Hardness causing salt in terms of equivalent of CaCO</a:t>
            </a:r>
            <a:r>
              <a:rPr lang="en-US" sz="3200" b="1" baseline="-25000">
                <a:solidFill>
                  <a:srgbClr val="FF0000"/>
                </a:solidFill>
              </a:rPr>
              <a:t>3</a:t>
            </a:r>
            <a:r>
              <a:rPr lang="en-US" sz="3200" b="1">
                <a:solidFill>
                  <a:srgbClr val="FF0000"/>
                </a:solidFill>
              </a:rPr>
              <a:t>=  (Amount (</a:t>
            </a:r>
            <a:r>
              <a:rPr lang="en-US" sz="3200" b="1">
                <a:solidFill>
                  <a:srgbClr val="00B0F0"/>
                </a:solidFill>
              </a:rPr>
              <a:t>Mass</a:t>
            </a:r>
            <a:r>
              <a:rPr lang="en-US" sz="3200" b="1">
                <a:solidFill>
                  <a:srgbClr val="FF0000"/>
                </a:solidFill>
              </a:rPr>
              <a:t>) of the hardness causing salt x 100)/ Molecular weight of hardness causing salt </a:t>
            </a:r>
          </a:p>
        </p:txBody>
      </p:sp>
    </p:spTree>
    <p:extLst>
      <p:ext uri="{BB962C8B-B14F-4D97-AF65-F5344CB8AC3E}">
        <p14:creationId xmlns:p14="http://schemas.microsoft.com/office/powerpoint/2010/main" val="3977372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533400"/>
            <a:ext cx="8458200" cy="4031873"/>
          </a:xfrm>
          <a:prstGeom prst="rect">
            <a:avLst/>
          </a:prstGeom>
        </p:spPr>
        <p:txBody>
          <a:bodyPr wrap="square">
            <a:spAutoFit/>
          </a:bodyPr>
          <a:lstStyle/>
          <a:p>
            <a:pPr algn="just"/>
            <a:r>
              <a:rPr lang="en-US" sz="3200" b="1"/>
              <a:t>UNITS OF HARDNESS: </a:t>
            </a:r>
          </a:p>
          <a:p>
            <a:pPr algn="just"/>
            <a:r>
              <a:rPr lang="en-US" sz="3200"/>
              <a:t>The 5 different units in which the hardness of water is expressed as given below-</a:t>
            </a:r>
          </a:p>
          <a:p>
            <a:pPr algn="just"/>
            <a:r>
              <a:rPr lang="en-US" sz="3200"/>
              <a:t> (1) </a:t>
            </a:r>
            <a:r>
              <a:rPr lang="en-US" sz="3200">
                <a:solidFill>
                  <a:srgbClr val="FF0000"/>
                </a:solidFill>
              </a:rPr>
              <a:t>Parts per million (PPM)</a:t>
            </a:r>
            <a:r>
              <a:rPr lang="en-US" sz="3200"/>
              <a:t>: PPM is the number of parts of CaCO</a:t>
            </a:r>
            <a:r>
              <a:rPr lang="en-US" sz="3200" baseline="-25000"/>
              <a:t>3</a:t>
            </a:r>
            <a:r>
              <a:rPr lang="en-US" sz="3200"/>
              <a:t> equivalent hardness per 10</a:t>
            </a:r>
            <a:r>
              <a:rPr lang="en-US" sz="3200" baseline="30000"/>
              <a:t>6</a:t>
            </a:r>
            <a:r>
              <a:rPr lang="en-US" sz="3200"/>
              <a:t> parts of water. </a:t>
            </a:r>
          </a:p>
          <a:p>
            <a:pPr algn="just"/>
            <a:r>
              <a:rPr lang="en-US" sz="3200"/>
              <a:t>i.e., 1 PPM = 1 part of CaCO</a:t>
            </a:r>
            <a:r>
              <a:rPr lang="en-US" sz="3200" baseline="-25000"/>
              <a:t>3</a:t>
            </a:r>
            <a:r>
              <a:rPr lang="en-US" sz="3200"/>
              <a:t> equivalent hardness in 10</a:t>
            </a:r>
            <a:r>
              <a:rPr lang="en-US" sz="3200" baseline="30000"/>
              <a:t>6</a:t>
            </a:r>
            <a:r>
              <a:rPr lang="en-US" sz="3200"/>
              <a:t> parts of water.</a:t>
            </a:r>
          </a:p>
        </p:txBody>
      </p:sp>
    </p:spTree>
    <p:extLst>
      <p:ext uri="{BB962C8B-B14F-4D97-AF65-F5344CB8AC3E}">
        <p14:creationId xmlns:p14="http://schemas.microsoft.com/office/powerpoint/2010/main" val="2677028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382000" cy="4647426"/>
          </a:xfrm>
          <a:prstGeom prst="rect">
            <a:avLst/>
          </a:prstGeom>
        </p:spPr>
        <p:txBody>
          <a:bodyPr wrap="square">
            <a:spAutoFit/>
          </a:bodyPr>
          <a:lstStyle/>
          <a:p>
            <a:pPr algn="just"/>
            <a:r>
              <a:rPr lang="en-US" sz="3200"/>
              <a:t>(2) </a:t>
            </a:r>
            <a:r>
              <a:rPr lang="en-US" sz="3200">
                <a:solidFill>
                  <a:srgbClr val="FF0000"/>
                </a:solidFill>
              </a:rPr>
              <a:t>Milli grams Per Litre (mg/litre):</a:t>
            </a:r>
            <a:r>
              <a:rPr lang="en-US" sz="3200"/>
              <a:t> mg/L is the number of milligrams of CaCO</a:t>
            </a:r>
            <a:r>
              <a:rPr lang="en-US" sz="3200" baseline="-25000"/>
              <a:t>3</a:t>
            </a:r>
            <a:r>
              <a:rPr lang="en-US" sz="3200"/>
              <a:t> equivalent hardness present per litre of water.</a:t>
            </a:r>
          </a:p>
          <a:p>
            <a:pPr algn="just"/>
            <a:r>
              <a:rPr lang="en-US" sz="2800"/>
              <a:t>i.e., 1 mg/L = 1 mg of CaCO</a:t>
            </a:r>
            <a:r>
              <a:rPr lang="en-US" sz="2800" baseline="-25000"/>
              <a:t>3</a:t>
            </a:r>
            <a:r>
              <a:rPr lang="en-US" sz="2800"/>
              <a:t> equivalent hardness in 1L of water. </a:t>
            </a:r>
          </a:p>
          <a:p>
            <a:pPr algn="just"/>
            <a:r>
              <a:rPr lang="en-US" sz="2800"/>
              <a:t>But 1 L water weighs = 1 kg of water</a:t>
            </a:r>
          </a:p>
          <a:p>
            <a:pPr algn="just"/>
            <a:r>
              <a:rPr lang="en-US" sz="2800"/>
              <a:t>1 kg = 1000 </a:t>
            </a:r>
            <a:r>
              <a:rPr lang="en-US" sz="2800" err="1"/>
              <a:t>gms</a:t>
            </a:r>
            <a:r>
              <a:rPr lang="en-US" sz="2800"/>
              <a:t> = 1000 x 1000 mg = 10</a:t>
            </a:r>
            <a:r>
              <a:rPr lang="en-US" sz="2800" baseline="30000"/>
              <a:t>6</a:t>
            </a:r>
            <a:r>
              <a:rPr lang="en-US" sz="2800"/>
              <a:t> mg </a:t>
            </a:r>
          </a:p>
          <a:p>
            <a:pPr algn="just"/>
            <a:r>
              <a:rPr lang="en-US" sz="2800"/>
              <a:t>∴ 1 mg/L = 1mg of CaCO</a:t>
            </a:r>
            <a:r>
              <a:rPr lang="en-US" sz="2800" baseline="-25000"/>
              <a:t>3</a:t>
            </a:r>
            <a:r>
              <a:rPr lang="en-US" sz="2800"/>
              <a:t> equivalent per 10</a:t>
            </a:r>
            <a:r>
              <a:rPr lang="en-US" sz="2800" baseline="30000"/>
              <a:t>6 </a:t>
            </a:r>
            <a:r>
              <a:rPr lang="en-US" sz="2800"/>
              <a:t>mg of water </a:t>
            </a:r>
          </a:p>
          <a:p>
            <a:pPr algn="just"/>
            <a:r>
              <a:rPr lang="en-US" sz="2800"/>
              <a:t>= 1 part of CaCO</a:t>
            </a:r>
            <a:r>
              <a:rPr lang="en-US" sz="2800" baseline="-25000"/>
              <a:t>3</a:t>
            </a:r>
            <a:r>
              <a:rPr lang="en-US" sz="2800"/>
              <a:t> equivalent per 10</a:t>
            </a:r>
            <a:r>
              <a:rPr lang="en-US" sz="2800" baseline="30000"/>
              <a:t>6</a:t>
            </a:r>
            <a:r>
              <a:rPr lang="en-US" sz="2800"/>
              <a:t> parts of water </a:t>
            </a:r>
          </a:p>
          <a:p>
            <a:pPr algn="just"/>
            <a:r>
              <a:rPr lang="en-US" sz="3200">
                <a:solidFill>
                  <a:srgbClr val="FF0000"/>
                </a:solidFill>
              </a:rPr>
              <a:t>∴ 1 mg/L = 1 ppm</a:t>
            </a:r>
          </a:p>
        </p:txBody>
      </p:sp>
    </p:spTree>
    <p:extLst>
      <p:ext uri="{BB962C8B-B14F-4D97-AF65-F5344CB8AC3E}">
        <p14:creationId xmlns:p14="http://schemas.microsoft.com/office/powerpoint/2010/main" val="1882245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03872"/>
            <a:ext cx="8305800" cy="5016758"/>
          </a:xfrm>
          <a:prstGeom prst="rect">
            <a:avLst/>
          </a:prstGeom>
        </p:spPr>
        <p:txBody>
          <a:bodyPr wrap="square">
            <a:spAutoFit/>
          </a:bodyPr>
          <a:lstStyle/>
          <a:p>
            <a:pPr algn="just"/>
            <a:r>
              <a:rPr lang="en-US" sz="3200"/>
              <a:t>(3) </a:t>
            </a:r>
            <a:r>
              <a:rPr lang="en-US" sz="3200">
                <a:solidFill>
                  <a:srgbClr val="FF0000"/>
                </a:solidFill>
              </a:rPr>
              <a:t>Degree Of Clarke (</a:t>
            </a:r>
            <a:r>
              <a:rPr lang="en-US" sz="3200" baseline="30000" err="1">
                <a:solidFill>
                  <a:srgbClr val="FF0000"/>
                </a:solidFill>
              </a:rPr>
              <a:t>o</a:t>
            </a:r>
            <a:r>
              <a:rPr lang="en-US" sz="3200" err="1">
                <a:solidFill>
                  <a:srgbClr val="FF0000"/>
                </a:solidFill>
              </a:rPr>
              <a:t>Cl</a:t>
            </a:r>
            <a:r>
              <a:rPr lang="en-US" sz="3200">
                <a:solidFill>
                  <a:srgbClr val="FF0000"/>
                </a:solidFill>
              </a:rPr>
              <a:t>):</a:t>
            </a:r>
            <a:r>
              <a:rPr lang="en-US" sz="3200"/>
              <a:t> It is number of grains (1/7000 </a:t>
            </a:r>
            <a:r>
              <a:rPr lang="en-US" sz="3200" err="1"/>
              <a:t>lb</a:t>
            </a:r>
            <a:r>
              <a:rPr lang="en-US" sz="3200"/>
              <a:t>) of CaCO</a:t>
            </a:r>
            <a:r>
              <a:rPr lang="en-US" sz="3200" baseline="-25000"/>
              <a:t>3</a:t>
            </a:r>
            <a:r>
              <a:rPr lang="en-US" sz="3200"/>
              <a:t> equivalent hardness per gallon (10 </a:t>
            </a:r>
            <a:r>
              <a:rPr lang="en-US" sz="3200" err="1"/>
              <a:t>lb</a:t>
            </a:r>
            <a:r>
              <a:rPr lang="en-US" sz="3200"/>
              <a:t>) of water. </a:t>
            </a:r>
          </a:p>
          <a:p>
            <a:pPr algn="just"/>
            <a:r>
              <a:rPr lang="en-US" sz="3200"/>
              <a:t>(or) It is defined as the number of parts of CaCO</a:t>
            </a:r>
            <a:r>
              <a:rPr lang="en-US" sz="3200" baseline="-25000"/>
              <a:t>3</a:t>
            </a:r>
            <a:r>
              <a:rPr lang="en-US" sz="3200"/>
              <a:t> equivalent hardness per 70,000 parts of water. </a:t>
            </a:r>
          </a:p>
          <a:p>
            <a:pPr algn="just"/>
            <a:r>
              <a:rPr lang="en-US" sz="3200"/>
              <a:t>∴ 1 </a:t>
            </a:r>
            <a:r>
              <a:rPr lang="en-US" sz="3200" baseline="30000" err="1"/>
              <a:t>o</a:t>
            </a:r>
            <a:r>
              <a:rPr lang="en-US" sz="3200" err="1"/>
              <a:t>Cl</a:t>
            </a:r>
            <a:r>
              <a:rPr lang="en-US" sz="3200"/>
              <a:t> = 1 grain of CaCO</a:t>
            </a:r>
            <a:r>
              <a:rPr lang="en-US" sz="3200" baseline="-25000"/>
              <a:t>3</a:t>
            </a:r>
            <a:r>
              <a:rPr lang="en-US" sz="3200"/>
              <a:t> eq. hardness per gallon of water. </a:t>
            </a:r>
          </a:p>
          <a:p>
            <a:pPr algn="just"/>
            <a:r>
              <a:rPr lang="en-US" sz="3200"/>
              <a:t>(or) 1 </a:t>
            </a:r>
            <a:r>
              <a:rPr lang="en-US" sz="3200" baseline="30000" err="1"/>
              <a:t>o</a:t>
            </a:r>
            <a:r>
              <a:rPr lang="en-US" sz="3200" err="1"/>
              <a:t>Cl</a:t>
            </a:r>
            <a:r>
              <a:rPr lang="en-US" sz="3200"/>
              <a:t> = 1 part of CaCO</a:t>
            </a:r>
            <a:r>
              <a:rPr lang="en-US" sz="3200" baseline="-25000"/>
              <a:t>3</a:t>
            </a:r>
            <a:r>
              <a:rPr lang="en-US" sz="3200"/>
              <a:t> eq. hardness per 70,000 parts of water </a:t>
            </a:r>
          </a:p>
          <a:p>
            <a:pPr algn="just"/>
            <a:r>
              <a:rPr lang="en-US" sz="3200">
                <a:solidFill>
                  <a:srgbClr val="FF0000"/>
                </a:solidFill>
              </a:rPr>
              <a:t>∴ 1 ppm = 0.07 </a:t>
            </a:r>
            <a:r>
              <a:rPr lang="en-US" sz="3200" baseline="30000" err="1">
                <a:solidFill>
                  <a:srgbClr val="FF0000"/>
                </a:solidFill>
              </a:rPr>
              <a:t>o</a:t>
            </a:r>
            <a:r>
              <a:rPr lang="en-US" sz="3200" err="1">
                <a:solidFill>
                  <a:srgbClr val="FF0000"/>
                </a:solidFill>
              </a:rPr>
              <a:t>Cl</a:t>
            </a:r>
            <a:r>
              <a:rPr lang="en-US" sz="3200">
                <a:solidFill>
                  <a:srgbClr val="FF0000"/>
                </a:solidFill>
              </a:rPr>
              <a:t> </a:t>
            </a:r>
          </a:p>
        </p:txBody>
      </p:sp>
    </p:spTree>
    <p:extLst>
      <p:ext uri="{BB962C8B-B14F-4D97-AF65-F5344CB8AC3E}">
        <p14:creationId xmlns:p14="http://schemas.microsoft.com/office/powerpoint/2010/main" val="3213162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305800" cy="5693866"/>
          </a:xfrm>
          <a:prstGeom prst="rect">
            <a:avLst/>
          </a:prstGeom>
        </p:spPr>
        <p:txBody>
          <a:bodyPr wrap="square">
            <a:spAutoFit/>
          </a:bodyPr>
          <a:lstStyle/>
          <a:p>
            <a:pPr algn="just"/>
            <a:r>
              <a:rPr lang="en-US" sz="3200"/>
              <a:t>(4) </a:t>
            </a:r>
            <a:r>
              <a:rPr lang="en-US" sz="3200">
                <a:solidFill>
                  <a:srgbClr val="FF0000"/>
                </a:solidFill>
              </a:rPr>
              <a:t>Degree Of French (</a:t>
            </a:r>
            <a:r>
              <a:rPr lang="en-US" sz="3200" baseline="30000" err="1">
                <a:solidFill>
                  <a:srgbClr val="FF0000"/>
                </a:solidFill>
              </a:rPr>
              <a:t>o</a:t>
            </a:r>
            <a:r>
              <a:rPr lang="en-US" sz="3200" err="1">
                <a:solidFill>
                  <a:srgbClr val="FF0000"/>
                </a:solidFill>
              </a:rPr>
              <a:t>Fr</a:t>
            </a:r>
            <a:r>
              <a:rPr lang="en-US" sz="3200">
                <a:solidFill>
                  <a:srgbClr val="FF0000"/>
                </a:solidFill>
              </a:rPr>
              <a:t>):</a:t>
            </a:r>
            <a:r>
              <a:rPr lang="en-US" sz="3200"/>
              <a:t> It is the number of parts of CaCO</a:t>
            </a:r>
            <a:r>
              <a:rPr lang="en-US" sz="3200" baseline="-25000"/>
              <a:t>3</a:t>
            </a:r>
            <a:r>
              <a:rPr lang="en-US" sz="3200"/>
              <a:t> equivalent hardness per 10</a:t>
            </a:r>
            <a:r>
              <a:rPr lang="en-US" sz="3200" baseline="30000"/>
              <a:t>5</a:t>
            </a:r>
            <a:r>
              <a:rPr lang="en-US" sz="3200"/>
              <a:t> parts of water. </a:t>
            </a:r>
          </a:p>
          <a:p>
            <a:pPr algn="just"/>
            <a:r>
              <a:rPr lang="en-US" sz="3200"/>
              <a:t>1 </a:t>
            </a:r>
            <a:r>
              <a:rPr lang="en-US" sz="3200" baseline="30000" err="1"/>
              <a:t>o</a:t>
            </a:r>
            <a:r>
              <a:rPr lang="en-US" sz="3200" err="1"/>
              <a:t>Fr</a:t>
            </a:r>
            <a:r>
              <a:rPr lang="en-US" sz="3200"/>
              <a:t> = 1 part of CaCO</a:t>
            </a:r>
            <a:r>
              <a:rPr lang="en-US" sz="3200" baseline="-25000"/>
              <a:t>3</a:t>
            </a:r>
            <a:r>
              <a:rPr lang="en-US" sz="3200"/>
              <a:t> equivalent hardness per 10</a:t>
            </a:r>
            <a:r>
              <a:rPr lang="en-US" sz="3200" baseline="30000"/>
              <a:t>5</a:t>
            </a:r>
            <a:r>
              <a:rPr lang="en-US" sz="3200"/>
              <a:t> parts of water </a:t>
            </a:r>
          </a:p>
          <a:p>
            <a:pPr algn="just"/>
            <a:r>
              <a:rPr lang="en-US" sz="3200">
                <a:solidFill>
                  <a:srgbClr val="FF0000"/>
                </a:solidFill>
              </a:rPr>
              <a:t>∴ 0.1 </a:t>
            </a:r>
            <a:r>
              <a:rPr lang="en-US" sz="3200" baseline="30000" err="1">
                <a:solidFill>
                  <a:srgbClr val="FF0000"/>
                </a:solidFill>
              </a:rPr>
              <a:t>o</a:t>
            </a:r>
            <a:r>
              <a:rPr lang="en-US" sz="3200" err="1">
                <a:solidFill>
                  <a:srgbClr val="FF0000"/>
                </a:solidFill>
              </a:rPr>
              <a:t>Fr</a:t>
            </a:r>
            <a:r>
              <a:rPr lang="en-US" sz="3200">
                <a:solidFill>
                  <a:srgbClr val="FF0000"/>
                </a:solidFill>
              </a:rPr>
              <a:t> = 1 ppm</a:t>
            </a:r>
          </a:p>
          <a:p>
            <a:pPr algn="just"/>
            <a:endParaRPr lang="en-US" sz="1200">
              <a:solidFill>
                <a:srgbClr val="FF0000"/>
              </a:solidFill>
            </a:endParaRPr>
          </a:p>
          <a:p>
            <a:pPr algn="just"/>
            <a:r>
              <a:rPr lang="en-US" sz="3200" u="sng"/>
              <a:t>Note:</a:t>
            </a:r>
            <a:r>
              <a:rPr lang="en-US" sz="3200"/>
              <a:t> The hardness of water can be converted into all the four units by making use of the following </a:t>
            </a:r>
            <a:r>
              <a:rPr lang="en-US" sz="3200" err="1"/>
              <a:t>interconversion</a:t>
            </a:r>
            <a:r>
              <a:rPr lang="en-US" sz="3200"/>
              <a:t> formula-</a:t>
            </a:r>
          </a:p>
          <a:p>
            <a:pPr algn="just"/>
            <a:r>
              <a:rPr lang="en-US" sz="3200">
                <a:solidFill>
                  <a:srgbClr val="FF0000"/>
                </a:solidFill>
              </a:rPr>
              <a:t>1 ppm = 1mg/L = 0.07</a:t>
            </a:r>
            <a:r>
              <a:rPr lang="en-US" sz="3200" baseline="30000">
                <a:solidFill>
                  <a:srgbClr val="FF0000"/>
                </a:solidFill>
              </a:rPr>
              <a:t>o</a:t>
            </a:r>
            <a:r>
              <a:rPr lang="en-US" sz="3200">
                <a:solidFill>
                  <a:srgbClr val="FF0000"/>
                </a:solidFill>
              </a:rPr>
              <a:t>Cl = 0.1</a:t>
            </a:r>
            <a:r>
              <a:rPr lang="en-US" sz="3200" baseline="30000">
                <a:solidFill>
                  <a:srgbClr val="FF0000"/>
                </a:solidFill>
              </a:rPr>
              <a:t>o</a:t>
            </a:r>
            <a:r>
              <a:rPr lang="en-US" sz="3200">
                <a:solidFill>
                  <a:srgbClr val="FF0000"/>
                </a:solidFill>
              </a:rPr>
              <a:t>Fr</a:t>
            </a:r>
          </a:p>
          <a:p>
            <a:pPr algn="just"/>
            <a:r>
              <a:rPr lang="en-US" sz="3200">
                <a:solidFill>
                  <a:srgbClr val="FF0000"/>
                </a:solidFill>
              </a:rPr>
              <a:t>1 </a:t>
            </a:r>
            <a:r>
              <a:rPr lang="en-US" sz="3200" baseline="30000" err="1">
                <a:solidFill>
                  <a:srgbClr val="FF0000"/>
                </a:solidFill>
              </a:rPr>
              <a:t>o</a:t>
            </a:r>
            <a:r>
              <a:rPr lang="en-US" sz="3200" err="1">
                <a:solidFill>
                  <a:srgbClr val="FF0000"/>
                </a:solidFill>
              </a:rPr>
              <a:t>Cl</a:t>
            </a:r>
            <a:r>
              <a:rPr lang="en-US" sz="3200">
                <a:solidFill>
                  <a:srgbClr val="FF0000"/>
                </a:solidFill>
              </a:rPr>
              <a:t> = 1.43</a:t>
            </a:r>
            <a:r>
              <a:rPr lang="en-US" sz="3200" baseline="30000">
                <a:solidFill>
                  <a:srgbClr val="FF0000"/>
                </a:solidFill>
              </a:rPr>
              <a:t>o</a:t>
            </a:r>
            <a:r>
              <a:rPr lang="en-US" sz="3200">
                <a:solidFill>
                  <a:srgbClr val="FF0000"/>
                </a:solidFill>
              </a:rPr>
              <a:t>Fr = 14.3 ppm = 14.3 mg/L </a:t>
            </a:r>
          </a:p>
        </p:txBody>
      </p:sp>
    </p:spTree>
    <p:extLst>
      <p:ext uri="{BB962C8B-B14F-4D97-AF65-F5344CB8AC3E}">
        <p14:creationId xmlns:p14="http://schemas.microsoft.com/office/powerpoint/2010/main" val="1329589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457200"/>
            <a:ext cx="8686800" cy="5509200"/>
          </a:xfrm>
          <a:prstGeom prst="rect">
            <a:avLst/>
          </a:prstGeom>
          <a:noFill/>
        </p:spPr>
        <p:txBody>
          <a:bodyPr wrap="square" rtlCol="0">
            <a:spAutoFit/>
          </a:bodyPr>
          <a:lstStyle/>
          <a:p>
            <a:r>
              <a:rPr lang="en-US" sz="3200"/>
              <a:t>(5) </a:t>
            </a:r>
            <a:r>
              <a:rPr lang="en-US" sz="3200" err="1">
                <a:solidFill>
                  <a:srgbClr val="FF0000"/>
                </a:solidFill>
              </a:rPr>
              <a:t>Milliequivalent</a:t>
            </a:r>
            <a:r>
              <a:rPr lang="en-US" sz="3200">
                <a:solidFill>
                  <a:srgbClr val="FF0000"/>
                </a:solidFill>
              </a:rPr>
              <a:t> per Litre (</a:t>
            </a:r>
            <a:r>
              <a:rPr lang="en-US" sz="3200" err="1">
                <a:solidFill>
                  <a:srgbClr val="FF0000"/>
                </a:solidFill>
              </a:rPr>
              <a:t>meq</a:t>
            </a:r>
            <a:r>
              <a:rPr lang="en-US" sz="3200">
                <a:solidFill>
                  <a:srgbClr val="FF0000"/>
                </a:solidFill>
              </a:rPr>
              <a:t>/L):</a:t>
            </a:r>
            <a:r>
              <a:rPr lang="en-US" sz="3200"/>
              <a:t> It is the number of </a:t>
            </a:r>
            <a:r>
              <a:rPr lang="en-US" sz="3200" err="1"/>
              <a:t>milliequivalent</a:t>
            </a:r>
            <a:r>
              <a:rPr lang="en-US" sz="3200"/>
              <a:t> of hardness present per litre of water.</a:t>
            </a:r>
          </a:p>
          <a:p>
            <a:r>
              <a:rPr lang="en-US" sz="3200"/>
              <a:t>1 </a:t>
            </a:r>
            <a:r>
              <a:rPr lang="en-US" sz="3200" err="1"/>
              <a:t>meq</a:t>
            </a:r>
            <a:r>
              <a:rPr lang="en-US" sz="3200"/>
              <a:t>/L= 1 </a:t>
            </a:r>
            <a:r>
              <a:rPr lang="en-US" sz="3200" err="1"/>
              <a:t>meq</a:t>
            </a:r>
            <a:r>
              <a:rPr lang="en-US" sz="3200"/>
              <a:t> of CaCO</a:t>
            </a:r>
            <a:r>
              <a:rPr lang="en-US" sz="3200" baseline="-25000"/>
              <a:t>3</a:t>
            </a:r>
            <a:r>
              <a:rPr lang="en-US" sz="3200"/>
              <a:t> per litre of water</a:t>
            </a:r>
          </a:p>
          <a:p>
            <a:r>
              <a:rPr lang="en-US" sz="3200"/>
              <a:t>           = 10</a:t>
            </a:r>
            <a:r>
              <a:rPr lang="en-US" sz="3200" baseline="30000"/>
              <a:t>-3</a:t>
            </a:r>
            <a:r>
              <a:rPr lang="en-US" sz="3200"/>
              <a:t> x 50 g of CaCO</a:t>
            </a:r>
            <a:r>
              <a:rPr lang="en-US" sz="3200" baseline="-25000"/>
              <a:t>3</a:t>
            </a:r>
            <a:r>
              <a:rPr lang="en-US" sz="3200"/>
              <a:t> eq. of hardness per litre of water</a:t>
            </a:r>
          </a:p>
          <a:p>
            <a:r>
              <a:rPr lang="en-US" sz="3200"/>
              <a:t>          = 50 mg of CaCO</a:t>
            </a:r>
            <a:r>
              <a:rPr lang="en-US" sz="3200" baseline="-25000"/>
              <a:t>3</a:t>
            </a:r>
            <a:r>
              <a:rPr lang="en-US" sz="3200"/>
              <a:t> eq. of hardness per litre of water</a:t>
            </a:r>
          </a:p>
          <a:p>
            <a:r>
              <a:rPr lang="en-US" sz="3200"/>
              <a:t>          = 50 mg/L of CaCO</a:t>
            </a:r>
            <a:r>
              <a:rPr lang="en-US" sz="3200" baseline="-25000"/>
              <a:t>3</a:t>
            </a:r>
            <a:r>
              <a:rPr lang="en-US" sz="3200"/>
              <a:t> eq.</a:t>
            </a:r>
          </a:p>
          <a:p>
            <a:r>
              <a:rPr lang="en-US" sz="3200"/>
              <a:t>          = 50 ppm</a:t>
            </a:r>
          </a:p>
          <a:p>
            <a:r>
              <a:rPr lang="en-US" sz="3200">
                <a:solidFill>
                  <a:srgbClr val="FF0000"/>
                </a:solidFill>
                <a:sym typeface="Symbol"/>
              </a:rPr>
              <a:t>1 </a:t>
            </a:r>
            <a:r>
              <a:rPr lang="en-US" sz="3200" err="1">
                <a:solidFill>
                  <a:srgbClr val="FF0000"/>
                </a:solidFill>
                <a:sym typeface="Symbol"/>
              </a:rPr>
              <a:t>meq</a:t>
            </a:r>
            <a:r>
              <a:rPr lang="en-US" sz="3200">
                <a:solidFill>
                  <a:srgbClr val="FF0000"/>
                </a:solidFill>
                <a:sym typeface="Symbol"/>
              </a:rPr>
              <a:t>/L= 50 ppm</a:t>
            </a:r>
            <a:endParaRPr lang="en-US" sz="3200">
              <a:solidFill>
                <a:srgbClr val="FF0000"/>
              </a:solidFill>
            </a:endParaRPr>
          </a:p>
        </p:txBody>
      </p:sp>
    </p:spTree>
    <p:extLst>
      <p:ext uri="{BB962C8B-B14F-4D97-AF65-F5344CB8AC3E}">
        <p14:creationId xmlns:p14="http://schemas.microsoft.com/office/powerpoint/2010/main" val="2083855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19546" y="450273"/>
            <a:ext cx="8305800" cy="6124754"/>
          </a:xfrm>
          <a:prstGeom prst="rect">
            <a:avLst/>
          </a:prstGeom>
        </p:spPr>
        <p:txBody>
          <a:bodyPr wrap="square">
            <a:spAutoFit/>
          </a:bodyPr>
          <a:lstStyle/>
          <a:p>
            <a:pPr algn="just"/>
            <a:r>
              <a:rPr lang="en-US" sz="2800" b="1" dirty="0"/>
              <a:t>PROBLEM: </a:t>
            </a:r>
          </a:p>
          <a:p>
            <a:pPr marL="514350" indent="-514350" algn="just">
              <a:buAutoNum type="arabicParenBoth"/>
            </a:pPr>
            <a:r>
              <a:rPr lang="en-US" sz="2800" dirty="0"/>
              <a:t>A sample of water gives an analysis 13.6 mg/L of CaSO</a:t>
            </a:r>
            <a:r>
              <a:rPr lang="en-US" sz="2800" baseline="-25000" dirty="0"/>
              <a:t>4</a:t>
            </a:r>
            <a:r>
              <a:rPr lang="en-US" sz="2800" dirty="0"/>
              <a:t> </a:t>
            </a:r>
            <a:r>
              <a:rPr lang="en-US" sz="2800" dirty="0" smtClean="0"/>
              <a:t>, </a:t>
            </a:r>
            <a:r>
              <a:rPr lang="en-US" sz="2800" dirty="0"/>
              <a:t>7.3 mg/L of Mg(HCO</a:t>
            </a:r>
            <a:r>
              <a:rPr lang="en-US" sz="2800" baseline="-25000" dirty="0"/>
              <a:t>3</a:t>
            </a:r>
            <a:r>
              <a:rPr lang="en-US" sz="2800" dirty="0"/>
              <a:t>)</a:t>
            </a:r>
            <a:r>
              <a:rPr lang="en-US" sz="2800" baseline="-25000" dirty="0"/>
              <a:t>2</a:t>
            </a:r>
            <a:r>
              <a:rPr lang="en-US" sz="2800" dirty="0"/>
              <a:t> . Calculate the total hardness and permanent hardness. </a:t>
            </a:r>
          </a:p>
          <a:p>
            <a:pPr algn="just"/>
            <a:r>
              <a:rPr lang="en-US" sz="2800" dirty="0"/>
              <a:t>Sol:</a:t>
            </a:r>
          </a:p>
          <a:p>
            <a:pPr algn="just"/>
            <a:endParaRPr lang="en-US" sz="2800" dirty="0"/>
          </a:p>
          <a:p>
            <a:pPr algn="just"/>
            <a:r>
              <a:rPr lang="en-US" sz="2800" dirty="0"/>
              <a:t> </a:t>
            </a:r>
          </a:p>
          <a:p>
            <a:pPr algn="just"/>
            <a:endParaRPr lang="en-US" sz="2800" dirty="0"/>
          </a:p>
          <a:p>
            <a:pPr algn="just"/>
            <a:endParaRPr lang="en-US" sz="2800" dirty="0"/>
          </a:p>
          <a:p>
            <a:pPr algn="just"/>
            <a:endParaRPr lang="en-US" sz="2800" dirty="0"/>
          </a:p>
          <a:p>
            <a:pPr algn="just"/>
            <a:r>
              <a:rPr lang="en-US" sz="2800" dirty="0"/>
              <a:t>Total hardness= Temporary hardness + Permanent Hardness = 5 + 10 = 15 mg/L = 15 ppm</a:t>
            </a:r>
          </a:p>
          <a:p>
            <a:pPr algn="just"/>
            <a:r>
              <a:rPr lang="en-US" sz="2800" dirty="0"/>
              <a:t>Permanent hardness = 10 ppm </a:t>
            </a:r>
          </a:p>
          <a:p>
            <a:pPr algn="just"/>
            <a:r>
              <a:rPr lang="en-US" sz="2800" dirty="0"/>
              <a:t>Temporary hardness= 5 ppm</a:t>
            </a:r>
          </a:p>
        </p:txBody>
      </p:sp>
      <p:graphicFrame>
        <p:nvGraphicFramePr>
          <p:cNvPr id="5" name="Table 4"/>
          <p:cNvGraphicFramePr>
            <a:graphicFrameLocks noGrp="1"/>
          </p:cNvGraphicFramePr>
          <p:nvPr>
            <p:extLst>
              <p:ext uri="{D42A27DB-BD31-4B8C-83A1-F6EECF244321}">
                <p14:modId xmlns:p14="http://schemas.microsoft.com/office/powerpoint/2010/main" val="3752056836"/>
              </p:ext>
            </p:extLst>
          </p:nvPr>
        </p:nvGraphicFramePr>
        <p:xfrm>
          <a:off x="1447801" y="2286000"/>
          <a:ext cx="7010398" cy="2194560"/>
        </p:xfrm>
        <a:graphic>
          <a:graphicData uri="http://schemas.openxmlformats.org/drawingml/2006/table">
            <a:tbl>
              <a:tblPr firstRow="1" bandRow="1">
                <a:tableStyleId>{5C22544A-7EE6-4342-B048-85BDC9FD1C3A}</a:tableStyleId>
              </a:tblPr>
              <a:tblGrid>
                <a:gridCol w="1216795">
                  <a:extLst>
                    <a:ext uri="{9D8B030D-6E8A-4147-A177-3AD203B41FA5}">
                      <a16:colId xmlns:a16="http://schemas.microsoft.com/office/drawing/2014/main" xmlns="" val="20000"/>
                    </a:ext>
                  </a:extLst>
                </a:gridCol>
                <a:gridCol w="1069204">
                  <a:extLst>
                    <a:ext uri="{9D8B030D-6E8A-4147-A177-3AD203B41FA5}">
                      <a16:colId xmlns:a16="http://schemas.microsoft.com/office/drawing/2014/main" xmlns="" val="20001"/>
                    </a:ext>
                  </a:extLst>
                </a:gridCol>
                <a:gridCol w="762000">
                  <a:extLst>
                    <a:ext uri="{9D8B030D-6E8A-4147-A177-3AD203B41FA5}">
                      <a16:colId xmlns:a16="http://schemas.microsoft.com/office/drawing/2014/main" xmlns="" val="20002"/>
                    </a:ext>
                  </a:extLst>
                </a:gridCol>
                <a:gridCol w="1524000">
                  <a:extLst>
                    <a:ext uri="{9D8B030D-6E8A-4147-A177-3AD203B41FA5}">
                      <a16:colId xmlns:a16="http://schemas.microsoft.com/office/drawing/2014/main" xmlns="" val="20003"/>
                    </a:ext>
                  </a:extLst>
                </a:gridCol>
                <a:gridCol w="1221604">
                  <a:extLst>
                    <a:ext uri="{9D8B030D-6E8A-4147-A177-3AD203B41FA5}">
                      <a16:colId xmlns:a16="http://schemas.microsoft.com/office/drawing/2014/main" xmlns="" val="20004"/>
                    </a:ext>
                  </a:extLst>
                </a:gridCol>
                <a:gridCol w="1216795">
                  <a:extLst>
                    <a:ext uri="{9D8B030D-6E8A-4147-A177-3AD203B41FA5}">
                      <a16:colId xmlns:a16="http://schemas.microsoft.com/office/drawing/2014/main" xmlns="" val="20005"/>
                    </a:ext>
                  </a:extLst>
                </a:gridCol>
              </a:tblGrid>
              <a:tr h="370840">
                <a:tc>
                  <a:txBody>
                    <a:bodyPr/>
                    <a:lstStyle/>
                    <a:p>
                      <a:r>
                        <a:rPr lang="en-US" dirty="0"/>
                        <a:t>Salt</a:t>
                      </a:r>
                    </a:p>
                  </a:txBody>
                  <a:tcPr/>
                </a:tc>
                <a:tc>
                  <a:txBody>
                    <a:bodyPr/>
                    <a:lstStyle/>
                    <a:p>
                      <a:r>
                        <a:rPr lang="en-US"/>
                        <a:t>Quantity (mg/L)</a:t>
                      </a:r>
                    </a:p>
                  </a:txBody>
                  <a:tcPr/>
                </a:tc>
                <a:tc>
                  <a:txBody>
                    <a:bodyPr/>
                    <a:lstStyle/>
                    <a:p>
                      <a:r>
                        <a:rPr lang="en-US"/>
                        <a:t>M. Wt.</a:t>
                      </a:r>
                    </a:p>
                  </a:txBody>
                  <a:tcPr/>
                </a:tc>
                <a:tc>
                  <a:txBody>
                    <a:bodyPr/>
                    <a:lstStyle/>
                    <a:p>
                      <a:r>
                        <a:rPr lang="en-US" dirty="0"/>
                        <a:t>Multiplication Factor</a:t>
                      </a:r>
                    </a:p>
                  </a:txBody>
                  <a:tcPr/>
                </a:tc>
                <a:tc>
                  <a:txBody>
                    <a:bodyPr/>
                    <a:lstStyle/>
                    <a:p>
                      <a:r>
                        <a:rPr lang="en-US"/>
                        <a:t>Eq. of CaCO</a:t>
                      </a:r>
                      <a:r>
                        <a:rPr lang="en-US" baseline="-25000"/>
                        <a:t>3</a:t>
                      </a:r>
                    </a:p>
                  </a:txBody>
                  <a:tcPr/>
                </a:tc>
                <a:tc>
                  <a:txBody>
                    <a:bodyPr/>
                    <a:lstStyle/>
                    <a:p>
                      <a:r>
                        <a:rPr lang="en-US"/>
                        <a:t>Hardness</a:t>
                      </a:r>
                    </a:p>
                  </a:txBody>
                  <a:tcPr/>
                </a:tc>
                <a:extLst>
                  <a:ext uri="{0D108BD9-81ED-4DB2-BD59-A6C34878D82A}">
                    <a16:rowId xmlns:a16="http://schemas.microsoft.com/office/drawing/2014/main" xmlns="" val="10000"/>
                  </a:ext>
                </a:extLst>
              </a:tr>
              <a:tr h="370840">
                <a:tc>
                  <a:txBody>
                    <a:bodyPr/>
                    <a:lstStyle/>
                    <a:p>
                      <a:r>
                        <a:rPr lang="en-US" sz="1800"/>
                        <a:t> CaSO</a:t>
                      </a:r>
                      <a:r>
                        <a:rPr lang="en-US" sz="1800" baseline="-25000"/>
                        <a:t>4</a:t>
                      </a:r>
                      <a:r>
                        <a:rPr lang="en-US" sz="1800"/>
                        <a:t> </a:t>
                      </a:r>
                      <a:endParaRPr lang="en-US"/>
                    </a:p>
                  </a:txBody>
                  <a:tcPr/>
                </a:tc>
                <a:tc>
                  <a:txBody>
                    <a:bodyPr/>
                    <a:lstStyle/>
                    <a:p>
                      <a:r>
                        <a:rPr lang="en-US"/>
                        <a:t>13.6</a:t>
                      </a:r>
                    </a:p>
                  </a:txBody>
                  <a:tcPr/>
                </a:tc>
                <a:tc>
                  <a:txBody>
                    <a:bodyPr/>
                    <a:lstStyle/>
                    <a:p>
                      <a:r>
                        <a:rPr lang="en-US"/>
                        <a:t>136</a:t>
                      </a:r>
                    </a:p>
                  </a:txBody>
                  <a:tcPr/>
                </a:tc>
                <a:tc>
                  <a:txBody>
                    <a:bodyPr/>
                    <a:lstStyle/>
                    <a:p>
                      <a:r>
                        <a:rPr lang="en-US" dirty="0"/>
                        <a:t>100/ 136</a:t>
                      </a:r>
                    </a:p>
                  </a:txBody>
                  <a:tcPr/>
                </a:tc>
                <a:tc>
                  <a:txBody>
                    <a:bodyPr/>
                    <a:lstStyle/>
                    <a:p>
                      <a:r>
                        <a:rPr lang="en-US"/>
                        <a:t>13.6 x (100/ 136)= 10</a:t>
                      </a:r>
                    </a:p>
                  </a:txBody>
                  <a:tcPr/>
                </a:tc>
                <a:tc>
                  <a:txBody>
                    <a:bodyPr/>
                    <a:lstStyle/>
                    <a:p>
                      <a:r>
                        <a:rPr lang="en-US"/>
                        <a:t>P</a:t>
                      </a:r>
                    </a:p>
                  </a:txBody>
                  <a:tcPr/>
                </a:tc>
                <a:extLst>
                  <a:ext uri="{0D108BD9-81ED-4DB2-BD59-A6C34878D82A}">
                    <a16:rowId xmlns:a16="http://schemas.microsoft.com/office/drawing/2014/main" xmlns="" val="10001"/>
                  </a:ext>
                </a:extLst>
              </a:tr>
              <a:tr h="370840">
                <a:tc>
                  <a:txBody>
                    <a:bodyPr/>
                    <a:lstStyle/>
                    <a:p>
                      <a:r>
                        <a:rPr lang="en-US" sz="1800"/>
                        <a:t>Mg(HCO</a:t>
                      </a:r>
                      <a:r>
                        <a:rPr lang="en-US" sz="1800" baseline="-25000"/>
                        <a:t>3</a:t>
                      </a:r>
                      <a:r>
                        <a:rPr lang="en-US" sz="1800"/>
                        <a:t>)</a:t>
                      </a:r>
                      <a:r>
                        <a:rPr lang="en-US" sz="1800" baseline="-25000"/>
                        <a:t>2</a:t>
                      </a:r>
                      <a:endParaRPr lang="en-US"/>
                    </a:p>
                  </a:txBody>
                  <a:tcPr/>
                </a:tc>
                <a:tc>
                  <a:txBody>
                    <a:bodyPr/>
                    <a:lstStyle/>
                    <a:p>
                      <a:r>
                        <a:rPr lang="en-US"/>
                        <a:t>7.3</a:t>
                      </a:r>
                    </a:p>
                  </a:txBody>
                  <a:tcPr/>
                </a:tc>
                <a:tc>
                  <a:txBody>
                    <a:bodyPr/>
                    <a:lstStyle/>
                    <a:p>
                      <a:r>
                        <a:rPr lang="en-US" dirty="0"/>
                        <a:t>146</a:t>
                      </a:r>
                    </a:p>
                  </a:txBody>
                  <a:tcPr/>
                </a:tc>
                <a:tc>
                  <a:txBody>
                    <a:bodyPr/>
                    <a:lstStyle/>
                    <a:p>
                      <a:r>
                        <a:rPr lang="en-US"/>
                        <a:t>100/ 146</a:t>
                      </a:r>
                    </a:p>
                  </a:txBody>
                  <a:tcPr/>
                </a:tc>
                <a:tc>
                  <a:txBody>
                    <a:bodyPr/>
                    <a:lstStyle/>
                    <a:p>
                      <a:r>
                        <a:rPr lang="en-US"/>
                        <a:t>7.3 x (100/ 146)= 5</a:t>
                      </a:r>
                    </a:p>
                  </a:txBody>
                  <a:tcPr/>
                </a:tc>
                <a:tc>
                  <a:txBody>
                    <a:bodyPr/>
                    <a:lstStyle/>
                    <a:p>
                      <a:r>
                        <a:rPr lang="en-US" dirty="0"/>
                        <a:t>T</a:t>
                      </a:r>
                    </a:p>
                  </a:txBody>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4280937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382000" cy="5509200"/>
          </a:xfrm>
          <a:prstGeom prst="rect">
            <a:avLst/>
          </a:prstGeom>
        </p:spPr>
        <p:txBody>
          <a:bodyPr wrap="square" lIns="91440" tIns="45720" rIns="91440" bIns="45720" anchor="t">
            <a:spAutoFit/>
          </a:bodyPr>
          <a:lstStyle/>
          <a:p>
            <a:pPr algn="just"/>
            <a:r>
              <a:rPr lang="en-US" sz="3200" b="1"/>
              <a:t>DETERMINATION OF HARDNESS OF WATER BY EDTA METHOD:- </a:t>
            </a:r>
          </a:p>
          <a:p>
            <a:pPr marL="514350" indent="-514350" algn="just">
              <a:buAutoNum type="arabicPeriod"/>
            </a:pPr>
            <a:r>
              <a:rPr lang="en-US" sz="3200"/>
              <a:t>This is a </a:t>
            </a:r>
            <a:r>
              <a:rPr lang="en-US" sz="3200" err="1"/>
              <a:t>Complexometric</a:t>
            </a:r>
            <a:r>
              <a:rPr lang="en-US" sz="3200"/>
              <a:t> titration method where Ethylenediamine tetraacetic acid (EDTA) is used.</a:t>
            </a:r>
          </a:p>
          <a:p>
            <a:pPr marL="514350" indent="-514350" algn="just">
              <a:buAutoNum type="arabicPeriod"/>
            </a:pPr>
            <a:r>
              <a:rPr lang="en-US" sz="3200"/>
              <a:t>EDTA forms complexes with different metal ions at different </a:t>
            </a:r>
            <a:r>
              <a:rPr lang="en-US" sz="3200" err="1"/>
              <a:t>pH.</a:t>
            </a:r>
            <a:r>
              <a:rPr lang="en-US" sz="3200"/>
              <a:t> </a:t>
            </a:r>
            <a:endParaRPr lang="en-US" sz="3200">
              <a:cs typeface="Calibri"/>
            </a:endParaRPr>
          </a:p>
          <a:p>
            <a:pPr marL="514350" indent="-514350" algn="just">
              <a:buAutoNum type="arabicPeriod"/>
            </a:pPr>
            <a:r>
              <a:rPr lang="en-US" sz="3200"/>
              <a:t>Calcium &amp; Magnesium ions form complexes with EDTA at pH 9- 10. </a:t>
            </a:r>
          </a:p>
          <a:p>
            <a:pPr algn="just"/>
            <a:r>
              <a:rPr lang="en-US" sz="3200"/>
              <a:t>     To maintain the pH 9- 10 NH</a:t>
            </a:r>
            <a:r>
              <a:rPr lang="en-US" sz="3200" baseline="-25000"/>
              <a:t>4</a:t>
            </a:r>
            <a:r>
              <a:rPr lang="en-US" sz="3200"/>
              <a:t>Cl, NH</a:t>
            </a:r>
            <a:r>
              <a:rPr lang="en-US" sz="3200" baseline="-25000"/>
              <a:t>4</a:t>
            </a:r>
            <a:r>
              <a:rPr lang="en-US" sz="3200"/>
              <a:t>OH buffer   solution is used. </a:t>
            </a:r>
          </a:p>
        </p:txBody>
      </p:sp>
    </p:spTree>
    <p:extLst>
      <p:ext uri="{BB962C8B-B14F-4D97-AF65-F5344CB8AC3E}">
        <p14:creationId xmlns:p14="http://schemas.microsoft.com/office/powerpoint/2010/main" val="3398867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496669"/>
            <a:ext cx="8229600" cy="2062103"/>
          </a:xfrm>
          <a:prstGeom prst="rect">
            <a:avLst/>
          </a:prstGeom>
        </p:spPr>
        <p:txBody>
          <a:bodyPr wrap="square">
            <a:spAutoFit/>
          </a:bodyPr>
          <a:lstStyle/>
          <a:p>
            <a:pPr algn="just"/>
            <a:r>
              <a:rPr lang="en-US" sz="3200"/>
              <a:t>4. The disodium salt of EDTA is used for </a:t>
            </a:r>
            <a:r>
              <a:rPr lang="en-US" sz="3200" err="1"/>
              <a:t>complexation</a:t>
            </a:r>
            <a:r>
              <a:rPr lang="en-US" sz="3200"/>
              <a:t>.</a:t>
            </a:r>
          </a:p>
          <a:p>
            <a:pPr algn="just"/>
            <a:r>
              <a:rPr lang="en-US" sz="3200"/>
              <a:t>5. An alcoholic solution of </a:t>
            </a:r>
            <a:r>
              <a:rPr lang="en-US" sz="3200" err="1"/>
              <a:t>Eriochrome</a:t>
            </a:r>
            <a:r>
              <a:rPr lang="en-US" sz="3200"/>
              <a:t> Black-T (EBT) is used as an indicator.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14600"/>
            <a:ext cx="2914717" cy="1119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057400" y="3581400"/>
            <a:ext cx="664221" cy="369332"/>
          </a:xfrm>
          <a:prstGeom prst="rect">
            <a:avLst/>
          </a:prstGeom>
          <a:noFill/>
        </p:spPr>
        <p:txBody>
          <a:bodyPr wrap="none" rtlCol="0">
            <a:spAutoFit/>
          </a:bodyPr>
          <a:lstStyle/>
          <a:p>
            <a:r>
              <a:rPr lang="en-US"/>
              <a:t>EDTA</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2652580"/>
            <a:ext cx="3381375" cy="1005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5804938" y="3733800"/>
            <a:ext cx="1967462" cy="369332"/>
          </a:xfrm>
          <a:prstGeom prst="rect">
            <a:avLst/>
          </a:prstGeom>
          <a:noFill/>
        </p:spPr>
        <p:txBody>
          <a:bodyPr wrap="none" rtlCol="0">
            <a:spAutoFit/>
          </a:bodyPr>
          <a:lstStyle/>
          <a:p>
            <a:r>
              <a:rPr lang="en-US"/>
              <a:t>EDTA disodium salt</a:t>
            </a:r>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2176" y="3706066"/>
            <a:ext cx="1800225"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5114251" y="5726668"/>
            <a:ext cx="2124749" cy="369332"/>
          </a:xfrm>
          <a:prstGeom prst="rect">
            <a:avLst/>
          </a:prstGeom>
          <a:noFill/>
        </p:spPr>
        <p:txBody>
          <a:bodyPr wrap="none" rtlCol="0">
            <a:spAutoFit/>
          </a:bodyPr>
          <a:lstStyle/>
          <a:p>
            <a:r>
              <a:rPr lang="en-US"/>
              <a:t>Metal-EDTA complex</a:t>
            </a:r>
          </a:p>
        </p:txBody>
      </p:sp>
    </p:spTree>
    <p:extLst>
      <p:ext uri="{BB962C8B-B14F-4D97-AF65-F5344CB8AC3E}">
        <p14:creationId xmlns:p14="http://schemas.microsoft.com/office/powerpoint/2010/main" val="2259064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524470"/>
            <a:ext cx="8077200" cy="3046988"/>
          </a:xfrm>
          <a:prstGeom prst="rect">
            <a:avLst/>
          </a:prstGeom>
        </p:spPr>
        <p:txBody>
          <a:bodyPr wrap="square" lIns="91440" tIns="45720" rIns="91440" bIns="45720" anchor="t">
            <a:spAutoFit/>
          </a:bodyPr>
          <a:lstStyle/>
          <a:p>
            <a:pPr algn="just"/>
            <a:r>
              <a:rPr lang="en-US" sz="3200">
                <a:solidFill>
                  <a:srgbClr val="FF0000"/>
                </a:solidFill>
              </a:rPr>
              <a:t>BASIC PRINCIPLE: </a:t>
            </a:r>
          </a:p>
          <a:p>
            <a:pPr algn="just"/>
            <a:r>
              <a:rPr lang="en-US" sz="3200"/>
              <a:t>When hard water comes in contact with EDTA, at pH 9- 10, the Ca</a:t>
            </a:r>
            <a:r>
              <a:rPr lang="en-US" sz="3200" baseline="30000"/>
              <a:t>+2</a:t>
            </a:r>
            <a:r>
              <a:rPr lang="en-US" sz="3200"/>
              <a:t> &amp; Mg</a:t>
            </a:r>
            <a:r>
              <a:rPr lang="en-US" sz="3200" baseline="30000"/>
              <a:t>+2</a:t>
            </a:r>
            <a:r>
              <a:rPr lang="en-US" sz="3200"/>
              <a:t> forms stable, </a:t>
            </a:r>
            <a:r>
              <a:rPr lang="en-US" sz="3200" err="1"/>
              <a:t>colourless</a:t>
            </a:r>
            <a:r>
              <a:rPr lang="en-US" sz="3200"/>
              <a:t> complex with EDTA. </a:t>
            </a:r>
          </a:p>
          <a:p>
            <a:pPr algn="just"/>
            <a:r>
              <a:rPr lang="en-US" sz="3200"/>
              <a:t>Ca</a:t>
            </a:r>
            <a:r>
              <a:rPr lang="en-US" sz="3200" baseline="30000"/>
              <a:t>+2</a:t>
            </a:r>
            <a:r>
              <a:rPr lang="en-US" sz="3200"/>
              <a:t> + EDTA + pH 9-10 </a:t>
            </a:r>
            <a:r>
              <a:rPr lang="en-US" sz="3200">
                <a:sym typeface="Wingdings" pitchFamily="2" charset="2"/>
              </a:rPr>
              <a:t></a:t>
            </a:r>
            <a:r>
              <a:rPr lang="en-US" sz="3200"/>
              <a:t> Ca-EDTA</a:t>
            </a:r>
          </a:p>
          <a:p>
            <a:pPr algn="just"/>
            <a:r>
              <a:rPr lang="en-US" sz="3200"/>
              <a:t>Mg</a:t>
            </a:r>
            <a:r>
              <a:rPr lang="en-US" sz="3200" baseline="30000"/>
              <a:t>+2</a:t>
            </a:r>
            <a:r>
              <a:rPr lang="en-US" sz="3200"/>
              <a:t> + EDTA + pH 9-10 </a:t>
            </a:r>
            <a:r>
              <a:rPr lang="en-US" sz="3200">
                <a:sym typeface="Wingdings" pitchFamily="2" charset="2"/>
              </a:rPr>
              <a:t></a:t>
            </a:r>
            <a:r>
              <a:rPr lang="en-US" sz="3200"/>
              <a:t> Mg-EDTA</a:t>
            </a:r>
          </a:p>
        </p:txBody>
      </p:sp>
    </p:spTree>
    <p:extLst>
      <p:ext uri="{BB962C8B-B14F-4D97-AF65-F5344CB8AC3E}">
        <p14:creationId xmlns:p14="http://schemas.microsoft.com/office/powerpoint/2010/main" val="1076518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382000" cy="6309420"/>
          </a:xfrm>
          <a:prstGeom prst="rect">
            <a:avLst/>
          </a:prstGeom>
        </p:spPr>
        <p:txBody>
          <a:bodyPr wrap="square" lIns="91440" tIns="45720" rIns="91440" bIns="45720" anchor="t">
            <a:spAutoFit/>
          </a:bodyPr>
          <a:lstStyle/>
          <a:p>
            <a:pPr algn="just"/>
            <a:r>
              <a:rPr lang="en-US" sz="2400" b="1"/>
              <a:t>Working:-</a:t>
            </a:r>
          </a:p>
          <a:p>
            <a:pPr algn="just"/>
            <a:r>
              <a:rPr lang="en-US" sz="2400"/>
              <a:t>To the hard water sample, the alcoholic blue coloured EBT indicator is added along with the NH</a:t>
            </a:r>
            <a:r>
              <a:rPr lang="en-US" sz="2400" baseline="-25000"/>
              <a:t>4</a:t>
            </a:r>
            <a:r>
              <a:rPr lang="en-US" sz="2400"/>
              <a:t>Cl +  NH</a:t>
            </a:r>
            <a:r>
              <a:rPr lang="en-US" sz="2400" baseline="-25000"/>
              <a:t>4</a:t>
            </a:r>
            <a:r>
              <a:rPr lang="en-US" sz="2400"/>
              <a:t>OH buffer (pH 9- 10) solution. </a:t>
            </a:r>
          </a:p>
          <a:p>
            <a:pPr algn="just"/>
            <a:r>
              <a:rPr lang="en-US" sz="2400"/>
              <a:t>EBT forms an unstable wine-red complex with Ca</a:t>
            </a:r>
            <a:r>
              <a:rPr lang="en-US" sz="2400" baseline="30000"/>
              <a:t>+2</a:t>
            </a:r>
            <a:r>
              <a:rPr lang="en-US" sz="2400"/>
              <a:t> &amp; Mg</a:t>
            </a:r>
            <a:r>
              <a:rPr lang="en-US" sz="2400" baseline="30000"/>
              <a:t>+2</a:t>
            </a:r>
            <a:r>
              <a:rPr lang="en-US" sz="2400"/>
              <a:t>.</a:t>
            </a:r>
          </a:p>
          <a:p>
            <a:pPr algn="just"/>
            <a:endParaRPr lang="en-US" sz="1200"/>
          </a:p>
          <a:p>
            <a:pPr algn="just"/>
            <a:r>
              <a:rPr lang="en-US" sz="2000"/>
              <a:t>(Ca</a:t>
            </a:r>
            <a:r>
              <a:rPr lang="en-US" sz="2000" baseline="30000"/>
              <a:t>+2</a:t>
            </a:r>
            <a:r>
              <a:rPr lang="en-US" sz="2000"/>
              <a:t> + Mg</a:t>
            </a:r>
            <a:r>
              <a:rPr lang="en-US" sz="2000" baseline="30000"/>
              <a:t>+2</a:t>
            </a:r>
            <a:r>
              <a:rPr lang="en-US" sz="2000"/>
              <a:t>) + EBT +  Buffer (pH 9-10) </a:t>
            </a:r>
            <a:r>
              <a:rPr lang="en-US" sz="2000">
                <a:sym typeface="Wingdings" pitchFamily="2" charset="2"/>
              </a:rPr>
              <a:t></a:t>
            </a:r>
            <a:r>
              <a:rPr lang="en-US" sz="2000"/>
              <a:t> (Ca-EBT + Mg-EBT) complex</a:t>
            </a:r>
          </a:p>
          <a:p>
            <a:pPr algn="just"/>
            <a:r>
              <a:rPr lang="en-US" sz="2000"/>
              <a:t>(Hard water)  (Indicator)                               (Unstable </a:t>
            </a:r>
            <a:r>
              <a:rPr lang="en-US" sz="2000" b="1">
                <a:solidFill>
                  <a:srgbClr val="D60093"/>
                </a:solidFill>
              </a:rPr>
              <a:t>wine-red</a:t>
            </a:r>
            <a:r>
              <a:rPr lang="en-US" sz="2000"/>
              <a:t> complex)</a:t>
            </a:r>
          </a:p>
          <a:p>
            <a:pPr algn="just"/>
            <a:endParaRPr lang="en-US" sz="2000"/>
          </a:p>
          <a:p>
            <a:pPr algn="just"/>
            <a:r>
              <a:rPr lang="en-US" sz="2400"/>
              <a:t>This wine-red coloured [Ca-EBT &amp; Mg-EBT] complex is then titrated against EDTA; when EDTA replaces EBT from Ca-EBT &amp; Mg-EBT complex and forms stable colourless [Ca-EDTA] &amp; [Mg-EDTA] complex releasing the blue coloured indicator EBT into H</a:t>
            </a:r>
            <a:r>
              <a:rPr lang="en-US" sz="2400" baseline="-25000"/>
              <a:t>2</a:t>
            </a:r>
            <a:r>
              <a:rPr lang="en-US" sz="2400"/>
              <a:t>O.</a:t>
            </a:r>
            <a:endParaRPr lang="en-US" sz="2400">
              <a:cs typeface="Calibri"/>
            </a:endParaRPr>
          </a:p>
          <a:p>
            <a:pPr algn="just"/>
            <a:endParaRPr lang="en-US" sz="1200"/>
          </a:p>
          <a:p>
            <a:pPr algn="just"/>
            <a:r>
              <a:rPr lang="en-US" sz="2000"/>
              <a:t>[Ca-EBT + Mg-EBT] complex + EDTA </a:t>
            </a:r>
            <a:r>
              <a:rPr lang="en-US" sz="2000">
                <a:sym typeface="Wingdings" pitchFamily="2" charset="2"/>
              </a:rPr>
              <a:t> EBT + </a:t>
            </a:r>
            <a:r>
              <a:rPr lang="en-US" sz="2000"/>
              <a:t>[Ca-EDTA + Mg-EDTA] complex</a:t>
            </a:r>
            <a:r>
              <a:rPr lang="en-US" sz="2400"/>
              <a:t> </a:t>
            </a:r>
          </a:p>
          <a:p>
            <a:pPr algn="just"/>
            <a:r>
              <a:rPr lang="en-US" sz="2000"/>
              <a:t>(Unstable </a:t>
            </a:r>
            <a:r>
              <a:rPr lang="en-US" sz="2000" b="1">
                <a:solidFill>
                  <a:srgbClr val="D60093"/>
                </a:solidFill>
              </a:rPr>
              <a:t>wine-red</a:t>
            </a:r>
            <a:r>
              <a:rPr lang="en-US" sz="2000"/>
              <a:t> complex)               (</a:t>
            </a:r>
            <a:r>
              <a:rPr lang="en-US" sz="2000" b="1">
                <a:solidFill>
                  <a:srgbClr val="0070C0"/>
                </a:solidFill>
              </a:rPr>
              <a:t>Blue</a:t>
            </a:r>
            <a:r>
              <a:rPr lang="en-US" sz="2000"/>
              <a:t>) (Stable </a:t>
            </a:r>
            <a:r>
              <a:rPr lang="en-US" sz="2000" err="1"/>
              <a:t>colourless</a:t>
            </a:r>
            <a:r>
              <a:rPr lang="en-US" sz="2000"/>
              <a:t> complex)</a:t>
            </a:r>
          </a:p>
          <a:p>
            <a:pPr algn="just"/>
            <a:endParaRPr lang="en-US" sz="1200"/>
          </a:p>
          <a:p>
            <a:pPr algn="just"/>
            <a:r>
              <a:rPr lang="en-US" sz="2400"/>
              <a:t>Hence the colour change at the end point is wine-red to blue colour.</a:t>
            </a:r>
          </a:p>
        </p:txBody>
      </p:sp>
    </p:spTree>
    <p:extLst>
      <p:ext uri="{BB962C8B-B14F-4D97-AF65-F5344CB8AC3E}">
        <p14:creationId xmlns:p14="http://schemas.microsoft.com/office/powerpoint/2010/main" val="3929746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457200"/>
            <a:ext cx="8153400" cy="5509200"/>
          </a:xfrm>
          <a:prstGeom prst="rect">
            <a:avLst/>
          </a:prstGeom>
        </p:spPr>
        <p:txBody>
          <a:bodyPr wrap="square">
            <a:spAutoFit/>
          </a:bodyPr>
          <a:lstStyle/>
          <a:p>
            <a:pPr algn="just"/>
            <a:r>
              <a:rPr lang="en-US" sz="3200"/>
              <a:t>The titration is carried out in the following steps 1. </a:t>
            </a:r>
            <a:r>
              <a:rPr lang="en-US" sz="3200">
                <a:solidFill>
                  <a:srgbClr val="FF0000"/>
                </a:solidFill>
              </a:rPr>
              <a:t>PREPARATION OF STANDARD HARD WATER</a:t>
            </a:r>
            <a:r>
              <a:rPr lang="en-US" sz="3200"/>
              <a:t>: Dissolve 1gm of pure, dry CaCO</a:t>
            </a:r>
            <a:r>
              <a:rPr lang="en-US" sz="3200" baseline="-25000"/>
              <a:t>3</a:t>
            </a:r>
            <a:r>
              <a:rPr lang="en-US" sz="3200"/>
              <a:t> in minimum quantity of dilute HCl and evaporate the solution to dryness on a water-bath. Dissolve the residue in distilled water to make 1 litre in a standard flask and shake well. </a:t>
            </a:r>
          </a:p>
          <a:p>
            <a:pPr algn="just"/>
            <a:endParaRPr lang="en-US" sz="3200"/>
          </a:p>
          <a:p>
            <a:pPr algn="just"/>
            <a:r>
              <a:rPr lang="en-US" sz="3200"/>
              <a:t>Molarity of standard hard water solution = </a:t>
            </a:r>
          </a:p>
          <a:p>
            <a:pPr algn="just"/>
            <a:r>
              <a:rPr lang="en-US" sz="3200" u="sng"/>
              <a:t>wt. of CaCO</a:t>
            </a:r>
            <a:r>
              <a:rPr lang="en-US" sz="3200" u="sng" baseline="-25000"/>
              <a:t>3</a:t>
            </a:r>
            <a:r>
              <a:rPr lang="en-US" sz="3200" baseline="-25000"/>
              <a:t>        </a:t>
            </a:r>
            <a:r>
              <a:rPr lang="en-US" sz="3200"/>
              <a:t>=  </a:t>
            </a:r>
            <a:r>
              <a:rPr lang="en-US" sz="3200" u="sng"/>
              <a:t>1    </a:t>
            </a:r>
            <a:r>
              <a:rPr lang="en-US" sz="3200"/>
              <a:t> =  0.01M</a:t>
            </a:r>
          </a:p>
          <a:p>
            <a:pPr algn="just"/>
            <a:r>
              <a:rPr lang="en-US" sz="3200" err="1"/>
              <a:t>M.wt</a:t>
            </a:r>
            <a:r>
              <a:rPr lang="en-US" sz="3200"/>
              <a:t>. of CaCO</a:t>
            </a:r>
            <a:r>
              <a:rPr lang="en-US" sz="3200" baseline="-25000"/>
              <a:t>3</a:t>
            </a:r>
            <a:r>
              <a:rPr lang="en-US" sz="3200"/>
              <a:t>    100   </a:t>
            </a:r>
          </a:p>
        </p:txBody>
      </p:sp>
    </p:spTree>
    <p:extLst>
      <p:ext uri="{BB962C8B-B14F-4D97-AF65-F5344CB8AC3E}">
        <p14:creationId xmlns:p14="http://schemas.microsoft.com/office/powerpoint/2010/main" val="1104745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457200"/>
            <a:ext cx="8153400" cy="5509200"/>
          </a:xfrm>
          <a:prstGeom prst="rect">
            <a:avLst/>
          </a:prstGeom>
        </p:spPr>
        <p:txBody>
          <a:bodyPr wrap="square">
            <a:spAutoFit/>
          </a:bodyPr>
          <a:lstStyle/>
          <a:p>
            <a:pPr algn="just"/>
            <a:r>
              <a:rPr lang="en-US" sz="3200"/>
              <a:t>(2) </a:t>
            </a:r>
            <a:r>
              <a:rPr lang="en-US" sz="3200">
                <a:solidFill>
                  <a:srgbClr val="FF0000"/>
                </a:solidFill>
              </a:rPr>
              <a:t>PREPARATION OF EDTA SOLUTION: </a:t>
            </a:r>
          </a:p>
          <a:p>
            <a:pPr algn="just"/>
            <a:r>
              <a:rPr lang="en-US" sz="3200"/>
              <a:t>Dissolve 4 </a:t>
            </a:r>
            <a:r>
              <a:rPr lang="en-US" sz="3200" err="1"/>
              <a:t>gms</a:t>
            </a:r>
            <a:r>
              <a:rPr lang="en-US" sz="3200"/>
              <a:t> of pure EDTA-disodium salt crystals along with 0.1 gm of MgCl</a:t>
            </a:r>
            <a:r>
              <a:rPr lang="en-US" sz="3200" baseline="-25000"/>
              <a:t>2</a:t>
            </a:r>
            <a:r>
              <a:rPr lang="en-US" sz="3200"/>
              <a:t> in one litre of distilled water.</a:t>
            </a:r>
          </a:p>
          <a:p>
            <a:pPr algn="just"/>
            <a:r>
              <a:rPr lang="en-US" sz="3200"/>
              <a:t>(3) </a:t>
            </a:r>
            <a:r>
              <a:rPr lang="en-US" sz="3200">
                <a:solidFill>
                  <a:srgbClr val="FF0000"/>
                </a:solidFill>
              </a:rPr>
              <a:t>PREPARATION OF INDICATOR (EBT): </a:t>
            </a:r>
          </a:p>
          <a:p>
            <a:pPr algn="just"/>
            <a:r>
              <a:rPr lang="en-US" sz="3200"/>
              <a:t>Dissolve 0.5 </a:t>
            </a:r>
            <a:r>
              <a:rPr lang="en-US" sz="3200" err="1"/>
              <a:t>gms</a:t>
            </a:r>
            <a:r>
              <a:rPr lang="en-US" sz="3200"/>
              <a:t> of </a:t>
            </a:r>
            <a:r>
              <a:rPr lang="en-US" sz="3200" err="1"/>
              <a:t>Erichrome</a:t>
            </a:r>
            <a:r>
              <a:rPr lang="en-US" sz="3200"/>
              <a:t> Black-T in 100 ml of alcohol. </a:t>
            </a:r>
          </a:p>
          <a:p>
            <a:pPr algn="just"/>
            <a:r>
              <a:rPr lang="en-US" sz="3200"/>
              <a:t>(4) </a:t>
            </a:r>
            <a:r>
              <a:rPr lang="en-US" sz="3200">
                <a:solidFill>
                  <a:srgbClr val="FF0000"/>
                </a:solidFill>
              </a:rPr>
              <a:t>PREPARATION OF BUFFER SOLUTION: </a:t>
            </a:r>
            <a:r>
              <a:rPr lang="en-US" sz="3200"/>
              <a:t>Add 67.5 gm of NH</a:t>
            </a:r>
            <a:r>
              <a:rPr lang="en-US" sz="3200" baseline="-25000"/>
              <a:t>4</a:t>
            </a:r>
            <a:r>
              <a:rPr lang="en-US" sz="3200"/>
              <a:t>Cl to 570 ml of concentrated ammonia solution and dilute with distilled water to one litre</a:t>
            </a:r>
          </a:p>
        </p:txBody>
      </p:sp>
    </p:spTree>
    <p:extLst>
      <p:ext uri="{BB962C8B-B14F-4D97-AF65-F5344CB8AC3E}">
        <p14:creationId xmlns:p14="http://schemas.microsoft.com/office/powerpoint/2010/main" val="37051670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457200"/>
            <a:ext cx="8153400" cy="5509200"/>
          </a:xfrm>
          <a:prstGeom prst="rect">
            <a:avLst/>
          </a:prstGeom>
        </p:spPr>
        <p:txBody>
          <a:bodyPr wrap="square">
            <a:spAutoFit/>
          </a:bodyPr>
          <a:lstStyle/>
          <a:p>
            <a:pPr algn="just"/>
            <a:r>
              <a:rPr lang="en-US" sz="3200"/>
              <a:t>(5) </a:t>
            </a:r>
            <a:r>
              <a:rPr lang="en-US" sz="3200">
                <a:solidFill>
                  <a:srgbClr val="FF0000"/>
                </a:solidFill>
              </a:rPr>
              <a:t>STANDARDISATION OF EDTA SOLUTION: </a:t>
            </a:r>
            <a:r>
              <a:rPr lang="en-US" sz="3200"/>
              <a:t>Pipette out 20 ml of standard hard water solution into a conical flask. Add 2- 3 ml of buffer (pH 9- 10) solution and 2- 3 drops of EBT indicator. Titrate the wine-red coloured complex with EDTA taken in a burette after rinsing it with EDTA solution till the wine red colour changes to clear blue.</a:t>
            </a:r>
          </a:p>
          <a:p>
            <a:pPr algn="just"/>
            <a:r>
              <a:rPr lang="en-US" sz="3200"/>
              <a:t>Note the burette reading and let the volume be “</a:t>
            </a:r>
            <a:r>
              <a:rPr lang="en-US" sz="3200" err="1"/>
              <a:t>x”ml</a:t>
            </a:r>
            <a:r>
              <a:rPr lang="en-US" sz="3200"/>
              <a:t>. Repeat the titration to get concurrent values.</a:t>
            </a:r>
          </a:p>
        </p:txBody>
      </p:sp>
    </p:spTree>
    <p:extLst>
      <p:ext uri="{BB962C8B-B14F-4D97-AF65-F5344CB8AC3E}">
        <p14:creationId xmlns:p14="http://schemas.microsoft.com/office/powerpoint/2010/main" val="129539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33400"/>
            <a:ext cx="8305800" cy="4524315"/>
          </a:xfrm>
          <a:prstGeom prst="rect">
            <a:avLst/>
          </a:prstGeom>
        </p:spPr>
        <p:txBody>
          <a:bodyPr wrap="square">
            <a:spAutoFit/>
          </a:bodyPr>
          <a:lstStyle/>
          <a:p>
            <a:pPr algn="just"/>
            <a:r>
              <a:rPr lang="en-US" sz="3200"/>
              <a:t>(6) </a:t>
            </a:r>
            <a:r>
              <a:rPr lang="en-US" sz="3200">
                <a:solidFill>
                  <a:srgbClr val="FF0000"/>
                </a:solidFill>
              </a:rPr>
              <a:t>TITRATION OF SAMPLE HARD WATER (Total) : </a:t>
            </a:r>
          </a:p>
          <a:p>
            <a:pPr algn="just"/>
            <a:r>
              <a:rPr lang="en-US" sz="3200"/>
              <a:t>Pipette out 20 ml of the water sample into a 250ml conical flask, add 2- 3 ml of buffer (pH 9- 10) solution and 2- 3 drops of EBT indicator. Titrate the wine-red coloured solution with EDTA taken in the burette till a clear blue coloured end point is obtained.</a:t>
            </a:r>
          </a:p>
          <a:p>
            <a:pPr algn="just"/>
            <a:r>
              <a:rPr lang="en-US" sz="3200"/>
              <a:t>Let the volume of EDTA be “y” ml. Repeat the titration to get concurrent values</a:t>
            </a:r>
          </a:p>
        </p:txBody>
      </p:sp>
    </p:spTree>
    <p:extLst>
      <p:ext uri="{BB962C8B-B14F-4D97-AF65-F5344CB8AC3E}">
        <p14:creationId xmlns:p14="http://schemas.microsoft.com/office/powerpoint/2010/main" val="31636231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304800"/>
            <a:ext cx="8534400" cy="6494085"/>
          </a:xfrm>
          <a:prstGeom prst="rect">
            <a:avLst/>
          </a:prstGeom>
        </p:spPr>
        <p:txBody>
          <a:bodyPr wrap="square">
            <a:spAutoFit/>
          </a:bodyPr>
          <a:lstStyle/>
          <a:p>
            <a:pPr algn="just"/>
            <a:r>
              <a:rPr lang="en-US" sz="3200"/>
              <a:t>(7) </a:t>
            </a:r>
            <a:r>
              <a:rPr lang="en-US" sz="3200">
                <a:solidFill>
                  <a:srgbClr val="FF0000"/>
                </a:solidFill>
              </a:rPr>
              <a:t>TITRATION FOR PERMANENT HARDNESS:</a:t>
            </a:r>
          </a:p>
          <a:p>
            <a:pPr algn="just"/>
            <a:r>
              <a:rPr lang="en-US" sz="3200"/>
              <a:t> Pipette out 100 ml of hard water sample in a beaker and boil till the volume reduces to 20 ml. All the bicarbonates of Ca</a:t>
            </a:r>
            <a:r>
              <a:rPr lang="en-US" sz="3200" baseline="30000"/>
              <a:t>++</a:t>
            </a:r>
            <a:r>
              <a:rPr lang="en-US" sz="3200"/>
              <a:t> and Mg</a:t>
            </a:r>
            <a:r>
              <a:rPr lang="en-US" sz="3200" baseline="30000"/>
              <a:t>++</a:t>
            </a:r>
            <a:r>
              <a:rPr lang="en-US" sz="3200"/>
              <a:t> decomposes to CaCO</a:t>
            </a:r>
            <a:r>
              <a:rPr lang="en-US" sz="3200" baseline="-25000"/>
              <a:t>3</a:t>
            </a:r>
            <a:r>
              <a:rPr lang="en-US" sz="3200"/>
              <a:t> and Mg(OH)</a:t>
            </a:r>
            <a:r>
              <a:rPr lang="en-US" sz="3200" baseline="-25000"/>
              <a:t>2</a:t>
            </a:r>
            <a:r>
              <a:rPr lang="en-US" sz="3200"/>
              <a:t>. Cool the solution and filter the water into a flask, wash the beaker and precipitate with distilled water and add the washing to conical flask. Add 2- 3 ml of buffer (pH 9- 10) solution and 2- 3 drops of EBT indicator and titrate with EDTA solution taken in the burette till a clear blue colour end point is obtained.</a:t>
            </a:r>
          </a:p>
          <a:p>
            <a:pPr algn="just"/>
            <a:r>
              <a:rPr lang="en-US" sz="3200"/>
              <a:t>Note the burette reading. Let the volume be “z” ml.</a:t>
            </a:r>
          </a:p>
        </p:txBody>
      </p:sp>
    </p:spTree>
    <p:extLst>
      <p:ext uri="{BB962C8B-B14F-4D97-AF65-F5344CB8AC3E}">
        <p14:creationId xmlns:p14="http://schemas.microsoft.com/office/powerpoint/2010/main" val="894361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533400"/>
            <a:ext cx="8153400" cy="5755422"/>
          </a:xfrm>
          <a:prstGeom prst="rect">
            <a:avLst/>
          </a:prstGeom>
        </p:spPr>
        <p:txBody>
          <a:bodyPr wrap="square">
            <a:spAutoFit/>
          </a:bodyPr>
          <a:lstStyle/>
          <a:p>
            <a:pPr algn="just"/>
            <a:r>
              <a:rPr lang="en-US" sz="3200" b="1"/>
              <a:t>CALCULATIONS:</a:t>
            </a:r>
          </a:p>
          <a:p>
            <a:pPr algn="just"/>
            <a:r>
              <a:rPr lang="en-US" sz="2800">
                <a:solidFill>
                  <a:srgbClr val="FF0000"/>
                </a:solidFill>
              </a:rPr>
              <a:t>Molarity of standard hard water solution </a:t>
            </a:r>
            <a:r>
              <a:rPr lang="en-US" sz="2800"/>
              <a:t>= 0.01 M.</a:t>
            </a:r>
          </a:p>
          <a:p>
            <a:pPr algn="just"/>
            <a:r>
              <a:rPr lang="en-US"/>
              <a:t>(Calculated in the preparation of standard hard water)</a:t>
            </a:r>
            <a:r>
              <a:rPr lang="en-US" sz="2800"/>
              <a:t> </a:t>
            </a:r>
          </a:p>
          <a:p>
            <a:pPr algn="just"/>
            <a:r>
              <a:rPr lang="en-US" sz="2800">
                <a:solidFill>
                  <a:srgbClr val="FF0000"/>
                </a:solidFill>
              </a:rPr>
              <a:t>Molarity of EDTA solution </a:t>
            </a:r>
            <a:r>
              <a:rPr lang="en-US" sz="2800"/>
              <a:t>(M2 ): </a:t>
            </a:r>
            <a:r>
              <a:rPr lang="en-US" sz="2800" u="sng"/>
              <a:t>V</a:t>
            </a:r>
            <a:r>
              <a:rPr lang="en-US" sz="2800" u="sng" baseline="-25000"/>
              <a:t>1</a:t>
            </a:r>
            <a:r>
              <a:rPr lang="en-US" sz="2800" u="sng"/>
              <a:t>M</a:t>
            </a:r>
            <a:r>
              <a:rPr lang="en-US" sz="2800" u="sng" baseline="-25000"/>
              <a:t>1</a:t>
            </a:r>
            <a:r>
              <a:rPr lang="en-US" sz="2800"/>
              <a:t> = </a:t>
            </a:r>
            <a:r>
              <a:rPr lang="en-US" sz="2800" u="sng"/>
              <a:t>V</a:t>
            </a:r>
            <a:r>
              <a:rPr lang="en-US" sz="2800" u="sng" baseline="-25000"/>
              <a:t>2</a:t>
            </a:r>
            <a:r>
              <a:rPr lang="en-US" sz="2800" u="sng"/>
              <a:t>M</a:t>
            </a:r>
            <a:r>
              <a:rPr lang="en-US" sz="2800" u="sng" baseline="-25000"/>
              <a:t>2</a:t>
            </a:r>
            <a:r>
              <a:rPr lang="en-US" sz="2800"/>
              <a:t> </a:t>
            </a:r>
          </a:p>
          <a:p>
            <a:pPr algn="just"/>
            <a:r>
              <a:rPr lang="en-US" sz="2800"/>
              <a:t>                                                             n</a:t>
            </a:r>
            <a:r>
              <a:rPr lang="en-US" sz="2800" baseline="-25000"/>
              <a:t>1</a:t>
            </a:r>
            <a:r>
              <a:rPr lang="en-US" sz="2800"/>
              <a:t>         n</a:t>
            </a:r>
            <a:r>
              <a:rPr lang="en-US" sz="2800" baseline="-25000"/>
              <a:t>2</a:t>
            </a:r>
          </a:p>
          <a:p>
            <a:pPr algn="just"/>
            <a:r>
              <a:rPr lang="en-US" sz="2800"/>
              <a:t>n</a:t>
            </a:r>
            <a:r>
              <a:rPr lang="en-US" sz="2800" baseline="-25000"/>
              <a:t>1</a:t>
            </a:r>
            <a:r>
              <a:rPr lang="en-US" sz="2800"/>
              <a:t> &amp; n</a:t>
            </a:r>
            <a:r>
              <a:rPr lang="en-US" sz="2800" baseline="-25000"/>
              <a:t>2</a:t>
            </a:r>
            <a:r>
              <a:rPr lang="en-US" sz="2800"/>
              <a:t> are no. of moles of Ca</a:t>
            </a:r>
            <a:r>
              <a:rPr lang="en-US" sz="2800" baseline="30000"/>
              <a:t>+2</a:t>
            </a:r>
            <a:r>
              <a:rPr lang="en-US" sz="2800"/>
              <a:t> and EDTA = 1 each </a:t>
            </a:r>
          </a:p>
          <a:p>
            <a:pPr algn="just"/>
            <a:r>
              <a:rPr lang="en-US" sz="2800"/>
              <a:t>i.e., n</a:t>
            </a:r>
            <a:r>
              <a:rPr lang="en-US" sz="2800" baseline="-25000"/>
              <a:t>1</a:t>
            </a:r>
            <a:r>
              <a:rPr lang="en-US" sz="2800"/>
              <a:t>=1, n</a:t>
            </a:r>
            <a:r>
              <a:rPr lang="en-US" sz="2800" baseline="-25000"/>
              <a:t>2</a:t>
            </a:r>
            <a:r>
              <a:rPr lang="en-US" sz="2800"/>
              <a:t>=1</a:t>
            </a:r>
          </a:p>
          <a:p>
            <a:pPr algn="just"/>
            <a:r>
              <a:rPr lang="en-US" sz="2800"/>
              <a:t>V</a:t>
            </a:r>
            <a:r>
              <a:rPr lang="en-US" sz="2800" baseline="-25000"/>
              <a:t>1</a:t>
            </a:r>
            <a:r>
              <a:rPr lang="en-US" sz="2800"/>
              <a:t> = volume of standard hard water </a:t>
            </a:r>
          </a:p>
          <a:p>
            <a:pPr algn="just"/>
            <a:r>
              <a:rPr lang="en-US" sz="2800"/>
              <a:t>M</a:t>
            </a:r>
            <a:r>
              <a:rPr lang="en-US" sz="2800" baseline="-25000"/>
              <a:t>1</a:t>
            </a:r>
            <a:r>
              <a:rPr lang="en-US" sz="2800"/>
              <a:t>= Molarity of standard hard water </a:t>
            </a:r>
          </a:p>
          <a:p>
            <a:pPr algn="just"/>
            <a:r>
              <a:rPr lang="en-US" sz="2800"/>
              <a:t>V</a:t>
            </a:r>
            <a:r>
              <a:rPr lang="en-US" sz="2800" baseline="-25000"/>
              <a:t>2</a:t>
            </a:r>
            <a:r>
              <a:rPr lang="en-US" sz="2800"/>
              <a:t>= volume of EDTA </a:t>
            </a:r>
          </a:p>
          <a:p>
            <a:pPr algn="just"/>
            <a:r>
              <a:rPr lang="en-US" sz="2800"/>
              <a:t>M</a:t>
            </a:r>
            <a:r>
              <a:rPr lang="en-US" sz="2800" baseline="-25000"/>
              <a:t>2</a:t>
            </a:r>
            <a:r>
              <a:rPr lang="en-US" sz="2800"/>
              <a:t>= molarity of EDTA </a:t>
            </a:r>
          </a:p>
          <a:p>
            <a:pPr algn="just"/>
            <a:r>
              <a:rPr lang="en-US" sz="2800"/>
              <a:t>M</a:t>
            </a:r>
            <a:r>
              <a:rPr lang="en-US" sz="2800" baseline="-25000"/>
              <a:t>2</a:t>
            </a:r>
            <a:r>
              <a:rPr lang="en-US" sz="2800"/>
              <a:t> = </a:t>
            </a:r>
            <a:r>
              <a:rPr lang="en-US" sz="2800" u="sng"/>
              <a:t>V</a:t>
            </a:r>
            <a:r>
              <a:rPr lang="en-US" sz="2800" u="sng" baseline="-25000"/>
              <a:t>1</a:t>
            </a:r>
            <a:r>
              <a:rPr lang="en-US" sz="2800" u="sng"/>
              <a:t>M</a:t>
            </a:r>
            <a:r>
              <a:rPr lang="en-US" sz="2800" u="sng" baseline="-25000"/>
              <a:t>1</a:t>
            </a:r>
            <a:r>
              <a:rPr lang="en-US" sz="2800"/>
              <a:t> = </a:t>
            </a:r>
            <a:r>
              <a:rPr lang="en-US" sz="2800" u="sng"/>
              <a:t>20 X 0.01  </a:t>
            </a:r>
            <a:endParaRPr lang="en-US" sz="2800"/>
          </a:p>
          <a:p>
            <a:pPr algn="just"/>
            <a:r>
              <a:rPr lang="en-US" sz="2800"/>
              <a:t>              V</a:t>
            </a:r>
            <a:r>
              <a:rPr lang="en-US" sz="2800" baseline="-25000"/>
              <a:t>2</a:t>
            </a:r>
            <a:r>
              <a:rPr lang="en-US" sz="2800"/>
              <a:t>             x (</a:t>
            </a:r>
            <a:r>
              <a:rPr lang="en-US" sz="2800" err="1"/>
              <a:t>titre</a:t>
            </a:r>
            <a:r>
              <a:rPr lang="en-US" sz="2800"/>
              <a:t> value)</a:t>
            </a:r>
          </a:p>
        </p:txBody>
      </p:sp>
    </p:spTree>
    <p:extLst>
      <p:ext uri="{BB962C8B-B14F-4D97-AF65-F5344CB8AC3E}">
        <p14:creationId xmlns:p14="http://schemas.microsoft.com/office/powerpoint/2010/main" val="4977711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382000" cy="5693866"/>
          </a:xfrm>
          <a:prstGeom prst="rect">
            <a:avLst/>
          </a:prstGeom>
        </p:spPr>
        <p:txBody>
          <a:bodyPr wrap="square">
            <a:spAutoFit/>
          </a:bodyPr>
          <a:lstStyle/>
          <a:p>
            <a:pPr algn="just"/>
            <a:r>
              <a:rPr lang="en-US" sz="2800">
                <a:solidFill>
                  <a:srgbClr val="FF0000"/>
                </a:solidFill>
              </a:rPr>
              <a:t>Molarity of sample hard water </a:t>
            </a:r>
            <a:r>
              <a:rPr lang="en-US" sz="2800"/>
              <a:t>(M</a:t>
            </a:r>
            <a:r>
              <a:rPr lang="en-US" sz="2800" baseline="-25000"/>
              <a:t>3</a:t>
            </a:r>
            <a:r>
              <a:rPr lang="en-US" sz="2800"/>
              <a:t> ):</a:t>
            </a:r>
          </a:p>
          <a:p>
            <a:pPr algn="just"/>
            <a:r>
              <a:rPr lang="en-US" sz="2800"/>
              <a:t> </a:t>
            </a:r>
            <a:r>
              <a:rPr lang="en-US" sz="2800" u="sng"/>
              <a:t>V</a:t>
            </a:r>
            <a:r>
              <a:rPr lang="en-US" sz="2800" u="sng" baseline="-25000"/>
              <a:t>2</a:t>
            </a:r>
            <a:r>
              <a:rPr lang="en-US" sz="2800" u="sng"/>
              <a:t>M</a:t>
            </a:r>
            <a:r>
              <a:rPr lang="en-US" sz="2800" u="sng" baseline="-25000"/>
              <a:t>2</a:t>
            </a:r>
            <a:r>
              <a:rPr lang="en-US" sz="2800"/>
              <a:t> = </a:t>
            </a:r>
            <a:r>
              <a:rPr lang="en-US" sz="2800" u="sng"/>
              <a:t>V</a:t>
            </a:r>
            <a:r>
              <a:rPr lang="en-US" sz="2800" u="sng" baseline="-25000"/>
              <a:t>3</a:t>
            </a:r>
            <a:r>
              <a:rPr lang="en-US" sz="2800" u="sng"/>
              <a:t>M</a:t>
            </a:r>
            <a:r>
              <a:rPr lang="en-US" sz="2800" u="sng" baseline="-25000"/>
              <a:t>3</a:t>
            </a:r>
            <a:r>
              <a:rPr lang="en-US" sz="2800"/>
              <a:t>  </a:t>
            </a:r>
          </a:p>
          <a:p>
            <a:pPr algn="just"/>
            <a:r>
              <a:rPr lang="en-US" sz="2800"/>
              <a:t>    n</a:t>
            </a:r>
            <a:r>
              <a:rPr lang="en-US" sz="2800" baseline="-25000"/>
              <a:t>2</a:t>
            </a:r>
            <a:r>
              <a:rPr lang="en-US" sz="2800"/>
              <a:t>           n</a:t>
            </a:r>
            <a:r>
              <a:rPr lang="en-US" sz="2800" baseline="-25000"/>
              <a:t>3</a:t>
            </a:r>
          </a:p>
          <a:p>
            <a:pPr algn="just"/>
            <a:r>
              <a:rPr lang="en-US" sz="2800"/>
              <a:t>V</a:t>
            </a:r>
            <a:r>
              <a:rPr lang="en-US" sz="2800" baseline="-25000"/>
              <a:t>2</a:t>
            </a:r>
            <a:r>
              <a:rPr lang="en-US" sz="2800"/>
              <a:t>= volume of EDTA </a:t>
            </a:r>
          </a:p>
          <a:p>
            <a:pPr algn="just"/>
            <a:r>
              <a:rPr lang="en-US" sz="2800"/>
              <a:t>M</a:t>
            </a:r>
            <a:r>
              <a:rPr lang="en-US" sz="2800" baseline="-25000"/>
              <a:t>2</a:t>
            </a:r>
            <a:r>
              <a:rPr lang="en-US" sz="2800"/>
              <a:t>= molarity of EDTA </a:t>
            </a:r>
          </a:p>
          <a:p>
            <a:pPr algn="just"/>
            <a:r>
              <a:rPr lang="en-US" sz="2800"/>
              <a:t>V</a:t>
            </a:r>
            <a:r>
              <a:rPr lang="en-US" sz="2800" baseline="-25000"/>
              <a:t>3</a:t>
            </a:r>
            <a:r>
              <a:rPr lang="en-US" sz="2800"/>
              <a:t>= volume of sample hard water</a:t>
            </a:r>
          </a:p>
          <a:p>
            <a:pPr algn="just"/>
            <a:r>
              <a:rPr lang="en-US" sz="2800"/>
              <a:t>M</a:t>
            </a:r>
            <a:r>
              <a:rPr lang="en-US" sz="2800" baseline="-25000"/>
              <a:t>3</a:t>
            </a:r>
            <a:r>
              <a:rPr lang="en-US" sz="2800"/>
              <a:t>= Molarity of sample hard water </a:t>
            </a:r>
          </a:p>
          <a:p>
            <a:pPr algn="just"/>
            <a:endParaRPr lang="en-US" sz="2800"/>
          </a:p>
          <a:p>
            <a:pPr algn="just"/>
            <a:r>
              <a:rPr lang="en-US" sz="2800"/>
              <a:t>M</a:t>
            </a:r>
            <a:r>
              <a:rPr lang="en-US" sz="2800" baseline="-25000"/>
              <a:t>3</a:t>
            </a:r>
            <a:r>
              <a:rPr lang="en-US" sz="2800"/>
              <a:t> = </a:t>
            </a:r>
            <a:r>
              <a:rPr lang="en-US" sz="2800" u="sng"/>
              <a:t>V</a:t>
            </a:r>
            <a:r>
              <a:rPr lang="en-US" sz="2800" u="sng" baseline="-25000"/>
              <a:t>2</a:t>
            </a:r>
            <a:r>
              <a:rPr lang="en-US" sz="2800" u="sng"/>
              <a:t>M</a:t>
            </a:r>
            <a:r>
              <a:rPr lang="en-US" sz="2800" u="sng" baseline="-25000"/>
              <a:t>2</a:t>
            </a:r>
            <a:r>
              <a:rPr lang="en-US" sz="2800"/>
              <a:t> = </a:t>
            </a:r>
            <a:r>
              <a:rPr lang="en-US" sz="2800" u="sng"/>
              <a:t>M</a:t>
            </a:r>
            <a:r>
              <a:rPr lang="en-US" sz="2800" u="sng" baseline="-25000"/>
              <a:t>2</a:t>
            </a:r>
            <a:r>
              <a:rPr lang="en-US" sz="2800" u="sng"/>
              <a:t> x y (</a:t>
            </a:r>
            <a:r>
              <a:rPr lang="en-US" sz="2800" u="sng" err="1"/>
              <a:t>titre</a:t>
            </a:r>
            <a:r>
              <a:rPr lang="en-US" sz="2800" u="sng"/>
              <a:t> value</a:t>
            </a:r>
            <a:r>
              <a:rPr lang="en-US" sz="2800"/>
              <a:t>)= </a:t>
            </a:r>
            <a:r>
              <a:rPr lang="en-US" sz="2800" u="sng"/>
              <a:t>y x 0.01</a:t>
            </a:r>
            <a:r>
              <a:rPr lang="en-US" sz="2800"/>
              <a:t> </a:t>
            </a:r>
          </a:p>
          <a:p>
            <a:pPr algn="just"/>
            <a:r>
              <a:rPr lang="en-US" sz="2800"/>
              <a:t>             V</a:t>
            </a:r>
            <a:r>
              <a:rPr lang="en-US" sz="2800" baseline="-25000"/>
              <a:t>3</a:t>
            </a:r>
            <a:r>
              <a:rPr lang="en-US" sz="2800"/>
              <a:t>                 20                            x</a:t>
            </a:r>
          </a:p>
          <a:p>
            <a:pPr algn="just"/>
            <a:r>
              <a:rPr lang="en-US" sz="2800">
                <a:solidFill>
                  <a:srgbClr val="FF0000"/>
                </a:solidFill>
              </a:rPr>
              <a:t>Total Hardness Of Water</a:t>
            </a:r>
            <a:r>
              <a:rPr lang="en-US" sz="2800"/>
              <a:t> </a:t>
            </a:r>
          </a:p>
          <a:p>
            <a:pPr algn="just"/>
            <a:r>
              <a:rPr lang="en-US" sz="2800"/>
              <a:t>= M</a:t>
            </a:r>
            <a:r>
              <a:rPr lang="en-US" sz="2800" baseline="-25000"/>
              <a:t>3</a:t>
            </a:r>
            <a:r>
              <a:rPr lang="en-US" sz="2800"/>
              <a:t> x 100 </a:t>
            </a:r>
            <a:r>
              <a:rPr lang="en-US" sz="2800" err="1"/>
              <a:t>gms</a:t>
            </a:r>
            <a:r>
              <a:rPr lang="en-US" sz="2800"/>
              <a:t>/1 litre </a:t>
            </a:r>
          </a:p>
          <a:p>
            <a:pPr algn="just"/>
            <a:r>
              <a:rPr lang="en-US" sz="2800"/>
              <a:t>=M</a:t>
            </a:r>
            <a:r>
              <a:rPr lang="en-US" sz="2800" baseline="-25000"/>
              <a:t>3</a:t>
            </a:r>
            <a:r>
              <a:rPr lang="en-US" sz="2800"/>
              <a:t> X 100 X 1000mg/L or ppm= (y/ x) X 1000ppm</a:t>
            </a:r>
          </a:p>
        </p:txBody>
      </p:sp>
    </p:spTree>
    <p:extLst>
      <p:ext uri="{BB962C8B-B14F-4D97-AF65-F5344CB8AC3E}">
        <p14:creationId xmlns:p14="http://schemas.microsoft.com/office/powerpoint/2010/main" val="35573017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476071"/>
            <a:ext cx="8382000" cy="5447645"/>
          </a:xfrm>
          <a:prstGeom prst="rect">
            <a:avLst/>
          </a:prstGeom>
        </p:spPr>
        <p:txBody>
          <a:bodyPr wrap="square" lIns="91440" tIns="45720" rIns="91440" bIns="45720" anchor="t">
            <a:spAutoFit/>
          </a:bodyPr>
          <a:lstStyle/>
          <a:p>
            <a:pPr algn="just"/>
            <a:r>
              <a:rPr lang="en-US" sz="2800">
                <a:solidFill>
                  <a:srgbClr val="FF0000"/>
                </a:solidFill>
              </a:rPr>
              <a:t>Permanent Hardness Of Water</a:t>
            </a:r>
            <a:r>
              <a:rPr lang="en-US" sz="2800"/>
              <a:t>: </a:t>
            </a:r>
          </a:p>
          <a:p>
            <a:pPr algn="just"/>
            <a:r>
              <a:rPr lang="en-US" sz="2800"/>
              <a:t> </a:t>
            </a:r>
            <a:r>
              <a:rPr lang="en-US" sz="2800" u="sng"/>
              <a:t>V</a:t>
            </a:r>
            <a:r>
              <a:rPr lang="en-US" sz="2800" u="sng" baseline="-25000"/>
              <a:t>2</a:t>
            </a:r>
            <a:r>
              <a:rPr lang="en-US" sz="2800" u="sng"/>
              <a:t>M</a:t>
            </a:r>
            <a:r>
              <a:rPr lang="en-US" sz="2800" u="sng" baseline="-25000"/>
              <a:t>2</a:t>
            </a:r>
            <a:r>
              <a:rPr lang="en-US" sz="2800"/>
              <a:t> = </a:t>
            </a:r>
            <a:r>
              <a:rPr lang="en-US" sz="2800" u="sng"/>
              <a:t>V</a:t>
            </a:r>
            <a:r>
              <a:rPr lang="en-US" sz="2800" u="sng" baseline="-25000"/>
              <a:t>4</a:t>
            </a:r>
            <a:r>
              <a:rPr lang="en-US" sz="2800" u="sng"/>
              <a:t>M</a:t>
            </a:r>
            <a:r>
              <a:rPr lang="en-US" sz="2800" u="sng" baseline="-25000"/>
              <a:t>4</a:t>
            </a:r>
            <a:r>
              <a:rPr lang="en-US" sz="2800"/>
              <a:t>     M</a:t>
            </a:r>
            <a:r>
              <a:rPr lang="en-US" sz="2800" baseline="-25000"/>
              <a:t>4</a:t>
            </a:r>
            <a:r>
              <a:rPr lang="en-US" sz="2800"/>
              <a:t>= </a:t>
            </a:r>
            <a:r>
              <a:rPr lang="en-US" sz="2800" u="sng"/>
              <a:t>V</a:t>
            </a:r>
            <a:r>
              <a:rPr lang="en-US" sz="2800" u="sng" baseline="-25000"/>
              <a:t>2</a:t>
            </a:r>
            <a:r>
              <a:rPr lang="en-US" sz="2800" u="sng"/>
              <a:t>M</a:t>
            </a:r>
            <a:r>
              <a:rPr lang="en-US" sz="2800" u="sng" baseline="-25000"/>
              <a:t>2</a:t>
            </a:r>
            <a:r>
              <a:rPr lang="en-US" sz="2800"/>
              <a:t> = </a:t>
            </a:r>
            <a:r>
              <a:rPr lang="en-US" sz="2800" u="sng"/>
              <a:t>zM</a:t>
            </a:r>
            <a:r>
              <a:rPr lang="en-US" sz="2800" u="sng" baseline="-25000"/>
              <a:t>2</a:t>
            </a:r>
            <a:r>
              <a:rPr lang="en-US" sz="2800"/>
              <a:t>  = </a:t>
            </a:r>
            <a:r>
              <a:rPr lang="en-US" sz="2800" u="sng"/>
              <a:t>z</a:t>
            </a:r>
            <a:r>
              <a:rPr lang="en-US" sz="2800"/>
              <a:t> X 0.01 </a:t>
            </a:r>
            <a:endParaRPr lang="en-US" sz="2800" u="sng"/>
          </a:p>
          <a:p>
            <a:pPr algn="just"/>
            <a:r>
              <a:rPr lang="en-US" sz="2800"/>
              <a:t>     n</a:t>
            </a:r>
            <a:r>
              <a:rPr lang="en-US" sz="2800" baseline="-25000"/>
              <a:t>2</a:t>
            </a:r>
            <a:r>
              <a:rPr lang="en-US" sz="2800"/>
              <a:t>        n</a:t>
            </a:r>
            <a:r>
              <a:rPr lang="en-US" sz="2800" baseline="-25000"/>
              <a:t>4</a:t>
            </a:r>
            <a:r>
              <a:rPr lang="en-US" sz="2800"/>
              <a:t>                   V</a:t>
            </a:r>
            <a:r>
              <a:rPr lang="en-US" sz="2800" baseline="-25000"/>
              <a:t>4</a:t>
            </a:r>
            <a:r>
              <a:rPr lang="en-US" sz="2800"/>
              <a:t>        20       x                 </a:t>
            </a:r>
          </a:p>
          <a:p>
            <a:pPr algn="just"/>
            <a:r>
              <a:rPr lang="en-US" sz="2800"/>
              <a:t>V</a:t>
            </a:r>
            <a:r>
              <a:rPr lang="en-US" sz="2800" baseline="-25000"/>
              <a:t>2</a:t>
            </a:r>
            <a:r>
              <a:rPr lang="en-US" sz="2800"/>
              <a:t>= volume of EDTA </a:t>
            </a:r>
          </a:p>
          <a:p>
            <a:pPr algn="just"/>
            <a:r>
              <a:rPr lang="en-US" sz="2800"/>
              <a:t>M</a:t>
            </a:r>
            <a:r>
              <a:rPr lang="en-US" sz="2800" baseline="-25000"/>
              <a:t>2</a:t>
            </a:r>
            <a:r>
              <a:rPr lang="en-US" sz="2800"/>
              <a:t>= molarity of EDTA </a:t>
            </a:r>
          </a:p>
          <a:p>
            <a:pPr algn="just"/>
            <a:r>
              <a:rPr lang="en-US" sz="2800"/>
              <a:t>V</a:t>
            </a:r>
            <a:r>
              <a:rPr lang="en-US" sz="2800" baseline="-25000"/>
              <a:t>4</a:t>
            </a:r>
            <a:r>
              <a:rPr lang="en-US" sz="2800"/>
              <a:t> = volume of water sample containing permanent hardness (100 ml) </a:t>
            </a:r>
          </a:p>
          <a:p>
            <a:pPr algn="just"/>
            <a:r>
              <a:rPr lang="en-US" sz="2800"/>
              <a:t>M</a:t>
            </a:r>
            <a:r>
              <a:rPr lang="en-US" sz="2800" baseline="-25000"/>
              <a:t>4</a:t>
            </a:r>
            <a:r>
              <a:rPr lang="en-US" sz="2800"/>
              <a:t>= Molarity of water sample containing permanent hardness </a:t>
            </a:r>
          </a:p>
          <a:p>
            <a:pPr algn="just"/>
            <a:endParaRPr lang="en-US" sz="1200"/>
          </a:p>
          <a:p>
            <a:pPr algn="just"/>
            <a:r>
              <a:rPr lang="en-US" sz="2800">
                <a:solidFill>
                  <a:srgbClr val="FF0000"/>
                </a:solidFill>
              </a:rPr>
              <a:t>Permanent Hardness </a:t>
            </a:r>
            <a:r>
              <a:rPr lang="en-US" sz="2800"/>
              <a:t>Of The Water Sample</a:t>
            </a:r>
          </a:p>
          <a:p>
            <a:pPr algn="just"/>
            <a:r>
              <a:rPr lang="en-US" sz="2800"/>
              <a:t>= M</a:t>
            </a:r>
            <a:r>
              <a:rPr lang="en-US" sz="2800" baseline="-25000"/>
              <a:t>4</a:t>
            </a:r>
            <a:r>
              <a:rPr lang="en-US" sz="2800"/>
              <a:t> x 100 x 1000 ppm </a:t>
            </a:r>
          </a:p>
          <a:p>
            <a:pPr algn="just"/>
            <a:r>
              <a:rPr lang="en-US" sz="2800"/>
              <a:t>= z/ x X 1000ppm</a:t>
            </a:r>
          </a:p>
        </p:txBody>
      </p:sp>
    </p:spTree>
    <p:extLst>
      <p:ext uri="{BB962C8B-B14F-4D97-AF65-F5344CB8AC3E}">
        <p14:creationId xmlns:p14="http://schemas.microsoft.com/office/powerpoint/2010/main" val="39412082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533400"/>
            <a:ext cx="8077200" cy="3231654"/>
          </a:xfrm>
          <a:prstGeom prst="rect">
            <a:avLst/>
          </a:prstGeom>
        </p:spPr>
        <p:txBody>
          <a:bodyPr wrap="square">
            <a:spAutoFit/>
          </a:bodyPr>
          <a:lstStyle/>
          <a:p>
            <a:pPr algn="just"/>
            <a:endParaRPr lang="en-US" sz="1200"/>
          </a:p>
          <a:p>
            <a:pPr algn="just"/>
            <a:r>
              <a:rPr lang="en-US" sz="3200">
                <a:solidFill>
                  <a:srgbClr val="FF0000"/>
                </a:solidFill>
              </a:rPr>
              <a:t>Temporary Hardness</a:t>
            </a:r>
            <a:r>
              <a:rPr lang="en-US" sz="3200"/>
              <a:t> Of The Water Sample</a:t>
            </a:r>
          </a:p>
          <a:p>
            <a:pPr algn="just"/>
            <a:r>
              <a:rPr lang="en-US" sz="3200"/>
              <a:t>= (Total Hardness – Permanent Hardness) </a:t>
            </a:r>
          </a:p>
          <a:p>
            <a:pPr algn="just"/>
            <a:r>
              <a:rPr lang="en-US" sz="3200"/>
              <a:t>= (M</a:t>
            </a:r>
            <a:r>
              <a:rPr lang="en-US" sz="3200" baseline="-25000"/>
              <a:t>3</a:t>
            </a:r>
            <a:r>
              <a:rPr lang="en-US" sz="3200"/>
              <a:t> x 100 x1000 – M</a:t>
            </a:r>
            <a:r>
              <a:rPr lang="en-US" sz="3200" baseline="-25000"/>
              <a:t>4</a:t>
            </a:r>
            <a:r>
              <a:rPr lang="en-US" sz="3200"/>
              <a:t> x 100 x1000) ppm</a:t>
            </a:r>
          </a:p>
          <a:p>
            <a:pPr algn="just"/>
            <a:r>
              <a:rPr lang="en-US" sz="3200"/>
              <a:t>= (M</a:t>
            </a:r>
            <a:r>
              <a:rPr lang="en-US" sz="3200" baseline="-25000"/>
              <a:t>3</a:t>
            </a:r>
            <a:r>
              <a:rPr lang="en-US" sz="3200"/>
              <a:t> – M</a:t>
            </a:r>
            <a:r>
              <a:rPr lang="en-US" sz="3200" baseline="-25000"/>
              <a:t>4</a:t>
            </a:r>
            <a:r>
              <a:rPr lang="en-US" sz="3200"/>
              <a:t>) x 100 x1000 ppm</a:t>
            </a:r>
          </a:p>
          <a:p>
            <a:pPr algn="just"/>
            <a:r>
              <a:rPr lang="en-US" sz="3200"/>
              <a:t>= </a:t>
            </a:r>
            <a:r>
              <a:rPr lang="en-US" sz="3200" u="sng"/>
              <a:t>(y-z)</a:t>
            </a:r>
            <a:r>
              <a:rPr lang="en-US" sz="3200"/>
              <a:t> X 1000 ppm</a:t>
            </a:r>
          </a:p>
          <a:p>
            <a:pPr algn="just"/>
            <a:r>
              <a:rPr lang="en-US" sz="3200"/>
              <a:t>     x</a:t>
            </a:r>
          </a:p>
        </p:txBody>
      </p:sp>
    </p:spTree>
    <p:extLst>
      <p:ext uri="{BB962C8B-B14F-4D97-AF65-F5344CB8AC3E}">
        <p14:creationId xmlns:p14="http://schemas.microsoft.com/office/powerpoint/2010/main" val="8200920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305800" cy="5016758"/>
          </a:xfrm>
          <a:prstGeom prst="rect">
            <a:avLst/>
          </a:prstGeom>
        </p:spPr>
        <p:txBody>
          <a:bodyPr wrap="square">
            <a:spAutoFit/>
          </a:bodyPr>
          <a:lstStyle/>
          <a:p>
            <a:pPr algn="just"/>
            <a:r>
              <a:rPr lang="en-US" sz="3200" b="1"/>
              <a:t>Problem:</a:t>
            </a:r>
          </a:p>
          <a:p>
            <a:pPr algn="just"/>
            <a:r>
              <a:rPr lang="en-US" sz="3200"/>
              <a:t>1 gm of CaCO</a:t>
            </a:r>
            <a:r>
              <a:rPr lang="en-US" sz="3200" baseline="-25000"/>
              <a:t>3</a:t>
            </a:r>
            <a:r>
              <a:rPr lang="en-US" sz="3200"/>
              <a:t> was dissolved in HCl and the solution was made </a:t>
            </a:r>
            <a:r>
              <a:rPr lang="en-US" sz="3200" err="1"/>
              <a:t>upto</a:t>
            </a:r>
            <a:r>
              <a:rPr lang="en-US" sz="3200"/>
              <a:t> 1 Lit with distilled water. 50 ml of the above solution required 30 ml of EDTA solution for titration. 50 ml of hard water sample required 40 ml of the same solution of EDTA for titration. 50 ml of the hard water after boiling, filtering, etc. required 30 ml of the same EDTA solution for titration. Calculate the temporary hardness of the water. </a:t>
            </a:r>
          </a:p>
        </p:txBody>
      </p:sp>
    </p:spTree>
    <p:extLst>
      <p:ext uri="{BB962C8B-B14F-4D97-AF65-F5344CB8AC3E}">
        <p14:creationId xmlns:p14="http://schemas.microsoft.com/office/powerpoint/2010/main" val="27642352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52400"/>
            <a:ext cx="8413031" cy="6001643"/>
          </a:xfrm>
          <a:prstGeom prst="rect">
            <a:avLst/>
          </a:prstGeom>
        </p:spPr>
        <p:txBody>
          <a:bodyPr wrap="square">
            <a:spAutoFit/>
          </a:bodyPr>
          <a:lstStyle/>
          <a:p>
            <a:pPr algn="just"/>
            <a:r>
              <a:rPr lang="en-US" sz="2800" err="1"/>
              <a:t>Soln</a:t>
            </a:r>
            <a:r>
              <a:rPr lang="en-US" sz="2800"/>
              <a:t>: </a:t>
            </a:r>
          </a:p>
          <a:p>
            <a:pPr algn="just"/>
            <a:r>
              <a:rPr lang="en-US" sz="2800">
                <a:solidFill>
                  <a:srgbClr val="FF0000"/>
                </a:solidFill>
              </a:rPr>
              <a:t>Molarity of CaCO</a:t>
            </a:r>
            <a:r>
              <a:rPr lang="en-US" sz="2800" baseline="-25000">
                <a:solidFill>
                  <a:srgbClr val="FF0000"/>
                </a:solidFill>
              </a:rPr>
              <a:t>3 </a:t>
            </a:r>
            <a:r>
              <a:rPr lang="en-US" sz="2800">
                <a:solidFill>
                  <a:srgbClr val="FF0000"/>
                </a:solidFill>
              </a:rPr>
              <a:t>(SHW) solution </a:t>
            </a:r>
            <a:r>
              <a:rPr lang="en-US" sz="2800"/>
              <a:t>(M</a:t>
            </a:r>
            <a:r>
              <a:rPr lang="en-US" sz="2800" baseline="-25000"/>
              <a:t>1</a:t>
            </a:r>
            <a:r>
              <a:rPr lang="en-US" sz="2800"/>
              <a:t>)= 1/100= 0.01 M </a:t>
            </a:r>
            <a:r>
              <a:rPr lang="en-US" sz="2800">
                <a:solidFill>
                  <a:srgbClr val="FF0000"/>
                </a:solidFill>
              </a:rPr>
              <a:t>Molarity of EDTA solution </a:t>
            </a:r>
            <a:r>
              <a:rPr lang="en-US" sz="2800"/>
              <a:t>(M</a:t>
            </a:r>
            <a:r>
              <a:rPr lang="en-US" sz="2800" baseline="-25000"/>
              <a:t>2</a:t>
            </a:r>
            <a:r>
              <a:rPr lang="en-US" sz="2800"/>
              <a:t> ) = V</a:t>
            </a:r>
            <a:r>
              <a:rPr lang="en-US" sz="2800" baseline="-25000"/>
              <a:t>1</a:t>
            </a:r>
            <a:r>
              <a:rPr lang="en-US" sz="2800"/>
              <a:t> M</a:t>
            </a:r>
            <a:r>
              <a:rPr lang="en-US" sz="2800" baseline="-25000"/>
              <a:t>1</a:t>
            </a:r>
            <a:r>
              <a:rPr lang="en-US" sz="2800"/>
              <a:t>/ V</a:t>
            </a:r>
            <a:r>
              <a:rPr lang="en-US" sz="2800" baseline="-25000"/>
              <a:t>2</a:t>
            </a:r>
            <a:r>
              <a:rPr lang="en-US" sz="2800"/>
              <a:t> </a:t>
            </a:r>
          </a:p>
          <a:p>
            <a:pPr algn="just"/>
            <a:endParaRPr lang="en-US" sz="1200"/>
          </a:p>
          <a:p>
            <a:pPr algn="just"/>
            <a:r>
              <a:rPr lang="en-US" sz="2800"/>
              <a:t>V</a:t>
            </a:r>
            <a:r>
              <a:rPr lang="en-US" sz="2800" baseline="-25000"/>
              <a:t>1</a:t>
            </a:r>
            <a:r>
              <a:rPr lang="en-US" sz="2800"/>
              <a:t>= volume of CaCO</a:t>
            </a:r>
            <a:r>
              <a:rPr lang="en-US" sz="2800" baseline="-25000"/>
              <a:t>3</a:t>
            </a:r>
            <a:r>
              <a:rPr lang="en-US" sz="2800"/>
              <a:t> solution = 50 ml </a:t>
            </a:r>
          </a:p>
          <a:p>
            <a:pPr algn="just"/>
            <a:r>
              <a:rPr lang="en-US" sz="2800"/>
              <a:t>M</a:t>
            </a:r>
            <a:r>
              <a:rPr lang="en-US" sz="2800" baseline="-25000"/>
              <a:t>1</a:t>
            </a:r>
            <a:r>
              <a:rPr lang="en-US" sz="2800"/>
              <a:t>= Molarity of CaCO</a:t>
            </a:r>
            <a:r>
              <a:rPr lang="en-US" sz="2800" baseline="-25000"/>
              <a:t>3</a:t>
            </a:r>
            <a:r>
              <a:rPr lang="en-US" sz="2800"/>
              <a:t> solution = 0.01 M </a:t>
            </a:r>
          </a:p>
          <a:p>
            <a:pPr algn="just"/>
            <a:r>
              <a:rPr lang="en-US" sz="2800"/>
              <a:t>V</a:t>
            </a:r>
            <a:r>
              <a:rPr lang="en-US" sz="2800" baseline="-25000"/>
              <a:t>2</a:t>
            </a:r>
            <a:r>
              <a:rPr lang="en-US" sz="2800"/>
              <a:t>= volume of EDTA = 30 ml</a:t>
            </a:r>
          </a:p>
          <a:p>
            <a:pPr algn="just"/>
            <a:endParaRPr lang="en-US" sz="1200"/>
          </a:p>
          <a:p>
            <a:pPr algn="just"/>
            <a:r>
              <a:rPr lang="pt-BR" sz="2800"/>
              <a:t>M</a:t>
            </a:r>
            <a:r>
              <a:rPr lang="pt-BR" sz="2800" baseline="-25000"/>
              <a:t>2</a:t>
            </a:r>
            <a:r>
              <a:rPr lang="pt-BR" sz="2800"/>
              <a:t>= 50 x 0.01/ 30 = 0.016 M</a:t>
            </a:r>
          </a:p>
          <a:p>
            <a:pPr algn="just"/>
            <a:endParaRPr lang="pt-BR" sz="1200"/>
          </a:p>
          <a:p>
            <a:pPr algn="just"/>
            <a:r>
              <a:rPr lang="en-US" sz="2800">
                <a:solidFill>
                  <a:srgbClr val="FF0000"/>
                </a:solidFill>
              </a:rPr>
              <a:t>Molarity of Hard Water</a:t>
            </a:r>
            <a:r>
              <a:rPr lang="en-US" sz="2800"/>
              <a:t> Sample Sol.(M</a:t>
            </a:r>
            <a:r>
              <a:rPr lang="en-US" sz="2800" baseline="-25000"/>
              <a:t>3</a:t>
            </a:r>
            <a:r>
              <a:rPr lang="en-US" sz="2800"/>
              <a:t> )= V</a:t>
            </a:r>
            <a:r>
              <a:rPr lang="en-US" sz="2800" baseline="-25000"/>
              <a:t>2</a:t>
            </a:r>
            <a:r>
              <a:rPr lang="en-US" sz="2800"/>
              <a:t>M</a:t>
            </a:r>
            <a:r>
              <a:rPr lang="en-US" sz="2800" baseline="-25000"/>
              <a:t>2</a:t>
            </a:r>
            <a:r>
              <a:rPr lang="en-US" sz="2800"/>
              <a:t>/ V</a:t>
            </a:r>
            <a:r>
              <a:rPr lang="en-US" sz="2800" baseline="-25000"/>
              <a:t>3</a:t>
            </a:r>
          </a:p>
          <a:p>
            <a:pPr algn="just"/>
            <a:endParaRPr lang="en-US" sz="1200"/>
          </a:p>
          <a:p>
            <a:pPr algn="just"/>
            <a:r>
              <a:rPr lang="en-US" sz="2800"/>
              <a:t>V</a:t>
            </a:r>
            <a:r>
              <a:rPr lang="en-US" sz="2800" baseline="-25000"/>
              <a:t>2</a:t>
            </a:r>
            <a:r>
              <a:rPr lang="en-US" sz="2800"/>
              <a:t>= volume of EDTA = 40 ml </a:t>
            </a:r>
          </a:p>
          <a:p>
            <a:pPr algn="just"/>
            <a:r>
              <a:rPr lang="en-US" sz="2800"/>
              <a:t>M</a:t>
            </a:r>
            <a:r>
              <a:rPr lang="en-US" sz="2800" baseline="-25000"/>
              <a:t>2</a:t>
            </a:r>
            <a:r>
              <a:rPr lang="en-US" sz="2800"/>
              <a:t>= Molarity of EDTA = 0.016 M </a:t>
            </a:r>
          </a:p>
          <a:p>
            <a:pPr algn="just"/>
            <a:r>
              <a:rPr lang="en-US" sz="2800"/>
              <a:t>V</a:t>
            </a:r>
            <a:r>
              <a:rPr lang="en-US" sz="2800" baseline="-25000"/>
              <a:t>3</a:t>
            </a:r>
            <a:r>
              <a:rPr lang="en-US" sz="2800"/>
              <a:t>= volume of hard water sample= 50 ml </a:t>
            </a:r>
          </a:p>
          <a:p>
            <a:pPr algn="just"/>
            <a:r>
              <a:rPr lang="en-US" sz="2800"/>
              <a:t>M</a:t>
            </a:r>
            <a:r>
              <a:rPr lang="en-US" sz="2800" baseline="-25000"/>
              <a:t>3</a:t>
            </a:r>
            <a:r>
              <a:rPr lang="en-US" sz="2800"/>
              <a:t>= 40 x 0.016/ 50 = 0.0128 M </a:t>
            </a:r>
          </a:p>
        </p:txBody>
      </p:sp>
    </p:spTree>
    <p:extLst>
      <p:ext uri="{BB962C8B-B14F-4D97-AF65-F5344CB8AC3E}">
        <p14:creationId xmlns:p14="http://schemas.microsoft.com/office/powerpoint/2010/main" val="1231749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533400"/>
            <a:ext cx="8153400" cy="5693866"/>
          </a:xfrm>
          <a:prstGeom prst="rect">
            <a:avLst/>
          </a:prstGeom>
        </p:spPr>
        <p:txBody>
          <a:bodyPr wrap="square">
            <a:spAutoFit/>
          </a:bodyPr>
          <a:lstStyle/>
          <a:p>
            <a:pPr algn="just"/>
            <a:r>
              <a:rPr lang="en-US" sz="3200">
                <a:solidFill>
                  <a:srgbClr val="FF0000"/>
                </a:solidFill>
              </a:rPr>
              <a:t>Total Hardness </a:t>
            </a:r>
            <a:r>
              <a:rPr lang="en-US" sz="3200"/>
              <a:t>of water </a:t>
            </a:r>
          </a:p>
          <a:p>
            <a:pPr algn="just"/>
            <a:r>
              <a:rPr lang="en-US" sz="3200"/>
              <a:t>= 0.0128 x 100 x 1000 </a:t>
            </a:r>
          </a:p>
          <a:p>
            <a:pPr algn="just"/>
            <a:r>
              <a:rPr lang="en-US" sz="3200"/>
              <a:t>= 1280 ppm </a:t>
            </a:r>
          </a:p>
          <a:p>
            <a:pPr algn="just"/>
            <a:endParaRPr lang="en-US" sz="1200"/>
          </a:p>
          <a:p>
            <a:pPr algn="just"/>
            <a:r>
              <a:rPr lang="en-US" sz="3200">
                <a:solidFill>
                  <a:srgbClr val="FF0000"/>
                </a:solidFill>
              </a:rPr>
              <a:t>Permanent hardness </a:t>
            </a:r>
            <a:r>
              <a:rPr lang="en-US" sz="3200"/>
              <a:t>of water: = </a:t>
            </a:r>
            <a:r>
              <a:rPr lang="en-US" sz="3200" u="sng"/>
              <a:t>V</a:t>
            </a:r>
            <a:r>
              <a:rPr lang="en-US" sz="3200" u="sng" baseline="-25000"/>
              <a:t>4</a:t>
            </a:r>
            <a:r>
              <a:rPr lang="en-US" sz="3200" u="sng"/>
              <a:t> M</a:t>
            </a:r>
            <a:r>
              <a:rPr lang="en-US" sz="3200" u="sng" baseline="-25000"/>
              <a:t>4</a:t>
            </a:r>
            <a:r>
              <a:rPr lang="en-US" sz="3200" u="sng"/>
              <a:t> </a:t>
            </a:r>
            <a:r>
              <a:rPr lang="en-US" sz="3200"/>
              <a:t>= </a:t>
            </a:r>
            <a:r>
              <a:rPr lang="en-US" sz="3200" u="sng"/>
              <a:t>V</a:t>
            </a:r>
            <a:r>
              <a:rPr lang="en-US" sz="3200" u="sng" baseline="-25000"/>
              <a:t>2</a:t>
            </a:r>
            <a:r>
              <a:rPr lang="en-US" sz="3200" u="sng"/>
              <a:t> M</a:t>
            </a:r>
            <a:r>
              <a:rPr lang="en-US" sz="3200" u="sng" baseline="-25000"/>
              <a:t>2</a:t>
            </a:r>
            <a:r>
              <a:rPr lang="en-US" sz="3200"/>
              <a:t>                      </a:t>
            </a:r>
          </a:p>
          <a:p>
            <a:pPr algn="just"/>
            <a:r>
              <a:rPr lang="en-US" sz="3200"/>
              <a:t>                                                              n</a:t>
            </a:r>
            <a:r>
              <a:rPr lang="en-US" sz="3200" baseline="-25000"/>
              <a:t>4</a:t>
            </a:r>
            <a:r>
              <a:rPr lang="en-US" sz="3200"/>
              <a:t>        n</a:t>
            </a:r>
            <a:r>
              <a:rPr lang="en-US" sz="3200" baseline="-25000"/>
              <a:t>2</a:t>
            </a:r>
            <a:r>
              <a:rPr lang="en-US" sz="3200"/>
              <a:t> </a:t>
            </a:r>
          </a:p>
          <a:p>
            <a:pPr algn="just"/>
            <a:r>
              <a:rPr lang="en-US" sz="3200"/>
              <a:t>M</a:t>
            </a:r>
            <a:r>
              <a:rPr lang="en-US" sz="3200" baseline="-25000"/>
              <a:t>4</a:t>
            </a:r>
            <a:r>
              <a:rPr lang="en-US" sz="3200"/>
              <a:t> = V</a:t>
            </a:r>
            <a:r>
              <a:rPr lang="en-US" sz="3200" baseline="-25000"/>
              <a:t>2</a:t>
            </a:r>
            <a:r>
              <a:rPr lang="en-US" sz="3200"/>
              <a:t>M</a:t>
            </a:r>
            <a:r>
              <a:rPr lang="en-US" sz="3200" baseline="-25000"/>
              <a:t>2</a:t>
            </a:r>
            <a:r>
              <a:rPr lang="en-US" sz="3200"/>
              <a:t>/ V</a:t>
            </a:r>
            <a:r>
              <a:rPr lang="en-US" sz="3200" baseline="-25000"/>
              <a:t>4</a:t>
            </a:r>
          </a:p>
          <a:p>
            <a:pPr algn="just"/>
            <a:r>
              <a:rPr lang="en-US" sz="3200"/>
              <a:t>n</a:t>
            </a:r>
            <a:r>
              <a:rPr lang="en-US" sz="3200" baseline="-25000"/>
              <a:t>4</a:t>
            </a:r>
            <a:r>
              <a:rPr lang="en-US" sz="3200"/>
              <a:t>=1; V</a:t>
            </a:r>
            <a:r>
              <a:rPr lang="en-US" sz="3200" baseline="-25000"/>
              <a:t>2</a:t>
            </a:r>
            <a:r>
              <a:rPr lang="en-US" sz="3200"/>
              <a:t>= volume of EDTA = 30 ml </a:t>
            </a:r>
          </a:p>
          <a:p>
            <a:pPr algn="just"/>
            <a:r>
              <a:rPr lang="en-US" sz="3200"/>
              <a:t>n</a:t>
            </a:r>
            <a:r>
              <a:rPr lang="en-US" sz="3200" baseline="-25000"/>
              <a:t>2</a:t>
            </a:r>
            <a:r>
              <a:rPr lang="en-US" sz="3200"/>
              <a:t>=1; M</a:t>
            </a:r>
            <a:r>
              <a:rPr lang="en-US" sz="3200" baseline="-25000"/>
              <a:t>2</a:t>
            </a:r>
            <a:r>
              <a:rPr lang="en-US" sz="3200"/>
              <a:t>= molarity of EDTA = 0.016 </a:t>
            </a:r>
          </a:p>
          <a:p>
            <a:pPr algn="just"/>
            <a:r>
              <a:rPr lang="en-US" sz="3200"/>
              <a:t>V</a:t>
            </a:r>
            <a:r>
              <a:rPr lang="en-US" sz="3200" baseline="-25000"/>
              <a:t>4</a:t>
            </a:r>
            <a:r>
              <a:rPr lang="en-US" sz="3200"/>
              <a:t>= volume of permanent hardness containing water = 50 </a:t>
            </a:r>
          </a:p>
          <a:p>
            <a:pPr algn="just"/>
            <a:r>
              <a:rPr lang="en-US" sz="3200"/>
              <a:t>M</a:t>
            </a:r>
            <a:r>
              <a:rPr lang="en-US" sz="3200" baseline="-25000"/>
              <a:t>4</a:t>
            </a:r>
            <a:r>
              <a:rPr lang="en-US" sz="3200"/>
              <a:t> = 30 x 0.016/ 50= 0.0096 M</a:t>
            </a:r>
          </a:p>
        </p:txBody>
      </p:sp>
    </p:spTree>
    <p:extLst>
      <p:ext uri="{BB962C8B-B14F-4D97-AF65-F5344CB8AC3E}">
        <p14:creationId xmlns:p14="http://schemas.microsoft.com/office/powerpoint/2010/main" val="3306148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533400"/>
            <a:ext cx="8229600" cy="2739211"/>
          </a:xfrm>
          <a:prstGeom prst="rect">
            <a:avLst/>
          </a:prstGeom>
        </p:spPr>
        <p:txBody>
          <a:bodyPr wrap="square">
            <a:spAutoFit/>
          </a:bodyPr>
          <a:lstStyle/>
          <a:p>
            <a:pPr algn="just"/>
            <a:r>
              <a:rPr lang="en-US" sz="3200"/>
              <a:t>Permanent hardness of water</a:t>
            </a:r>
          </a:p>
          <a:p>
            <a:pPr algn="just"/>
            <a:r>
              <a:rPr lang="en-US" sz="3200"/>
              <a:t> = 0.0096 x 100 x 1000 = 960 ppm </a:t>
            </a:r>
          </a:p>
          <a:p>
            <a:pPr algn="just"/>
            <a:endParaRPr lang="en-US" sz="1200"/>
          </a:p>
          <a:p>
            <a:pPr algn="just"/>
            <a:r>
              <a:rPr lang="en-US" sz="3200">
                <a:solidFill>
                  <a:srgbClr val="FF0000"/>
                </a:solidFill>
              </a:rPr>
              <a:t>Temporary hardness</a:t>
            </a:r>
          </a:p>
          <a:p>
            <a:pPr algn="just"/>
            <a:r>
              <a:rPr lang="en-US" sz="3200"/>
              <a:t> = Total hardness – Permanent hardness </a:t>
            </a:r>
          </a:p>
          <a:p>
            <a:pPr algn="just"/>
            <a:r>
              <a:rPr lang="en-US" sz="3200"/>
              <a:t>= 1280 – 960 = 320 ppm</a:t>
            </a:r>
          </a:p>
        </p:txBody>
      </p:sp>
    </p:spTree>
    <p:extLst>
      <p:ext uri="{BB962C8B-B14F-4D97-AF65-F5344CB8AC3E}">
        <p14:creationId xmlns:p14="http://schemas.microsoft.com/office/powerpoint/2010/main" val="3979329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83CBFB481E3E0418D98C9B3AD2784F7" ma:contentTypeVersion="10" ma:contentTypeDescription="Create a new document." ma:contentTypeScope="" ma:versionID="1a37030cac743bad4e707321fe2be443">
  <xsd:schema xmlns:xsd="http://www.w3.org/2001/XMLSchema" xmlns:xs="http://www.w3.org/2001/XMLSchema" xmlns:p="http://schemas.microsoft.com/office/2006/metadata/properties" xmlns:ns2="9364347d-860f-4296-84c5-299646d82771" targetNamespace="http://schemas.microsoft.com/office/2006/metadata/properties" ma:root="true" ma:fieldsID="9f6b1841e9d209d64c187f60cdc13e52" ns2:_="">
    <xsd:import namespace="9364347d-860f-4296-84c5-299646d8277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64347d-860f-4296-84c5-299646d827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E2C346-5F2F-4CB5-8EB4-E3B1AAC693C8}">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9364347d-860f-4296-84c5-299646d82771"/>
    <ds:schemaRef ds:uri="http://www.w3.org/XML/1998/namespace"/>
    <ds:schemaRef ds:uri="http://purl.org/dc/dcmitype/"/>
  </ds:schemaRefs>
</ds:datastoreItem>
</file>

<file path=customXml/itemProps2.xml><?xml version="1.0" encoding="utf-8"?>
<ds:datastoreItem xmlns:ds="http://schemas.openxmlformats.org/officeDocument/2006/customXml" ds:itemID="{F2D10503-3D73-4D0D-A889-97CB1EC2ECCF}">
  <ds:schemaRefs>
    <ds:schemaRef ds:uri="9364347d-860f-4296-84c5-299646d8277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5BE558A-FBE2-440E-8B60-36AFC93F48E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154</TotalTime>
  <Words>2697</Words>
  <Application>Microsoft Office PowerPoint</Application>
  <PresentationFormat>On-screen Show (4:3)</PresentationFormat>
  <Paragraphs>354</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Water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FACULTY</cp:lastModifiedBy>
  <cp:revision>17</cp:revision>
  <dcterms:created xsi:type="dcterms:W3CDTF">2006-08-16T00:00:00Z</dcterms:created>
  <dcterms:modified xsi:type="dcterms:W3CDTF">2022-06-04T05:36:02Z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0x010100783CBFB481E3E0418D98C9B3AD2784F7</vt:lpwstr>
  </property>
</Properties>
</file>