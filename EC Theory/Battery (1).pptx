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4"/>
  </p:notesMasterIdLst>
  <p:sldIdLst>
    <p:sldId id="256" r:id="rId2"/>
    <p:sldId id="257" r:id="rId3"/>
    <p:sldId id="259" r:id="rId4"/>
    <p:sldId id="260" r:id="rId5"/>
    <p:sldId id="261" r:id="rId6"/>
    <p:sldId id="262" r:id="rId7"/>
    <p:sldId id="266" r:id="rId8"/>
    <p:sldId id="288" r:id="rId9"/>
    <p:sldId id="300" r:id="rId10"/>
    <p:sldId id="301" r:id="rId11"/>
    <p:sldId id="302" r:id="rId12"/>
    <p:sldId id="303" r:id="rId13"/>
    <p:sldId id="304" r:id="rId14"/>
    <p:sldId id="305" r:id="rId15"/>
    <p:sldId id="293" r:id="rId16"/>
    <p:sldId id="294" r:id="rId17"/>
    <p:sldId id="295" r:id="rId18"/>
    <p:sldId id="296" r:id="rId19"/>
    <p:sldId id="297" r:id="rId20"/>
    <p:sldId id="298" r:id="rId21"/>
    <p:sldId id="299" r:id="rId22"/>
    <p:sldId id="290" r:id="rId23"/>
    <p:sldId id="276" r:id="rId24"/>
    <p:sldId id="277" r:id="rId25"/>
    <p:sldId id="278" r:id="rId26"/>
    <p:sldId id="279" r:id="rId27"/>
    <p:sldId id="280" r:id="rId28"/>
    <p:sldId id="281" r:id="rId29"/>
    <p:sldId id="282" r:id="rId30"/>
    <p:sldId id="283" r:id="rId31"/>
    <p:sldId id="284" r:id="rId32"/>
    <p:sldId id="285"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7E70A4-C344-4C52-8DAC-96F467AD49FE}" type="datetimeFigureOut">
              <a:rPr lang="en-US" smtClean="0"/>
              <a:t>30/04/2022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3C252E-255B-4948-B0BC-71E14CEB49A8}" type="slidenum">
              <a:rPr lang="en-US" smtClean="0"/>
              <a:t>‹#›</a:t>
            </a:fld>
            <a:endParaRPr lang="en-US"/>
          </a:p>
        </p:txBody>
      </p:sp>
    </p:spTree>
    <p:extLst>
      <p:ext uri="{BB962C8B-B14F-4D97-AF65-F5344CB8AC3E}">
        <p14:creationId xmlns:p14="http://schemas.microsoft.com/office/powerpoint/2010/main" val="3853032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93C252E-255B-4948-B0BC-71E14CEB49A8}" type="slidenum">
              <a:rPr lang="en-US" smtClean="0"/>
              <a:t>14</a:t>
            </a:fld>
            <a:endParaRPr lang="en-US"/>
          </a:p>
        </p:txBody>
      </p:sp>
    </p:spTree>
    <p:extLst>
      <p:ext uri="{BB962C8B-B14F-4D97-AF65-F5344CB8AC3E}">
        <p14:creationId xmlns:p14="http://schemas.microsoft.com/office/powerpoint/2010/main" val="35655168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73DD6EEE-5179-40F0-B879-0B4493EB8B8C}" type="datetimeFigureOut">
              <a:rPr lang="en-US" smtClean="0"/>
              <a:pPr/>
              <a:t>30/04/2022</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0785B31C-4E7A-45BD-BA68-1ED040E8F812}"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73DD6EEE-5179-40F0-B879-0B4493EB8B8C}" type="datetimeFigureOut">
              <a:rPr lang="en-US" smtClean="0"/>
              <a:pPr/>
              <a:t>30/04/2022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785B31C-4E7A-45BD-BA68-1ED040E8F81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73DD6EEE-5179-40F0-B879-0B4493EB8B8C}" type="datetimeFigureOut">
              <a:rPr lang="en-US" smtClean="0"/>
              <a:pPr/>
              <a:t>30/04/2022</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0785B31C-4E7A-45BD-BA68-1ED040E8F812}"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73DD6EEE-5179-40F0-B879-0B4493EB8B8C}" type="datetimeFigureOut">
              <a:rPr lang="en-US" smtClean="0"/>
              <a:pPr/>
              <a:t>30/04/2022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785B31C-4E7A-45BD-BA68-1ED040E8F81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73DD6EEE-5179-40F0-B879-0B4493EB8B8C}" type="datetimeFigureOut">
              <a:rPr lang="en-US" smtClean="0"/>
              <a:pPr/>
              <a:t>30/04/2022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0785B31C-4E7A-45BD-BA68-1ED040E8F81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73DD6EEE-5179-40F0-B879-0B4493EB8B8C}" type="datetimeFigureOut">
              <a:rPr lang="en-US" smtClean="0"/>
              <a:pPr/>
              <a:t>30/04/2022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0785B31C-4E7A-45BD-BA68-1ED040E8F81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73DD6EEE-5179-40F0-B879-0B4493EB8B8C}" type="datetimeFigureOut">
              <a:rPr lang="en-US" smtClean="0"/>
              <a:pPr/>
              <a:t>30/04/2022</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0785B31C-4E7A-45BD-BA68-1ED040E8F81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73DD6EEE-5179-40F0-B879-0B4493EB8B8C}" type="datetimeFigureOut">
              <a:rPr lang="en-US" smtClean="0"/>
              <a:pPr/>
              <a:t>30/04/2022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785B31C-4E7A-45BD-BA68-1ED040E8F81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73DD6EEE-5179-40F0-B879-0B4493EB8B8C}" type="datetimeFigureOut">
              <a:rPr lang="en-US" smtClean="0"/>
              <a:pPr/>
              <a:t>30/04/2022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785B31C-4E7A-45BD-BA68-1ED040E8F812}"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73DD6EEE-5179-40F0-B879-0B4493EB8B8C}" type="datetimeFigureOut">
              <a:rPr lang="en-US" smtClean="0"/>
              <a:pPr/>
              <a:t>30/04/2022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785B31C-4E7A-45BD-BA68-1ED040E8F81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73DD6EEE-5179-40F0-B879-0B4493EB8B8C}" type="datetimeFigureOut">
              <a:rPr lang="en-US" smtClean="0"/>
              <a:pPr/>
              <a:t>30/04/2022</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0785B31C-4E7A-45BD-BA68-1ED040E8F81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73DD6EEE-5179-40F0-B879-0B4493EB8B8C}" type="datetimeFigureOut">
              <a:rPr lang="en-US" smtClean="0"/>
              <a:pPr/>
              <a:t>30/04/2022</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0785B31C-4E7A-45BD-BA68-1ED040E8F81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slideplayer.com/slide/9757938/31/images/2/Composition+of+a+Lead+Acid+Battery.jpg" TargetMode="External"/><Relationship Id="rId2" Type="http://schemas.openxmlformats.org/officeDocument/2006/relationships/hyperlink" Target="https://slideplayer.com/slide/9757938/31/images/1/Chemistry+of+a+Lead+Acid+Battery.jpg"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slideplayer.com/slide/9757938/31/images/3/Review+of+Acid+Terminology.jpg"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slideplayer.com/slide/9757938/31/images/5/for+understanding+In+general%2C+is+sulfuric+acid+considered+a+strong+or+weak+acid+Strong.+Why+is+sulfuric+acid+considered+to+be+strong.jpg" TargetMode="External"/><Relationship Id="rId2" Type="http://schemas.openxmlformats.org/officeDocument/2006/relationships/hyperlink" Target="https://slideplayer.com/slide/9757938/31/images/4/The+Electrolyte%3A+H2SO4+H2SO4+is+classified+as+a+strong+acid+%28completely+ionizes%29+but+that+is+not+exactly+true..jp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slideplayer.com/slide/9757938/31/images/7/Chemistry+of+Discharge+Phase.jpg" TargetMode="External"/><Relationship Id="rId2" Type="http://schemas.openxmlformats.org/officeDocument/2006/relationships/hyperlink" Target="https://slideplayer.com/slide/9757938/31/images/6/Lead+Acid+Batteries+are+rechargable.jp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slideplayer.com/slide/9757938/31/images/9/Chemistry+of+Charge+Phase.jpg" TargetMode="External"/><Relationship Id="rId2" Type="http://schemas.openxmlformats.org/officeDocument/2006/relationships/hyperlink" Target="https://slideplayer.com/slide/9757938/31/images/8/The+flow+of+electrons+%3D+ELECTRICITY%21.jpg" TargetMode="External"/><Relationship Id="rId1" Type="http://schemas.openxmlformats.org/officeDocument/2006/relationships/slideLayout" Target="../slideLayouts/slideLayout2.xml"/><Relationship Id="rId4" Type="http://schemas.openxmlformats.org/officeDocument/2006/relationships/hyperlink" Target="https://slideplayer.com/slide/9757938/31/images/10/for+understanding+What+metal+is+always+at+the+negative+plate+Pb.jp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lideplayer.com/slide/9757938/31/images/11/Why+do+batteries+die+Dead+Battery+New+Battery.jp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latin typeface="Algerian" pitchFamily="82" charset="0"/>
              </a:rPr>
              <a:t>SECONDARY BATTERIES</a:t>
            </a:r>
            <a:endParaRPr lang="en-US" sz="4800" dirty="0">
              <a:latin typeface="Algerian" pitchFamily="82" charset="0"/>
            </a:endParaRPr>
          </a:p>
        </p:txBody>
      </p:sp>
    </p:spTree>
  </p:cSld>
  <p:clrMapOvr>
    <a:masterClrMapping/>
  </p:clrMapOvr>
  <p:transition>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latin typeface="Algerian" pitchFamily="82" charset="0"/>
              </a:rPr>
              <a:t>INTRODUCTION</a:t>
            </a:r>
            <a:endParaRPr lang="en-US" sz="4400" dirty="0">
              <a:latin typeface="Algerian" pitchFamily="82" charset="0"/>
            </a:endParaRPr>
          </a:p>
        </p:txBody>
      </p:sp>
      <p:sp>
        <p:nvSpPr>
          <p:cNvPr id="3" name="Content Placeholder 2"/>
          <p:cNvSpPr>
            <a:spLocks noGrp="1"/>
          </p:cNvSpPr>
          <p:nvPr>
            <p:ph idx="1"/>
          </p:nvPr>
        </p:nvSpPr>
        <p:spPr/>
        <p:txBody>
          <a:bodyPr>
            <a:normAutofit/>
          </a:bodyPr>
          <a:lstStyle/>
          <a:p>
            <a:r>
              <a:rPr lang="en-US" sz="2400" dirty="0" smtClean="0">
                <a:latin typeface="Bell MT" pitchFamily="18" charset="0"/>
              </a:rPr>
              <a:t>Rechargeable batteries (also known as secondary cells) are batteries that potentially consist of reversible cell reactions that allow them to recharge, or regain their cell potential, through the work done by passing currents of electricity.</a:t>
            </a:r>
          </a:p>
          <a:p>
            <a:pPr>
              <a:buNone/>
            </a:pPr>
            <a:r>
              <a:rPr lang="en-US" sz="2200" dirty="0" smtClean="0">
                <a:latin typeface="Bell MT" pitchFamily="18" charset="0"/>
              </a:rPr>
              <a:t/>
            </a:r>
            <a:br>
              <a:rPr lang="en-US" sz="2200" dirty="0" smtClean="0">
                <a:latin typeface="Bell MT" pitchFamily="18" charset="0"/>
              </a:rPr>
            </a:br>
            <a:endParaRPr lang="en-US" sz="2200" dirty="0">
              <a:latin typeface="Bell MT" pitchFamily="18" charset="0"/>
            </a:endParaRPr>
          </a:p>
        </p:txBody>
      </p:sp>
    </p:spTree>
  </p:cSld>
  <p:clrMapOvr>
    <a:masterClrMapping/>
  </p:clrMapOvr>
  <p:transition>
    <p:blinds/>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latin typeface="Algerian" pitchFamily="82" charset="0"/>
              </a:rPr>
              <a:t>working</a:t>
            </a:r>
            <a:endParaRPr lang="en-US" sz="4400" dirty="0">
              <a:latin typeface="Algerian" pitchFamily="82" charset="0"/>
            </a:endParaRPr>
          </a:p>
        </p:txBody>
      </p:sp>
      <p:sp>
        <p:nvSpPr>
          <p:cNvPr id="3" name="Content Placeholder 2"/>
          <p:cNvSpPr>
            <a:spLocks noGrp="1"/>
          </p:cNvSpPr>
          <p:nvPr>
            <p:ph idx="1"/>
          </p:nvPr>
        </p:nvSpPr>
        <p:spPr/>
        <p:txBody>
          <a:bodyPr>
            <a:normAutofit/>
          </a:bodyPr>
          <a:lstStyle/>
          <a:p>
            <a:r>
              <a:rPr lang="en-US" sz="2400" dirty="0" smtClean="0">
                <a:latin typeface="Bell MT" pitchFamily="18" charset="0"/>
              </a:rPr>
              <a:t>Rechargeable (or secondary) batteries contain active materials that can be regenerated by charging. All batteries have positive and negative terminals, marked (+) and (-) respectively, and two corresponding electrodes.  The electrodes must not touch each other, and are separated by the electrolyte, which facilitates the flow of electric charge between the electrodes.  A collector conducts the charge to the battery's exterior and through the load.</a:t>
            </a:r>
          </a:p>
          <a:p>
            <a:pPr>
              <a:buNone/>
            </a:pPr>
            <a:endParaRPr lang="en-US" sz="2400" dirty="0">
              <a:latin typeface="Bell MT" pitchFamily="18" charset="0"/>
            </a:endParaRPr>
          </a:p>
        </p:txBody>
      </p:sp>
    </p:spTree>
  </p:cSld>
  <p:clrMapOvr>
    <a:masterClrMapping/>
  </p:clrMapOvr>
  <p:transition>
    <p:blinds/>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fontAlgn="base"/>
            <a:r>
              <a:rPr lang="en-US" sz="2400" dirty="0" smtClean="0">
                <a:latin typeface="Bell MT" pitchFamily="18" charset="0"/>
              </a:rPr>
              <a:t>When a battery is inserted into an electrical device, the device completes the circuit between the two terminals and triggers electrochemical reactions within the battery.  The anode undergoes an oxidation reaction with the electrolyte and releases electrons, while the cathode undergoes a reduction reaction and absorbs the free electrons.  The product of these two reactions is electricity, which is channeled out of the battery and into the device. </a:t>
            </a:r>
          </a:p>
          <a:p>
            <a:pPr fontAlgn="base">
              <a:buNone/>
            </a:pPr>
            <a:r>
              <a:rPr lang="en-US" sz="2400" dirty="0" smtClean="0">
                <a:latin typeface="Bell MT" pitchFamily="18" charset="0"/>
              </a:rPr>
              <a:t> </a:t>
            </a:r>
          </a:p>
          <a:p>
            <a:endParaRPr lang="en-US" dirty="0">
              <a:latin typeface="Bell MT" pitchFamily="18" charset="0"/>
            </a:endParaRPr>
          </a:p>
        </p:txBody>
      </p:sp>
    </p:spTree>
  </p:cSld>
  <p:clrMapOvr>
    <a:masterClrMapping/>
  </p:clrMapOvr>
  <p:transition>
    <p:blinds/>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en-US" sz="2400" dirty="0" smtClean="0">
                <a:latin typeface="Bell MT" pitchFamily="18" charset="0"/>
              </a:rPr>
              <a:t>When a secondary battery is recharged, its electrodes undergo an opposite process to the discharging action described above.  As the battery charger passes electricity through the battery, its cathode is oxidized and produces electrons which are then absorbed by the anode.  When the battery is fully charged, it can be connected to a load and discharged again.</a:t>
            </a:r>
          </a:p>
          <a:p>
            <a:pPr fontAlgn="base">
              <a:buNone/>
            </a:pPr>
            <a:r>
              <a:rPr lang="en-US" dirty="0" smtClean="0">
                <a:latin typeface="Bell MT" pitchFamily="18" charset="0"/>
              </a:rPr>
              <a:t> </a:t>
            </a:r>
          </a:p>
          <a:p>
            <a:endParaRPr lang="en-US" dirty="0">
              <a:latin typeface="Bell MT" pitchFamily="18" charset="0"/>
            </a:endParaRPr>
          </a:p>
        </p:txBody>
      </p:sp>
    </p:spTree>
  </p:cSld>
  <p:clrMapOvr>
    <a:masterClrMapping/>
  </p:clrMapOvr>
  <p:transition>
    <p:blinds/>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latin typeface="Algerian" pitchFamily="82" charset="0"/>
              </a:rPr>
              <a:t>Working(charging)</a:t>
            </a:r>
            <a:endParaRPr lang="en-US" sz="4400" dirty="0">
              <a:latin typeface="Algerian" pitchFamily="82" charset="0"/>
            </a:endParaRPr>
          </a:p>
        </p:txBody>
      </p:sp>
      <p:pic>
        <p:nvPicPr>
          <p:cNvPr id="4" name="Content Placeholder 3" descr="Image result for secondary batteries"/>
          <p:cNvPicPr>
            <a:picLocks noGrp="1"/>
          </p:cNvPicPr>
          <p:nvPr>
            <p:ph idx="1"/>
          </p:nvPr>
        </p:nvPicPr>
        <p:blipFill>
          <a:blip r:embed="rId2"/>
          <a:srcRect/>
          <a:stretch>
            <a:fillRect/>
          </a:stretch>
        </p:blipFill>
        <p:spPr bwMode="auto">
          <a:xfrm>
            <a:off x="1219200" y="2057400"/>
            <a:ext cx="5257800" cy="4419600"/>
          </a:xfrm>
          <a:prstGeom prst="rect">
            <a:avLst/>
          </a:prstGeom>
          <a:noFill/>
          <a:ln w="9525">
            <a:noFill/>
            <a:miter lim="800000"/>
            <a:headEnd/>
            <a:tailEnd/>
          </a:ln>
        </p:spPr>
      </p:pic>
    </p:spTree>
  </p:cSld>
  <p:clrMapOvr>
    <a:masterClrMapping/>
  </p:clrMapOvr>
  <p:transition>
    <p:blinds/>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89227" y="2996951"/>
            <a:ext cx="4176463" cy="1077218"/>
          </a:xfrm>
          <a:prstGeom prst="rect">
            <a:avLst/>
          </a:prstGeom>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5400000" scaled="1"/>
            <a:tileRect/>
          </a:gradFill>
        </p:spPr>
        <p:txBody>
          <a:bodyPr wrap="square" lIns="91440" tIns="45720" rIns="91440" bIns="45720">
            <a:spAutoFit/>
          </a:bodyPr>
          <a:lstStyle/>
          <a:p>
            <a:pPr algn="ctr"/>
            <a:r>
              <a:rPr lang="en-IN" sz="3200" b="1" cap="none" spc="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pitchFamily="34" charset="0"/>
                <a:cs typeface="Arial" pitchFamily="34" charset="0"/>
              </a:rPr>
              <a:t>Types Of Secondary Batteries</a:t>
            </a:r>
            <a:endParaRPr lang="en-IN" sz="32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10" name="Oval Callout 9"/>
          <p:cNvSpPr/>
          <p:nvPr/>
        </p:nvSpPr>
        <p:spPr>
          <a:xfrm>
            <a:off x="4583835" y="1402177"/>
            <a:ext cx="2880320" cy="1223896"/>
          </a:xfrm>
          <a:prstGeom prst="wedgeEllipseCallout">
            <a:avLst>
              <a:gd name="adj1" fmla="val -31415"/>
              <a:gd name="adj2" fmla="val 80289"/>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5123895" y="1515299"/>
            <a:ext cx="1800200" cy="954107"/>
          </a:xfrm>
          <a:prstGeom prst="rect">
            <a:avLst/>
          </a:prstGeom>
          <a:noFill/>
        </p:spPr>
        <p:txBody>
          <a:bodyPr wrap="square" lIns="91440" tIns="45720" rIns="91440" bIns="45720">
            <a:spAutoFit/>
          </a:bodyPr>
          <a:lstStyle/>
          <a:p>
            <a:pPr algn="ctr"/>
            <a:r>
              <a:rPr lang="en-IN" sz="2800" dirty="0"/>
              <a:t> </a:t>
            </a:r>
            <a:r>
              <a:rPr lang="en-IN" sz="2800" dirty="0">
                <a:solidFill>
                  <a:schemeClr val="bg1"/>
                </a:solidFill>
                <a:latin typeface="Berlin Sans FB" pitchFamily="34" charset="0"/>
              </a:rPr>
              <a:t>lead–acid battery</a:t>
            </a:r>
            <a:endParaRPr lang="en-US" sz="2800" b="0" cap="none" spc="0" dirty="0">
              <a:ln w="18415" cmpd="sng">
                <a:solidFill>
                  <a:srgbClr val="FFFFFF"/>
                </a:solidFill>
                <a:prstDash val="solid"/>
              </a:ln>
              <a:solidFill>
                <a:schemeClr val="bg1"/>
              </a:solidFill>
              <a:effectLst>
                <a:outerShdw blurRad="63500" dir="3600000" algn="tl" rotWithShape="0">
                  <a:srgbClr val="000000">
                    <a:alpha val="70000"/>
                  </a:srgbClr>
                </a:outerShdw>
              </a:effectLst>
              <a:latin typeface="Berlin Sans FB" pitchFamily="34" charset="0"/>
            </a:endParaRPr>
          </a:p>
        </p:txBody>
      </p:sp>
      <p:sp>
        <p:nvSpPr>
          <p:cNvPr id="17" name="Oval Callout 16"/>
          <p:cNvSpPr/>
          <p:nvPr/>
        </p:nvSpPr>
        <p:spPr>
          <a:xfrm>
            <a:off x="179512" y="2870212"/>
            <a:ext cx="2664296" cy="2019565"/>
          </a:xfrm>
          <a:prstGeom prst="wedgeEllipseCallout">
            <a:avLst>
              <a:gd name="adj1" fmla="val 76808"/>
              <a:gd name="adj2" fmla="val -23550"/>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Callout 17"/>
          <p:cNvSpPr/>
          <p:nvPr/>
        </p:nvSpPr>
        <p:spPr>
          <a:xfrm rot="10800000">
            <a:off x="2266121" y="5332351"/>
            <a:ext cx="2571932" cy="1304434"/>
          </a:xfrm>
          <a:prstGeom prst="wedgeEllipseCallout">
            <a:avLst>
              <a:gd name="adj1" fmla="val -17030"/>
              <a:gd name="adj2" fmla="val 142938"/>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669723" y="3073895"/>
            <a:ext cx="1692477" cy="1200329"/>
          </a:xfrm>
          <a:prstGeom prst="rect">
            <a:avLst/>
          </a:prstGeom>
          <a:noFill/>
        </p:spPr>
        <p:txBody>
          <a:bodyPr wrap="square" lIns="91440" tIns="45720" rIns="91440" bIns="45720">
            <a:spAutoFit/>
          </a:bodyPr>
          <a:lstStyle/>
          <a:p>
            <a:pPr algn="ctr"/>
            <a:r>
              <a:rPr lang="en-IN" sz="2400" dirty="0" smtClean="0">
                <a:solidFill>
                  <a:schemeClr val="bg1"/>
                </a:solidFill>
                <a:latin typeface="Berlin Sans FB Demi" pitchFamily="34" charset="0"/>
              </a:rPr>
              <a:t>nickel–</a:t>
            </a:r>
            <a:r>
              <a:rPr lang="en-IN" sz="2400" dirty="0" err="1" smtClean="0">
                <a:solidFill>
                  <a:schemeClr val="bg1"/>
                </a:solidFill>
                <a:latin typeface="Berlin Sans FB Demi" pitchFamily="34" charset="0"/>
              </a:rPr>
              <a:t>cadimium</a:t>
            </a:r>
            <a:r>
              <a:rPr lang="en-IN" sz="2400" dirty="0" smtClean="0">
                <a:solidFill>
                  <a:schemeClr val="bg1"/>
                </a:solidFill>
                <a:latin typeface="Berlin Sans FB Demi" pitchFamily="34" charset="0"/>
              </a:rPr>
              <a:t> </a:t>
            </a:r>
            <a:r>
              <a:rPr lang="en-IN" sz="2400" dirty="0" smtClean="0">
                <a:solidFill>
                  <a:schemeClr val="bg1"/>
                </a:solidFill>
                <a:latin typeface="Berlin Sans FB Demi" pitchFamily="34" charset="0"/>
              </a:rPr>
              <a:t>battery</a:t>
            </a:r>
            <a:endParaRPr lang="en-US" sz="2400" b="0" cap="none" spc="0" dirty="0">
              <a:ln w="18415" cmpd="sng">
                <a:solidFill>
                  <a:srgbClr val="FFFFFF"/>
                </a:solidFill>
                <a:prstDash val="solid"/>
              </a:ln>
              <a:solidFill>
                <a:schemeClr val="bg1"/>
              </a:solidFill>
              <a:effectLst>
                <a:outerShdw blurRad="63500" dir="3600000" algn="tl" rotWithShape="0">
                  <a:srgbClr val="000000">
                    <a:alpha val="70000"/>
                  </a:srgbClr>
                </a:outerShdw>
              </a:effectLst>
              <a:latin typeface="Berlin Sans FB Demi" pitchFamily="34" charset="0"/>
            </a:endParaRPr>
          </a:p>
        </p:txBody>
      </p:sp>
      <p:sp>
        <p:nvSpPr>
          <p:cNvPr id="23" name="Rectangle 22"/>
          <p:cNvSpPr/>
          <p:nvPr/>
        </p:nvSpPr>
        <p:spPr>
          <a:xfrm>
            <a:off x="2216243" y="5085184"/>
            <a:ext cx="2674933" cy="1354217"/>
          </a:xfrm>
          <a:prstGeom prst="rect">
            <a:avLst/>
          </a:prstGeom>
          <a:noFill/>
        </p:spPr>
        <p:txBody>
          <a:bodyPr wrap="square" lIns="91440" tIns="45720" rIns="91440" bIns="45720">
            <a:spAutoFit/>
          </a:bodyPr>
          <a:lstStyle/>
          <a:p>
            <a:pPr algn="ctr"/>
            <a:r>
              <a:rPr lang="en-IN" sz="5400" dirty="0"/>
              <a:t> </a:t>
            </a:r>
            <a:r>
              <a:rPr lang="en-IN" sz="2800" dirty="0">
                <a:solidFill>
                  <a:schemeClr val="bg1"/>
                </a:solidFill>
                <a:latin typeface="Berlin Sans FB" pitchFamily="34" charset="0"/>
              </a:rPr>
              <a:t>lithium-ion battery</a:t>
            </a:r>
            <a:endParaRPr lang="en-US" sz="2800" b="0" cap="none" spc="0" dirty="0">
              <a:ln w="18415" cmpd="sng">
                <a:solidFill>
                  <a:srgbClr val="FFFFFF"/>
                </a:solidFill>
                <a:prstDash val="solid"/>
              </a:ln>
              <a:solidFill>
                <a:schemeClr val="bg1"/>
              </a:solidFill>
              <a:effectLst>
                <a:outerShdw blurRad="63500" dir="3600000" algn="tl" rotWithShape="0">
                  <a:srgbClr val="000000">
                    <a:alpha val="70000"/>
                  </a:srgbClr>
                </a:outerShdw>
              </a:effectLst>
              <a:latin typeface="Berlin Sans FB" pitchFamily="34" charset="0"/>
            </a:endParaRPr>
          </a:p>
        </p:txBody>
      </p:sp>
    </p:spTree>
    <p:extLst>
      <p:ext uri="{BB962C8B-B14F-4D97-AF65-F5344CB8AC3E}">
        <p14:creationId xmlns:p14="http://schemas.microsoft.com/office/powerpoint/2010/main" val="2801498512"/>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71674" y="2010832"/>
            <a:ext cx="5111752" cy="1515533"/>
          </a:xfrm>
        </p:spPr>
        <p:txBody>
          <a:bodyPr>
            <a:noAutofit/>
          </a:bodyPr>
          <a:lstStyle/>
          <a:p>
            <a:r>
              <a:rPr lang="en-US" sz="4400" dirty="0" smtClean="0">
                <a:solidFill>
                  <a:schemeClr val="bg2">
                    <a:lumMod val="50000"/>
                  </a:schemeClr>
                </a:solidFill>
                <a:latin typeface="Algerian" pitchFamily="82" charset="0"/>
              </a:rPr>
              <a:t>1.Lead acid Batteries</a:t>
            </a:r>
            <a:endParaRPr lang="en-US" sz="4400" dirty="0">
              <a:solidFill>
                <a:schemeClr val="bg2">
                  <a:lumMod val="50000"/>
                </a:schemeClr>
              </a:solidFill>
              <a:latin typeface="Algerian" pitchFamily="82" charset="0"/>
            </a:endParaRPr>
          </a:p>
        </p:txBody>
      </p:sp>
    </p:spTree>
    <p:extLst>
      <p:ext uri="{BB962C8B-B14F-4D97-AF65-F5344CB8AC3E}">
        <p14:creationId xmlns:p14="http://schemas.microsoft.com/office/powerpoint/2010/main" val="49922217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504885"/>
            <a:ext cx="5029200" cy="4524315"/>
          </a:xfrm>
          <a:prstGeom prst="rect">
            <a:avLst/>
          </a:prstGeom>
        </p:spPr>
        <p:txBody>
          <a:bodyPr wrap="square">
            <a:spAutoFit/>
          </a:bodyPr>
          <a:lstStyle/>
          <a:p>
            <a:pPr algn="just"/>
            <a:r>
              <a:rPr lang="en-US" dirty="0">
                <a:hlinkClick r:id="rId2" tooltip="Chemistry of a Lead Acid Battery"/>
              </a:rPr>
              <a:t>1</a:t>
            </a:r>
            <a:r>
              <a:rPr lang="en-US" dirty="0"/>
              <a:t> </a:t>
            </a:r>
            <a:r>
              <a:rPr lang="en-US" b="1" dirty="0"/>
              <a:t>Chemistry of a Lead Acid Battery</a:t>
            </a:r>
            <a:r>
              <a:rPr lang="en-US" dirty="0"/>
              <a:t/>
            </a:r>
            <a:br>
              <a:rPr lang="en-US" dirty="0"/>
            </a:br>
            <a:endParaRPr lang="en-US" dirty="0"/>
          </a:p>
          <a:p>
            <a:pPr algn="just"/>
            <a:r>
              <a:rPr lang="en-US" dirty="0">
                <a:hlinkClick r:id="rId3" tooltip="Composition of a Lead Acid Battery"/>
              </a:rPr>
              <a:t>2</a:t>
            </a:r>
            <a:r>
              <a:rPr lang="en-US" dirty="0"/>
              <a:t> </a:t>
            </a:r>
            <a:r>
              <a:rPr lang="en-US" b="1" dirty="0"/>
              <a:t>Composition of a Lead Acid Battery</a:t>
            </a:r>
            <a:r>
              <a:rPr lang="en-US" dirty="0"/>
              <a:t/>
            </a:r>
            <a:br>
              <a:rPr lang="en-US" dirty="0"/>
            </a:br>
            <a:r>
              <a:rPr lang="en-US" dirty="0"/>
              <a:t>Positive Plate: Lead Oxide (</a:t>
            </a:r>
            <a:r>
              <a:rPr lang="en-US" dirty="0" err="1"/>
              <a:t>PbO</a:t>
            </a:r>
            <a:r>
              <a:rPr lang="en-US" dirty="0" smtClean="0"/>
              <a:t>)</a:t>
            </a:r>
          </a:p>
          <a:p>
            <a:pPr algn="just"/>
            <a:r>
              <a:rPr lang="en-US" dirty="0" smtClean="0"/>
              <a:t>Negative </a:t>
            </a:r>
            <a:r>
              <a:rPr lang="en-US" dirty="0"/>
              <a:t>Plate: Lead (</a:t>
            </a:r>
            <a:r>
              <a:rPr lang="en-US" dirty="0" err="1"/>
              <a:t>Pb</a:t>
            </a:r>
            <a:r>
              <a:rPr lang="en-US" dirty="0" smtClean="0"/>
              <a:t>)</a:t>
            </a:r>
          </a:p>
          <a:p>
            <a:pPr algn="just"/>
            <a:r>
              <a:rPr lang="en-US" dirty="0" smtClean="0"/>
              <a:t>Electrolyte</a:t>
            </a:r>
            <a:r>
              <a:rPr lang="en-US" dirty="0"/>
              <a:t>: </a:t>
            </a:r>
            <a:r>
              <a:rPr lang="en-US" dirty="0" err="1"/>
              <a:t>sulphuric</a:t>
            </a:r>
            <a:r>
              <a:rPr lang="en-US" dirty="0"/>
              <a:t> acid (H2SO4</a:t>
            </a:r>
            <a:r>
              <a:rPr lang="en-US" dirty="0" smtClean="0"/>
              <a:t>)</a:t>
            </a:r>
          </a:p>
          <a:p>
            <a:pPr algn="just"/>
            <a:endParaRPr lang="en-US" dirty="0"/>
          </a:p>
          <a:p>
            <a:pPr algn="just"/>
            <a:r>
              <a:rPr lang="en-US" dirty="0">
                <a:hlinkClick r:id="rId4" tooltip="Review of Acid Terminology"/>
              </a:rPr>
              <a:t>3</a:t>
            </a:r>
            <a:r>
              <a:rPr lang="en-US" dirty="0"/>
              <a:t> </a:t>
            </a:r>
            <a:r>
              <a:rPr lang="en-US" b="1" dirty="0"/>
              <a:t>Review of Acid Terminology</a:t>
            </a:r>
            <a:r>
              <a:rPr lang="en-US" dirty="0"/>
              <a:t/>
            </a:r>
            <a:br>
              <a:rPr lang="en-US" dirty="0"/>
            </a:br>
            <a:r>
              <a:rPr lang="en-US" dirty="0"/>
              <a:t>Strong vs. Weak </a:t>
            </a:r>
            <a:r>
              <a:rPr lang="en-US" dirty="0" smtClean="0"/>
              <a:t>Acids</a:t>
            </a:r>
          </a:p>
          <a:p>
            <a:pPr algn="just"/>
            <a:r>
              <a:rPr lang="en-US" dirty="0" smtClean="0"/>
              <a:t>Strong </a:t>
            </a:r>
            <a:r>
              <a:rPr lang="en-US" dirty="0"/>
              <a:t>acids completely ionize in </a:t>
            </a:r>
            <a:r>
              <a:rPr lang="en-US" dirty="0" smtClean="0"/>
              <a:t>water</a:t>
            </a:r>
          </a:p>
          <a:p>
            <a:pPr algn="just"/>
            <a:r>
              <a:rPr lang="en-US" dirty="0" smtClean="0"/>
              <a:t>EX</a:t>
            </a:r>
            <a:r>
              <a:rPr lang="en-US" dirty="0"/>
              <a:t>: HCl </a:t>
            </a:r>
            <a:r>
              <a:rPr lang="en-US" dirty="0" smtClean="0">
                <a:sym typeface="Wingdings" panose="05000000000000000000" pitchFamily="2" charset="2"/>
              </a:rPr>
              <a:t></a:t>
            </a:r>
            <a:r>
              <a:rPr lang="en-US" dirty="0" smtClean="0"/>
              <a:t> </a:t>
            </a:r>
            <a:r>
              <a:rPr lang="en-US" dirty="0"/>
              <a:t>H+ + Cl- (HCl + H2O </a:t>
            </a:r>
            <a:r>
              <a:rPr lang="en-US" dirty="0" smtClean="0">
                <a:sym typeface="Wingdings" panose="05000000000000000000" pitchFamily="2" charset="2"/>
              </a:rPr>
              <a:t></a:t>
            </a:r>
            <a:r>
              <a:rPr lang="en-US" dirty="0" smtClean="0"/>
              <a:t> </a:t>
            </a:r>
            <a:r>
              <a:rPr lang="en-US" dirty="0"/>
              <a:t>H3O+ + </a:t>
            </a:r>
            <a:r>
              <a:rPr lang="en-US" dirty="0" smtClean="0"/>
              <a:t>Cl-)</a:t>
            </a:r>
          </a:p>
          <a:p>
            <a:pPr algn="just"/>
            <a:r>
              <a:rPr lang="en-US" dirty="0" smtClean="0"/>
              <a:t>Weak </a:t>
            </a:r>
            <a:r>
              <a:rPr lang="en-US" dirty="0"/>
              <a:t>acids partially ionize in </a:t>
            </a:r>
            <a:r>
              <a:rPr lang="en-US" dirty="0" smtClean="0"/>
              <a:t>water</a:t>
            </a:r>
          </a:p>
          <a:p>
            <a:pPr algn="just"/>
            <a:r>
              <a:rPr lang="en-US" dirty="0" smtClean="0"/>
              <a:t>EX</a:t>
            </a:r>
            <a:r>
              <a:rPr lang="en-US" dirty="0"/>
              <a:t>: HC2H3O2 ⇌ H+ + C2H3O2- </a:t>
            </a:r>
            <a:endParaRPr lang="en-US" dirty="0" smtClean="0"/>
          </a:p>
          <a:p>
            <a:pPr algn="just"/>
            <a:r>
              <a:rPr lang="en-US" dirty="0" smtClean="0"/>
              <a:t>(</a:t>
            </a:r>
            <a:r>
              <a:rPr lang="en-US" dirty="0"/>
              <a:t>note ⇌ versus </a:t>
            </a:r>
            <a:r>
              <a:rPr lang="en-US" dirty="0" smtClean="0"/>
              <a:t>) </a:t>
            </a:r>
            <a:r>
              <a:rPr lang="en-US" dirty="0" err="1" smtClean="0"/>
              <a:t>Monoprotic</a:t>
            </a:r>
            <a:r>
              <a:rPr lang="en-US" dirty="0" smtClean="0"/>
              <a:t> </a:t>
            </a:r>
            <a:r>
              <a:rPr lang="en-US" dirty="0"/>
              <a:t>vs. Diprotic </a:t>
            </a:r>
            <a:r>
              <a:rPr lang="en-US" dirty="0" smtClean="0"/>
              <a:t>Acids</a:t>
            </a:r>
          </a:p>
          <a:p>
            <a:pPr algn="just"/>
            <a:r>
              <a:rPr lang="en-US" dirty="0" err="1" smtClean="0"/>
              <a:t>Monoprotic</a:t>
            </a:r>
            <a:r>
              <a:rPr lang="en-US" dirty="0" smtClean="0"/>
              <a:t> </a:t>
            </a:r>
            <a:r>
              <a:rPr lang="en-US" dirty="0"/>
              <a:t>acid has one H+ (EX: </a:t>
            </a:r>
            <a:r>
              <a:rPr lang="en-US" dirty="0" smtClean="0"/>
              <a:t>HCl)</a:t>
            </a:r>
          </a:p>
          <a:p>
            <a:pPr algn="just"/>
            <a:r>
              <a:rPr lang="en-US" dirty="0" smtClean="0"/>
              <a:t>Diprotic </a:t>
            </a:r>
            <a:r>
              <a:rPr lang="en-US" dirty="0"/>
              <a:t>acid has two H+ (EX: H2SO4</a:t>
            </a:r>
            <a:r>
              <a:rPr lang="en-US" dirty="0" smtClean="0"/>
              <a:t>)          </a:t>
            </a:r>
            <a:endParaRPr lang="en-US" dirty="0"/>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3057525"/>
            <a:ext cx="3733800"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651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837486"/>
            <a:ext cx="7467600" cy="4801314"/>
          </a:xfrm>
          <a:prstGeom prst="rect">
            <a:avLst/>
          </a:prstGeom>
        </p:spPr>
        <p:txBody>
          <a:bodyPr wrap="square">
            <a:spAutoFit/>
          </a:bodyPr>
          <a:lstStyle/>
          <a:p>
            <a:r>
              <a:rPr lang="en-US" dirty="0">
                <a:hlinkClick r:id="rId2" tooltip="The Electrolyte: H2SO4 H2SO4 is classified as a strong acid (completely ionizes) but that is not exactly true."/>
              </a:rPr>
              <a:t>4</a:t>
            </a:r>
            <a:r>
              <a:rPr lang="en-US" dirty="0"/>
              <a:t> The Electrolyte: </a:t>
            </a:r>
            <a:r>
              <a:rPr lang="en-US" dirty="0" smtClean="0"/>
              <a:t>H2SO4</a:t>
            </a:r>
          </a:p>
          <a:p>
            <a:r>
              <a:rPr lang="en-US" dirty="0" smtClean="0"/>
              <a:t>H2SO4 </a:t>
            </a:r>
            <a:r>
              <a:rPr lang="en-US" dirty="0"/>
              <a:t>is classified as a strong acid (completely ionizes) but that is not exactly </a:t>
            </a:r>
            <a:r>
              <a:rPr lang="en-US" dirty="0" smtClean="0"/>
              <a:t>true. The </a:t>
            </a:r>
            <a:r>
              <a:rPr lang="en-US" dirty="0"/>
              <a:t>first ionization of H2SO4 is complete and occurs instantly when in </a:t>
            </a:r>
            <a:r>
              <a:rPr lang="en-US" dirty="0" smtClean="0"/>
              <a:t>water.</a:t>
            </a:r>
          </a:p>
          <a:p>
            <a:r>
              <a:rPr lang="en-US" dirty="0" smtClean="0"/>
              <a:t>EX</a:t>
            </a:r>
            <a:r>
              <a:rPr lang="en-US" dirty="0"/>
              <a:t>: H2SO4 </a:t>
            </a:r>
            <a:r>
              <a:rPr lang="en-US" dirty="0" smtClean="0">
                <a:sym typeface="Wingdings" panose="05000000000000000000" pitchFamily="2" charset="2"/>
              </a:rPr>
              <a:t></a:t>
            </a:r>
            <a:r>
              <a:rPr lang="en-US" dirty="0" smtClean="0"/>
              <a:t> </a:t>
            </a:r>
            <a:r>
              <a:rPr lang="en-US" dirty="0"/>
              <a:t>H+ + </a:t>
            </a:r>
            <a:r>
              <a:rPr lang="en-US" dirty="0" smtClean="0"/>
              <a:t>HSO4-</a:t>
            </a:r>
          </a:p>
          <a:p>
            <a:r>
              <a:rPr lang="en-US" dirty="0" smtClean="0"/>
              <a:t>But</a:t>
            </a:r>
            <a:r>
              <a:rPr lang="en-US" dirty="0"/>
              <a:t>! The second ionization is extremely </a:t>
            </a:r>
            <a:r>
              <a:rPr lang="en-US" dirty="0" smtClean="0"/>
              <a:t>partial.</a:t>
            </a:r>
          </a:p>
          <a:p>
            <a:r>
              <a:rPr lang="en-US" dirty="0" smtClean="0"/>
              <a:t>EX</a:t>
            </a:r>
            <a:r>
              <a:rPr lang="en-US" dirty="0"/>
              <a:t>: HSO4- ⇌ H+ + SO4-2 (</a:t>
            </a:r>
            <a:r>
              <a:rPr lang="en-US" dirty="0" err="1"/>
              <a:t>Ka</a:t>
            </a:r>
            <a:r>
              <a:rPr lang="en-US" dirty="0"/>
              <a:t> = 0.012</a:t>
            </a:r>
            <a:r>
              <a:rPr lang="en-US" dirty="0" smtClean="0"/>
              <a:t>!)</a:t>
            </a:r>
          </a:p>
          <a:p>
            <a:r>
              <a:rPr lang="en-US" dirty="0" smtClean="0"/>
              <a:t>This </a:t>
            </a:r>
            <a:r>
              <a:rPr lang="en-US" dirty="0"/>
              <a:t>is very important in understanding the chemistry of a lead acid battery!</a:t>
            </a:r>
            <a:br>
              <a:rPr lang="en-US" dirty="0"/>
            </a:br>
            <a:endParaRPr lang="en-US" dirty="0"/>
          </a:p>
          <a:p>
            <a:r>
              <a:rPr lang="en-US" dirty="0">
                <a:hlinkClick r:id="rId3" tooltip="for understanding In general, is sulfuric acid considered a strong or weak acid Strong. Why is sulfuric acid considered to be strong"/>
              </a:rPr>
              <a:t>5</a:t>
            </a:r>
            <a:r>
              <a:rPr lang="en-US" dirty="0"/>
              <a:t> for </a:t>
            </a:r>
            <a:r>
              <a:rPr lang="en-US" dirty="0" smtClean="0"/>
              <a:t>understanding</a:t>
            </a:r>
          </a:p>
          <a:p>
            <a:r>
              <a:rPr lang="en-US" dirty="0" smtClean="0"/>
              <a:t>In </a:t>
            </a:r>
            <a:r>
              <a:rPr lang="en-US" dirty="0"/>
              <a:t>general, is sulfuric acid considered a strong or weak acid</a:t>
            </a:r>
            <a:r>
              <a:rPr lang="en-US" dirty="0" smtClean="0"/>
              <a:t>?</a:t>
            </a:r>
          </a:p>
          <a:p>
            <a:r>
              <a:rPr lang="en-US" dirty="0" smtClean="0"/>
              <a:t>Strong- Why </a:t>
            </a:r>
            <a:r>
              <a:rPr lang="en-US" dirty="0"/>
              <a:t>is sulfuric acid considered to be strong</a:t>
            </a:r>
            <a:r>
              <a:rPr lang="en-US" dirty="0" smtClean="0"/>
              <a:t>?</a:t>
            </a:r>
          </a:p>
          <a:p>
            <a:r>
              <a:rPr lang="en-US" dirty="0" smtClean="0"/>
              <a:t>It </a:t>
            </a:r>
            <a:r>
              <a:rPr lang="en-US" dirty="0"/>
              <a:t>completely </a:t>
            </a:r>
            <a:r>
              <a:rPr lang="en-US" dirty="0" smtClean="0"/>
              <a:t>ionizes</a:t>
            </a:r>
          </a:p>
          <a:p>
            <a:r>
              <a:rPr lang="en-US" dirty="0" smtClean="0"/>
              <a:t>What </a:t>
            </a:r>
            <a:r>
              <a:rPr lang="en-US" dirty="0"/>
              <a:t>ion related to sulfuric acid is weak</a:t>
            </a:r>
            <a:r>
              <a:rPr lang="en-US" dirty="0" smtClean="0"/>
              <a:t>?</a:t>
            </a:r>
          </a:p>
          <a:p>
            <a:r>
              <a:rPr lang="en-US" dirty="0" smtClean="0"/>
              <a:t>HSO4̶- Why </a:t>
            </a:r>
            <a:r>
              <a:rPr lang="en-US" dirty="0"/>
              <a:t>is the bisulfate ion, HSO4̶ considered weak</a:t>
            </a:r>
            <a:r>
              <a:rPr lang="en-US" dirty="0" smtClean="0"/>
              <a:t>?</a:t>
            </a:r>
          </a:p>
          <a:p>
            <a:r>
              <a:rPr lang="en-US" dirty="0" smtClean="0"/>
              <a:t>It </a:t>
            </a:r>
            <a:r>
              <a:rPr lang="en-US" dirty="0"/>
              <a:t>partially ionizes</a:t>
            </a:r>
          </a:p>
        </p:txBody>
      </p:sp>
    </p:spTree>
    <p:extLst>
      <p:ext uri="{BB962C8B-B14F-4D97-AF65-F5344CB8AC3E}">
        <p14:creationId xmlns:p14="http://schemas.microsoft.com/office/powerpoint/2010/main" val="1045450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289679"/>
            <a:ext cx="7391400" cy="5632311"/>
          </a:xfrm>
          <a:prstGeom prst="rect">
            <a:avLst/>
          </a:prstGeom>
        </p:spPr>
        <p:txBody>
          <a:bodyPr wrap="square">
            <a:spAutoFit/>
          </a:bodyPr>
          <a:lstStyle/>
          <a:p>
            <a:r>
              <a:rPr lang="en-US" dirty="0">
                <a:hlinkClick r:id="rId2" tooltip="Lead Acid Batteries are rechargable"/>
              </a:rPr>
              <a:t>6</a:t>
            </a:r>
            <a:r>
              <a:rPr lang="en-US" dirty="0"/>
              <a:t> </a:t>
            </a:r>
            <a:r>
              <a:rPr lang="en-US" b="1" dirty="0"/>
              <a:t>Lead Acid Batteries are </a:t>
            </a:r>
            <a:r>
              <a:rPr lang="en-US" b="1" dirty="0" err="1"/>
              <a:t>rechargable</a:t>
            </a:r>
            <a:r>
              <a:rPr lang="en-US" dirty="0"/>
              <a:t/>
            </a:r>
            <a:br>
              <a:rPr lang="en-US" dirty="0"/>
            </a:br>
            <a:r>
              <a:rPr lang="en-US" dirty="0"/>
              <a:t>This leads to two different sets of redox </a:t>
            </a:r>
            <a:r>
              <a:rPr lang="en-US" dirty="0" smtClean="0"/>
              <a:t>reactions.</a:t>
            </a:r>
          </a:p>
          <a:p>
            <a:r>
              <a:rPr lang="en-US" dirty="0" smtClean="0"/>
              <a:t>The </a:t>
            </a:r>
            <a:r>
              <a:rPr lang="en-US" dirty="0"/>
              <a:t>discharging </a:t>
            </a:r>
            <a:r>
              <a:rPr lang="en-US" dirty="0" smtClean="0"/>
              <a:t>phase. The </a:t>
            </a:r>
            <a:r>
              <a:rPr lang="en-US" dirty="0"/>
              <a:t>charging </a:t>
            </a:r>
            <a:r>
              <a:rPr lang="en-US" dirty="0" smtClean="0"/>
              <a:t>phase.</a:t>
            </a:r>
            <a:r>
              <a:rPr lang="en-US" dirty="0"/>
              <a:t/>
            </a:r>
            <a:br>
              <a:rPr lang="en-US" dirty="0"/>
            </a:br>
            <a:endParaRPr lang="en-US" dirty="0"/>
          </a:p>
          <a:p>
            <a:r>
              <a:rPr lang="en-US" dirty="0">
                <a:hlinkClick r:id="rId3" tooltip="Chemistry of Discharge Phase"/>
              </a:rPr>
              <a:t>7</a:t>
            </a:r>
            <a:r>
              <a:rPr lang="en-US" dirty="0"/>
              <a:t> </a:t>
            </a:r>
            <a:r>
              <a:rPr lang="en-US" b="1" dirty="0"/>
              <a:t>Chemistry of Discharge Phase</a:t>
            </a:r>
            <a:r>
              <a:rPr lang="en-US" dirty="0"/>
              <a:t/>
            </a:r>
            <a:br>
              <a:rPr lang="en-US" dirty="0"/>
            </a:br>
            <a:r>
              <a:rPr lang="en-US" dirty="0"/>
              <a:t>Negative plate reaction (oxidation</a:t>
            </a:r>
            <a:r>
              <a:rPr lang="en-US" dirty="0" smtClean="0"/>
              <a:t>):</a:t>
            </a:r>
          </a:p>
          <a:p>
            <a:r>
              <a:rPr lang="en-US" dirty="0" err="1" smtClean="0"/>
              <a:t>Pb</a:t>
            </a:r>
            <a:r>
              <a:rPr lang="en-US" dirty="0" smtClean="0"/>
              <a:t> </a:t>
            </a:r>
            <a:r>
              <a:rPr lang="en-US" dirty="0"/>
              <a:t>+ HSO4̶ </a:t>
            </a:r>
            <a:r>
              <a:rPr lang="en-US" dirty="0" smtClean="0"/>
              <a:t> </a:t>
            </a:r>
            <a:r>
              <a:rPr lang="en-US" dirty="0" smtClean="0">
                <a:sym typeface="Wingdings" panose="05000000000000000000" pitchFamily="2" charset="2"/>
              </a:rPr>
              <a:t></a:t>
            </a:r>
            <a:r>
              <a:rPr lang="en-US" dirty="0" smtClean="0"/>
              <a:t> </a:t>
            </a:r>
            <a:r>
              <a:rPr lang="en-US" dirty="0"/>
              <a:t>PbSO4 + H e</a:t>
            </a:r>
            <a:r>
              <a:rPr lang="en-US" dirty="0" smtClean="0"/>
              <a:t>̶</a:t>
            </a:r>
          </a:p>
          <a:p>
            <a:endParaRPr lang="en-US" dirty="0" smtClean="0"/>
          </a:p>
          <a:p>
            <a:r>
              <a:rPr lang="en-US" dirty="0" smtClean="0"/>
              <a:t>Positive </a:t>
            </a:r>
            <a:r>
              <a:rPr lang="en-US" dirty="0"/>
              <a:t>plate reaction (reduction</a:t>
            </a:r>
            <a:r>
              <a:rPr lang="en-US" dirty="0" smtClean="0"/>
              <a:t>):</a:t>
            </a:r>
          </a:p>
          <a:p>
            <a:r>
              <a:rPr lang="en-US" dirty="0" smtClean="0"/>
              <a:t>PbO2 </a:t>
            </a:r>
            <a:r>
              <a:rPr lang="en-US" dirty="0"/>
              <a:t>+ HSO4̶ + 3H+ + 2e- </a:t>
            </a:r>
            <a:r>
              <a:rPr lang="en-US" dirty="0" smtClean="0">
                <a:sym typeface="Wingdings" panose="05000000000000000000" pitchFamily="2" charset="2"/>
              </a:rPr>
              <a:t></a:t>
            </a:r>
            <a:r>
              <a:rPr lang="en-US" dirty="0" smtClean="0"/>
              <a:t> </a:t>
            </a:r>
            <a:r>
              <a:rPr lang="en-US" dirty="0"/>
              <a:t>PbSO4 + </a:t>
            </a:r>
            <a:r>
              <a:rPr lang="en-US" dirty="0" smtClean="0"/>
              <a:t>2H2O</a:t>
            </a:r>
          </a:p>
          <a:p>
            <a:endParaRPr lang="en-US" dirty="0" smtClean="0"/>
          </a:p>
          <a:p>
            <a:r>
              <a:rPr lang="en-US" dirty="0" smtClean="0"/>
              <a:t>Overall </a:t>
            </a:r>
            <a:r>
              <a:rPr lang="en-US" dirty="0"/>
              <a:t>discharge redox reaction</a:t>
            </a:r>
            <a:r>
              <a:rPr lang="en-US" dirty="0" smtClean="0"/>
              <a:t>:</a:t>
            </a:r>
          </a:p>
          <a:p>
            <a:r>
              <a:rPr lang="en-US" dirty="0" err="1" smtClean="0"/>
              <a:t>Pb</a:t>
            </a:r>
            <a:r>
              <a:rPr lang="en-US" dirty="0" smtClean="0"/>
              <a:t> </a:t>
            </a:r>
            <a:r>
              <a:rPr lang="en-US" dirty="0"/>
              <a:t>+ PbO2 + 2 HSO4̶ + 2H+ </a:t>
            </a:r>
            <a:r>
              <a:rPr lang="en-US" dirty="0" smtClean="0">
                <a:sym typeface="Wingdings" panose="05000000000000000000" pitchFamily="2" charset="2"/>
              </a:rPr>
              <a:t></a:t>
            </a:r>
            <a:r>
              <a:rPr lang="en-US" dirty="0" smtClean="0"/>
              <a:t> </a:t>
            </a:r>
            <a:r>
              <a:rPr lang="en-US" dirty="0"/>
              <a:t>2 PbSO4 + </a:t>
            </a:r>
            <a:r>
              <a:rPr lang="en-US" dirty="0" smtClean="0"/>
              <a:t>2H2O</a:t>
            </a:r>
          </a:p>
          <a:p>
            <a:endParaRPr lang="en-US" dirty="0" smtClean="0"/>
          </a:p>
          <a:p>
            <a:r>
              <a:rPr lang="en-US" dirty="0" smtClean="0"/>
              <a:t>or…</a:t>
            </a:r>
            <a:r>
              <a:rPr lang="en-US" dirty="0" err="1" smtClean="0"/>
              <a:t>Pb</a:t>
            </a:r>
            <a:r>
              <a:rPr lang="en-US" dirty="0" smtClean="0"/>
              <a:t> </a:t>
            </a:r>
            <a:r>
              <a:rPr lang="en-US" dirty="0"/>
              <a:t>+ PbO2 + 2 H2SO4 </a:t>
            </a:r>
            <a:r>
              <a:rPr lang="en-US" dirty="0" smtClean="0">
                <a:sym typeface="Wingdings" panose="05000000000000000000" pitchFamily="2" charset="2"/>
              </a:rPr>
              <a:t></a:t>
            </a:r>
            <a:r>
              <a:rPr lang="en-US" dirty="0" smtClean="0"/>
              <a:t> </a:t>
            </a:r>
            <a:r>
              <a:rPr lang="en-US" dirty="0"/>
              <a:t>2 PbSO4 + </a:t>
            </a:r>
            <a:r>
              <a:rPr lang="en-US" dirty="0" smtClean="0"/>
              <a:t>2H2O</a:t>
            </a:r>
          </a:p>
          <a:p>
            <a:endParaRPr lang="en-US" dirty="0" smtClean="0"/>
          </a:p>
          <a:p>
            <a:r>
              <a:rPr lang="en-US" dirty="0" smtClean="0"/>
              <a:t>Note</a:t>
            </a:r>
            <a:r>
              <a:rPr lang="en-US" dirty="0"/>
              <a:t>: states are removed for </a:t>
            </a:r>
            <a:r>
              <a:rPr lang="en-US" dirty="0" smtClean="0"/>
              <a:t>simplicity</a:t>
            </a:r>
          </a:p>
          <a:p>
            <a:r>
              <a:rPr lang="en-US" dirty="0" err="1" smtClean="0"/>
              <a:t>Pb</a:t>
            </a:r>
            <a:r>
              <a:rPr lang="en-US" dirty="0"/>
              <a:t>, PbO2, and PbSO4 are always </a:t>
            </a:r>
            <a:r>
              <a:rPr lang="en-US" dirty="0" smtClean="0"/>
              <a:t>solids</a:t>
            </a:r>
          </a:p>
          <a:p>
            <a:r>
              <a:rPr lang="en-US" dirty="0" smtClean="0"/>
              <a:t>HSO4-</a:t>
            </a:r>
            <a:r>
              <a:rPr lang="en-US" dirty="0"/>
              <a:t>, H+, and H2SO4 are always </a:t>
            </a:r>
            <a:r>
              <a:rPr lang="en-US" dirty="0" smtClean="0"/>
              <a:t>aqueous</a:t>
            </a:r>
          </a:p>
          <a:p>
            <a:r>
              <a:rPr lang="en-US" dirty="0" smtClean="0"/>
              <a:t>H2O </a:t>
            </a:r>
            <a:r>
              <a:rPr lang="en-US" dirty="0"/>
              <a:t>is always a liquid</a:t>
            </a:r>
          </a:p>
        </p:txBody>
      </p:sp>
    </p:spTree>
    <p:extLst>
      <p:ext uri="{BB962C8B-B14F-4D97-AF65-F5344CB8AC3E}">
        <p14:creationId xmlns:p14="http://schemas.microsoft.com/office/powerpoint/2010/main" val="1540152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7620000" cy="6186309"/>
          </a:xfrm>
          <a:prstGeom prst="rect">
            <a:avLst/>
          </a:prstGeom>
        </p:spPr>
        <p:txBody>
          <a:bodyPr wrap="square">
            <a:spAutoFit/>
          </a:bodyPr>
          <a:lstStyle/>
          <a:p>
            <a:r>
              <a:rPr lang="en-US" dirty="0">
                <a:hlinkClick r:id="rId2" tooltip="The flow of electrons = ELECTRICITY!"/>
              </a:rPr>
              <a:t>8</a:t>
            </a:r>
            <a:r>
              <a:rPr lang="en-US" dirty="0"/>
              <a:t> </a:t>
            </a:r>
            <a:r>
              <a:rPr lang="en-US" b="1" dirty="0"/>
              <a:t>The flow of electrons = ELECTRICITY!</a:t>
            </a:r>
            <a:r>
              <a:rPr lang="en-US" dirty="0"/>
              <a:t/>
            </a:r>
            <a:br>
              <a:rPr lang="en-US" dirty="0"/>
            </a:br>
            <a:endParaRPr lang="en-US" dirty="0"/>
          </a:p>
          <a:p>
            <a:r>
              <a:rPr lang="en-US" dirty="0">
                <a:hlinkClick r:id="rId3" tooltip="Chemistry of Charge Phase"/>
              </a:rPr>
              <a:t>9</a:t>
            </a:r>
            <a:r>
              <a:rPr lang="en-US" dirty="0"/>
              <a:t> </a:t>
            </a:r>
            <a:r>
              <a:rPr lang="en-US" b="1" dirty="0"/>
              <a:t>Chemistry of Charge Phase</a:t>
            </a:r>
            <a:r>
              <a:rPr lang="en-US" dirty="0"/>
              <a:t/>
            </a:r>
            <a:br>
              <a:rPr lang="en-US" dirty="0"/>
            </a:br>
            <a:r>
              <a:rPr lang="en-US" dirty="0"/>
              <a:t>Negative plate reaction (reduction</a:t>
            </a:r>
            <a:r>
              <a:rPr lang="en-US" dirty="0" smtClean="0"/>
              <a:t>):</a:t>
            </a:r>
          </a:p>
          <a:p>
            <a:r>
              <a:rPr lang="en-US" dirty="0" smtClean="0"/>
              <a:t>PbSO4 </a:t>
            </a:r>
            <a:r>
              <a:rPr lang="en-US" dirty="0"/>
              <a:t>+ H e- </a:t>
            </a:r>
            <a:r>
              <a:rPr lang="en-US" dirty="0" smtClean="0">
                <a:sym typeface="Wingdings" panose="05000000000000000000" pitchFamily="2" charset="2"/>
              </a:rPr>
              <a:t></a:t>
            </a:r>
            <a:r>
              <a:rPr lang="en-US" dirty="0" smtClean="0"/>
              <a:t> </a:t>
            </a:r>
            <a:r>
              <a:rPr lang="en-US" dirty="0" err="1"/>
              <a:t>Pb</a:t>
            </a:r>
            <a:r>
              <a:rPr lang="en-US" dirty="0"/>
              <a:t> + HSO4</a:t>
            </a:r>
            <a:r>
              <a:rPr lang="en-US" dirty="0" smtClean="0"/>
              <a:t>̶</a:t>
            </a:r>
          </a:p>
          <a:p>
            <a:endParaRPr lang="en-US" dirty="0"/>
          </a:p>
          <a:p>
            <a:r>
              <a:rPr lang="en-US" dirty="0" smtClean="0"/>
              <a:t>Positive </a:t>
            </a:r>
            <a:r>
              <a:rPr lang="en-US" dirty="0"/>
              <a:t>plate reaction (oxidation</a:t>
            </a:r>
            <a:r>
              <a:rPr lang="en-US" dirty="0" smtClean="0"/>
              <a:t>):</a:t>
            </a:r>
          </a:p>
          <a:p>
            <a:r>
              <a:rPr lang="en-US" dirty="0" smtClean="0"/>
              <a:t>PbSO4 </a:t>
            </a:r>
            <a:r>
              <a:rPr lang="en-US" dirty="0"/>
              <a:t>+ 2H2O </a:t>
            </a:r>
            <a:r>
              <a:rPr lang="en-US" dirty="0" smtClean="0">
                <a:sym typeface="Wingdings" panose="05000000000000000000" pitchFamily="2" charset="2"/>
              </a:rPr>
              <a:t></a:t>
            </a:r>
            <a:r>
              <a:rPr lang="en-US" dirty="0" smtClean="0"/>
              <a:t> </a:t>
            </a:r>
            <a:r>
              <a:rPr lang="en-US" dirty="0"/>
              <a:t>PbO2 + HSO4̶ H+ + </a:t>
            </a:r>
            <a:r>
              <a:rPr lang="en-US" dirty="0" smtClean="0"/>
              <a:t>2e-</a:t>
            </a:r>
          </a:p>
          <a:p>
            <a:endParaRPr lang="en-US" dirty="0"/>
          </a:p>
          <a:p>
            <a:r>
              <a:rPr lang="en-US" dirty="0" smtClean="0"/>
              <a:t>Overall </a:t>
            </a:r>
            <a:r>
              <a:rPr lang="en-US" dirty="0"/>
              <a:t>charge redox reaction</a:t>
            </a:r>
            <a:r>
              <a:rPr lang="en-US" dirty="0" smtClean="0"/>
              <a:t>:</a:t>
            </a:r>
          </a:p>
          <a:p>
            <a:r>
              <a:rPr lang="en-US" dirty="0" smtClean="0"/>
              <a:t>2 </a:t>
            </a:r>
            <a:r>
              <a:rPr lang="en-US" dirty="0"/>
              <a:t>PbSO4 + 2H2O </a:t>
            </a:r>
            <a:r>
              <a:rPr lang="en-US" dirty="0" smtClean="0">
                <a:sym typeface="Wingdings" panose="05000000000000000000" pitchFamily="2" charset="2"/>
              </a:rPr>
              <a:t></a:t>
            </a:r>
            <a:r>
              <a:rPr lang="en-US" dirty="0" smtClean="0"/>
              <a:t> </a:t>
            </a:r>
            <a:r>
              <a:rPr lang="en-US" dirty="0" err="1"/>
              <a:t>Pb</a:t>
            </a:r>
            <a:r>
              <a:rPr lang="en-US" dirty="0"/>
              <a:t> + PbO2 + 2 HSO4̶ + 2H</a:t>
            </a:r>
            <a:r>
              <a:rPr lang="en-US" dirty="0" smtClean="0"/>
              <a:t>+</a:t>
            </a:r>
          </a:p>
          <a:p>
            <a:r>
              <a:rPr lang="en-US" dirty="0" smtClean="0"/>
              <a:t>or…2 </a:t>
            </a:r>
            <a:r>
              <a:rPr lang="en-US" dirty="0"/>
              <a:t>PbSO4 + 2H2O </a:t>
            </a:r>
            <a:r>
              <a:rPr lang="en-US" dirty="0" smtClean="0">
                <a:sym typeface="Wingdings" panose="05000000000000000000" pitchFamily="2" charset="2"/>
              </a:rPr>
              <a:t></a:t>
            </a:r>
            <a:r>
              <a:rPr lang="en-US" dirty="0" smtClean="0"/>
              <a:t> </a:t>
            </a:r>
            <a:r>
              <a:rPr lang="en-US" dirty="0" err="1"/>
              <a:t>Pb</a:t>
            </a:r>
            <a:r>
              <a:rPr lang="en-US" dirty="0"/>
              <a:t> + PbO2 + 2 H2SO4</a:t>
            </a:r>
            <a:br>
              <a:rPr lang="en-US" dirty="0"/>
            </a:br>
            <a:endParaRPr lang="en-US" dirty="0"/>
          </a:p>
          <a:p>
            <a:r>
              <a:rPr lang="en-US" dirty="0">
                <a:hlinkClick r:id="rId4" tooltip="for understanding What metal is always at the negative plate Pb"/>
              </a:rPr>
              <a:t>10</a:t>
            </a:r>
            <a:r>
              <a:rPr lang="en-US" dirty="0"/>
              <a:t> </a:t>
            </a:r>
            <a:r>
              <a:rPr lang="en-US" b="1" dirty="0"/>
              <a:t>for understanding </a:t>
            </a:r>
            <a:endParaRPr lang="en-US" b="1" dirty="0" smtClean="0"/>
          </a:p>
          <a:p>
            <a:r>
              <a:rPr lang="en-US" b="1" dirty="0" smtClean="0"/>
              <a:t>What </a:t>
            </a:r>
            <a:r>
              <a:rPr lang="en-US" b="1" dirty="0"/>
              <a:t>metal is always at the negative plate? </a:t>
            </a:r>
            <a:r>
              <a:rPr lang="en-US" b="1" dirty="0" smtClean="0"/>
              <a:t> </a:t>
            </a:r>
            <a:r>
              <a:rPr lang="en-US" b="1" dirty="0" err="1" smtClean="0"/>
              <a:t>Pb</a:t>
            </a:r>
            <a:endParaRPr lang="en-US" b="1" dirty="0" smtClean="0"/>
          </a:p>
          <a:p>
            <a:r>
              <a:rPr lang="en-US" dirty="0"/>
              <a:t/>
            </a:r>
            <a:br>
              <a:rPr lang="en-US" dirty="0"/>
            </a:br>
            <a:r>
              <a:rPr lang="en-US" dirty="0"/>
              <a:t>What compound is always at the positive plate</a:t>
            </a:r>
            <a:r>
              <a:rPr lang="en-US" dirty="0" smtClean="0"/>
              <a:t>? PbO2</a:t>
            </a:r>
          </a:p>
          <a:p>
            <a:endParaRPr lang="en-US" dirty="0"/>
          </a:p>
          <a:p>
            <a:r>
              <a:rPr lang="en-US" dirty="0" smtClean="0"/>
              <a:t>What </a:t>
            </a:r>
            <a:r>
              <a:rPr lang="en-US" dirty="0"/>
              <a:t>is the electrolyte in a battery</a:t>
            </a:r>
            <a:r>
              <a:rPr lang="en-US" dirty="0" smtClean="0"/>
              <a:t>? H2SO4 </a:t>
            </a:r>
            <a:r>
              <a:rPr lang="en-US" dirty="0"/>
              <a:t>or HSO4</a:t>
            </a:r>
            <a:r>
              <a:rPr lang="en-US" dirty="0" smtClean="0"/>
              <a:t>̶</a:t>
            </a:r>
          </a:p>
          <a:p>
            <a:endParaRPr lang="en-US" dirty="0"/>
          </a:p>
          <a:p>
            <a:r>
              <a:rPr lang="en-US" dirty="0" smtClean="0"/>
              <a:t>What </a:t>
            </a:r>
            <a:r>
              <a:rPr lang="en-US" dirty="0"/>
              <a:t>compound is the “waste” product of discharge and has to be removed in the charging process? (think</a:t>
            </a:r>
            <a:r>
              <a:rPr lang="en-US" dirty="0" smtClean="0"/>
              <a:t>!) PbSO4</a:t>
            </a:r>
            <a:endParaRPr lang="en-US" dirty="0"/>
          </a:p>
        </p:txBody>
      </p:sp>
    </p:spTree>
    <p:extLst>
      <p:ext uri="{BB962C8B-B14F-4D97-AF65-F5344CB8AC3E}">
        <p14:creationId xmlns:p14="http://schemas.microsoft.com/office/powerpoint/2010/main" val="3532449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8764" y="3289280"/>
            <a:ext cx="7162800" cy="3416320"/>
          </a:xfrm>
          <a:prstGeom prst="rect">
            <a:avLst/>
          </a:prstGeom>
        </p:spPr>
        <p:txBody>
          <a:bodyPr wrap="square">
            <a:spAutoFit/>
          </a:bodyPr>
          <a:lstStyle/>
          <a:p>
            <a:r>
              <a:rPr lang="en-US" dirty="0">
                <a:hlinkClick r:id="rId2" tooltip="Why do batteries die Dead Battery New Battery"/>
              </a:rPr>
              <a:t>11</a:t>
            </a:r>
            <a:r>
              <a:rPr lang="en-US" dirty="0"/>
              <a:t> </a:t>
            </a:r>
            <a:r>
              <a:rPr lang="en-US" b="1" dirty="0"/>
              <a:t>Why do batteries “die”? </a:t>
            </a:r>
            <a:endParaRPr lang="en-US" b="1" dirty="0" smtClean="0"/>
          </a:p>
          <a:p>
            <a:r>
              <a:rPr lang="en-US" b="1" dirty="0" smtClean="0"/>
              <a:t>Dead </a:t>
            </a:r>
            <a:r>
              <a:rPr lang="en-US" b="1" dirty="0"/>
              <a:t>Battery </a:t>
            </a:r>
            <a:endParaRPr lang="en-US" b="1" dirty="0" smtClean="0"/>
          </a:p>
          <a:p>
            <a:r>
              <a:rPr lang="en-US" b="1" dirty="0" smtClean="0"/>
              <a:t>New </a:t>
            </a:r>
            <a:r>
              <a:rPr lang="en-US" b="1" dirty="0"/>
              <a:t>Battery</a:t>
            </a:r>
            <a:r>
              <a:rPr lang="en-US" dirty="0"/>
              <a:t/>
            </a:r>
            <a:br>
              <a:rPr lang="en-US" dirty="0"/>
            </a:br>
            <a:r>
              <a:rPr lang="en-US" dirty="0"/>
              <a:t>When the battery discharges solid PbSO4 is formed</a:t>
            </a:r>
            <a:r>
              <a:rPr lang="en-US" dirty="0" smtClean="0"/>
              <a:t>.</a:t>
            </a:r>
          </a:p>
          <a:p>
            <a:r>
              <a:rPr lang="en-US" dirty="0" smtClean="0"/>
              <a:t>In </a:t>
            </a:r>
            <a:r>
              <a:rPr lang="en-US" dirty="0"/>
              <a:t>a new battery, the PbSO4 is in a spongy form which can easily be converted back to </a:t>
            </a:r>
            <a:r>
              <a:rPr lang="en-US" dirty="0" err="1"/>
              <a:t>Pb</a:t>
            </a:r>
            <a:r>
              <a:rPr lang="en-US" dirty="0"/>
              <a:t> and PbO2</a:t>
            </a:r>
            <a:r>
              <a:rPr lang="en-US" dirty="0" smtClean="0"/>
              <a:t>.</a:t>
            </a:r>
          </a:p>
          <a:p>
            <a:r>
              <a:rPr lang="en-US" dirty="0" smtClean="0"/>
              <a:t>Over </a:t>
            </a:r>
            <a:r>
              <a:rPr lang="en-US" dirty="0"/>
              <a:t>time the PbSO4 will tend to crystallize</a:t>
            </a:r>
            <a:r>
              <a:rPr lang="en-US" dirty="0" smtClean="0"/>
              <a:t>.</a:t>
            </a:r>
          </a:p>
          <a:p>
            <a:r>
              <a:rPr lang="en-US" dirty="0" smtClean="0"/>
              <a:t>The </a:t>
            </a:r>
            <a:r>
              <a:rPr lang="en-US" dirty="0"/>
              <a:t>crystallized PbSO4 cannot be converted back to </a:t>
            </a:r>
            <a:r>
              <a:rPr lang="en-US" dirty="0" err="1"/>
              <a:t>Pb</a:t>
            </a:r>
            <a:r>
              <a:rPr lang="en-US" dirty="0"/>
              <a:t> and PbO2 so there is not only less reactant material but it also coats the surface of the </a:t>
            </a:r>
            <a:r>
              <a:rPr lang="en-US" dirty="0" err="1"/>
              <a:t>Pb</a:t>
            </a:r>
            <a:r>
              <a:rPr lang="en-US" dirty="0"/>
              <a:t> and PbO2</a:t>
            </a:r>
            <a:r>
              <a:rPr lang="en-US" dirty="0" smtClean="0"/>
              <a:t>.</a:t>
            </a:r>
          </a:p>
          <a:p>
            <a:r>
              <a:rPr lang="en-US" dirty="0" smtClean="0"/>
              <a:t>New Battery</a:t>
            </a:r>
          </a:p>
          <a:p>
            <a:r>
              <a:rPr lang="en-US" dirty="0" smtClean="0"/>
              <a:t>Dead </a:t>
            </a:r>
            <a:r>
              <a:rPr lang="en-US" dirty="0"/>
              <a:t>Battery</a:t>
            </a:r>
            <a:endParaRPr lang="en-US" dirty="0"/>
          </a:p>
        </p:txBody>
      </p:sp>
      <p:sp>
        <p:nvSpPr>
          <p:cNvPr id="6" name="Rectangle 3"/>
          <p:cNvSpPr>
            <a:spLocks noChangeArrowheads="1"/>
          </p:cNvSpPr>
          <p:nvPr/>
        </p:nvSpPr>
        <p:spPr bwMode="auto">
          <a:xfrm>
            <a:off x="843786" y="392668"/>
            <a:ext cx="677621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fontAlgn="base">
              <a:spcBef>
                <a:spcPct val="0"/>
              </a:spcBef>
              <a:spcAft>
                <a:spcPct val="0"/>
              </a:spcAft>
              <a:defRPr>
                <a:solidFill>
                  <a:schemeClr val="tx1"/>
                </a:solidFill>
                <a:latin typeface="Arial" charset="0"/>
                <a:cs typeface="Arial" charset="0"/>
              </a:defRPr>
            </a:lvl1pPr>
            <a:lvl2pPr fontAlgn="base">
              <a:spcBef>
                <a:spcPct val="0"/>
              </a:spcBef>
              <a:spcAft>
                <a:spcPct val="0"/>
              </a:spcAft>
              <a:defRPr>
                <a:solidFill>
                  <a:schemeClr val="tx1"/>
                </a:solidFill>
                <a:latin typeface="Arial" charset="0"/>
                <a:cs typeface="Arial" charset="0"/>
              </a:defRPr>
            </a:lvl2pPr>
            <a:lvl3pPr fontAlgn="base">
              <a:spcBef>
                <a:spcPct val="0"/>
              </a:spcBef>
              <a:spcAft>
                <a:spcPct val="0"/>
              </a:spcAft>
              <a:defRPr>
                <a:solidFill>
                  <a:schemeClr val="tx1"/>
                </a:solidFill>
                <a:latin typeface="Arial" charset="0"/>
                <a:cs typeface="Arial" charset="0"/>
              </a:defRPr>
            </a:lvl3pPr>
            <a:lvl4pPr fontAlgn="base">
              <a:spcBef>
                <a:spcPct val="0"/>
              </a:spcBef>
              <a:spcAft>
                <a:spcPct val="0"/>
              </a:spcAft>
              <a:defRPr>
                <a:solidFill>
                  <a:schemeClr val="tx1"/>
                </a:solidFill>
                <a:latin typeface="Arial" charset="0"/>
                <a:cs typeface="Arial" charset="0"/>
              </a:defRPr>
            </a:lvl4pPr>
            <a:lvl5pPr fontAlgn="base">
              <a:spcBef>
                <a:spcPct val="0"/>
              </a:spcBef>
              <a:spcAft>
                <a:spcPct val="0"/>
              </a:spcAft>
              <a:defRPr>
                <a:solidFill>
                  <a:schemeClr val="tx1"/>
                </a:solidFill>
                <a:latin typeface="Arial" charset="0"/>
                <a:cs typeface="Arial" charset="0"/>
              </a:defRPr>
            </a:lvl5pPr>
            <a:lvl6pPr fontAlgn="base">
              <a:spcBef>
                <a:spcPct val="0"/>
              </a:spcBef>
              <a:spcAft>
                <a:spcPct val="0"/>
              </a:spcAft>
              <a:defRPr>
                <a:solidFill>
                  <a:schemeClr val="tx1"/>
                </a:solidFill>
                <a:latin typeface="Arial" charset="0"/>
                <a:cs typeface="Arial" charset="0"/>
              </a:defRPr>
            </a:lvl6pPr>
            <a:lvl7pPr fontAlgn="base">
              <a:spcBef>
                <a:spcPct val="0"/>
              </a:spcBef>
              <a:spcAft>
                <a:spcPct val="0"/>
              </a:spcAft>
              <a:defRPr>
                <a:solidFill>
                  <a:schemeClr val="tx1"/>
                </a:solidFill>
                <a:latin typeface="Arial" charset="0"/>
                <a:cs typeface="Arial" charset="0"/>
              </a:defRPr>
            </a:lvl7pPr>
            <a:lvl8pPr fontAlgn="base">
              <a:spcBef>
                <a:spcPct val="0"/>
              </a:spcBef>
              <a:spcAft>
                <a:spcPct val="0"/>
              </a:spcAft>
              <a:defRPr>
                <a:solidFill>
                  <a:schemeClr val="tx1"/>
                </a:solidFill>
                <a:latin typeface="Arial" charset="0"/>
                <a:cs typeface="Arial" charset="0"/>
              </a:defRPr>
            </a:lvl8pPr>
            <a:lvl9pPr fontAlgn="base">
              <a:spcBef>
                <a:spcPct val="0"/>
              </a:spcBef>
              <a:spcAft>
                <a:spcPct val="0"/>
              </a:spcAft>
              <a:defRPr>
                <a:solidFill>
                  <a:schemeClr val="tx1"/>
                </a:solidFill>
                <a:latin typeface="Arial"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666666"/>
                </a:solidFill>
                <a:effectLst/>
              </a:rPr>
              <a:t>The combi</a:t>
            </a:r>
            <a:r>
              <a:rPr lang="en-US" dirty="0" smtClean="0"/>
              <a:t>ned </a:t>
            </a:r>
            <a:r>
              <a:rPr lang="en-US" dirty="0"/>
              <a:t>equation for both the processes is represented as</a:t>
            </a:r>
            <a:endParaRPr kumimoji="0" lang="en-US" altLang="en-US" b="0" i="0" u="none" strike="noStrike" cap="none" normalizeH="0" baseline="0" dirty="0" smtClean="0">
              <a:ln>
                <a:noFill/>
              </a:ln>
              <a:solidFill>
                <a:schemeClr val="tx1"/>
              </a:solidFill>
              <a:effectLst/>
            </a:endParaRPr>
          </a:p>
        </p:txBody>
      </p:sp>
      <p:pic>
        <p:nvPicPr>
          <p:cNvPr id="2052" name="Picture 4" descr="Discharge and Recharge Process"/>
          <p:cNvPicPr>
            <a:picLocks noChangeAspect="1" noChangeArrowheads="1"/>
          </p:cNvPicPr>
          <p:nvPr/>
        </p:nvPicPr>
        <p:blipFill rotWithShape="1">
          <a:blip r:embed="rId3">
            <a:extLst>
              <a:ext uri="{28A0092B-C50C-407E-A947-70E740481C1C}">
                <a14:useLocalDpi xmlns:a14="http://schemas.microsoft.com/office/drawing/2010/main" val="0"/>
              </a:ext>
            </a:extLst>
          </a:blip>
          <a:srcRect b="14739"/>
          <a:stretch/>
        </p:blipFill>
        <p:spPr bwMode="auto">
          <a:xfrm>
            <a:off x="3938017" y="914400"/>
            <a:ext cx="3681983" cy="3270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278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608886"/>
            <a:ext cx="7620000" cy="3970318"/>
          </a:xfrm>
          <a:prstGeom prst="rect">
            <a:avLst/>
          </a:prstGeom>
        </p:spPr>
        <p:txBody>
          <a:bodyPr wrap="square">
            <a:spAutoFit/>
          </a:bodyPr>
          <a:lstStyle/>
          <a:p>
            <a:pPr algn="just" fontAlgn="base"/>
            <a:r>
              <a:rPr lang="en-US" b="1" dirty="0"/>
              <a:t>Life</a:t>
            </a:r>
          </a:p>
          <a:p>
            <a:pPr algn="just" fontAlgn="base"/>
            <a:r>
              <a:rPr lang="en-US" dirty="0"/>
              <a:t>The optimum functional temperature for lead acid battery is 25</a:t>
            </a:r>
            <a:r>
              <a:rPr lang="en-US" baseline="30000" dirty="0"/>
              <a:t>0</a:t>
            </a:r>
            <a:r>
              <a:rPr lang="en-US" dirty="0"/>
              <a:t>C which means 77</a:t>
            </a:r>
            <a:r>
              <a:rPr lang="en-US" baseline="30000" dirty="0"/>
              <a:t>0</a:t>
            </a:r>
            <a:r>
              <a:rPr lang="en-US" dirty="0"/>
              <a:t>F. The increase in the range of temperature shortens longevity. A per the rule, for </a:t>
            </a:r>
            <a:r>
              <a:rPr lang="en-US"/>
              <a:t>every </a:t>
            </a:r>
            <a:r>
              <a:rPr lang="en-US" smtClean="0"/>
              <a:t>80oC </a:t>
            </a:r>
            <a:r>
              <a:rPr lang="en-US" dirty="0"/>
              <a:t>increase in temperature, it reduces the half-life of the battery. While a value regulated battery that functions at 25</a:t>
            </a:r>
            <a:r>
              <a:rPr lang="en-US" baseline="30000" dirty="0"/>
              <a:t>0</a:t>
            </a:r>
            <a:r>
              <a:rPr lang="en-US" dirty="0"/>
              <a:t>C  has a </a:t>
            </a:r>
            <a:r>
              <a:rPr lang="en-US" b="1" dirty="0"/>
              <a:t>lead acid battery life</a:t>
            </a:r>
            <a:r>
              <a:rPr lang="en-US" dirty="0"/>
              <a:t> of 10 years. And when this is operated at 33</a:t>
            </a:r>
            <a:r>
              <a:rPr lang="en-US" baseline="30000" dirty="0"/>
              <a:t>0</a:t>
            </a:r>
            <a:r>
              <a:rPr lang="en-US" dirty="0"/>
              <a:t>C, it has a life period of 5 years only.</a:t>
            </a:r>
          </a:p>
          <a:p>
            <a:pPr algn="just" fontAlgn="base"/>
            <a:endParaRPr lang="en-US" b="1" dirty="0" smtClean="0"/>
          </a:p>
          <a:p>
            <a:pPr algn="just" fontAlgn="base"/>
            <a:r>
              <a:rPr lang="en-US" b="1" dirty="0" smtClean="0"/>
              <a:t>Lead </a:t>
            </a:r>
            <a:r>
              <a:rPr lang="en-US" b="1" dirty="0"/>
              <a:t>Acid Battery Applications</a:t>
            </a:r>
          </a:p>
          <a:p>
            <a:pPr algn="just" fontAlgn="base"/>
            <a:r>
              <a:rPr lang="en-US" dirty="0"/>
              <a:t>These are employed in emergency lightening to provide power for sump pumps.</a:t>
            </a:r>
          </a:p>
          <a:p>
            <a:pPr algn="just" fontAlgn="base"/>
            <a:r>
              <a:rPr lang="en-US" dirty="0"/>
              <a:t>Used in electric motors</a:t>
            </a:r>
          </a:p>
          <a:p>
            <a:pPr algn="just" fontAlgn="base"/>
            <a:r>
              <a:rPr lang="en-US" dirty="0"/>
              <a:t>Submarines</a:t>
            </a:r>
          </a:p>
          <a:p>
            <a:pPr algn="just" fontAlgn="base"/>
            <a:r>
              <a:rPr lang="en-US" dirty="0"/>
              <a:t>Nuclear </a:t>
            </a:r>
            <a:r>
              <a:rPr lang="en-US" dirty="0" smtClean="0"/>
              <a:t>submarines</a:t>
            </a:r>
            <a:endParaRPr lang="en-US" dirty="0"/>
          </a:p>
        </p:txBody>
      </p:sp>
    </p:spTree>
    <p:extLst>
      <p:ext uri="{BB962C8B-B14F-4D97-AF65-F5344CB8AC3E}">
        <p14:creationId xmlns:p14="http://schemas.microsoft.com/office/powerpoint/2010/main" val="447829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INTRODUCTION</a:t>
            </a:r>
            <a:endParaRPr lang="en-IN" dirty="0"/>
          </a:p>
        </p:txBody>
      </p:sp>
      <p:sp>
        <p:nvSpPr>
          <p:cNvPr id="3" name="Content Placeholder 2"/>
          <p:cNvSpPr>
            <a:spLocks noGrp="1"/>
          </p:cNvSpPr>
          <p:nvPr>
            <p:ph idx="1"/>
          </p:nvPr>
        </p:nvSpPr>
        <p:spPr/>
        <p:txBody>
          <a:bodyPr>
            <a:normAutofit/>
          </a:bodyPr>
          <a:lstStyle/>
          <a:p>
            <a:r>
              <a:rPr lang="en-IN" sz="1800" dirty="0" smtClean="0"/>
              <a:t>The nickel–cadmium battery is a type of rechargeable battery using nickel oxide hydroxide and metallic cadmium as electrodes. Ni-Cd batteries are made in a wide range of sizes and capacities.</a:t>
            </a:r>
          </a:p>
          <a:p>
            <a:r>
              <a:rPr lang="en-IN" sz="1800" u="sng" dirty="0" smtClean="0"/>
              <a:t>Nickel</a:t>
            </a:r>
            <a:r>
              <a:rPr lang="en-IN" sz="1800" dirty="0" smtClean="0"/>
              <a:t>(hydroxide)–</a:t>
            </a:r>
            <a:r>
              <a:rPr lang="en-IN" sz="1800" u="sng" dirty="0" smtClean="0"/>
              <a:t>cadmium</a:t>
            </a:r>
            <a:r>
              <a:rPr lang="en-IN" sz="1800" dirty="0" smtClean="0"/>
              <a:t> systems are the most common small rechargeable battery type for portable appliances. The sealed cells are equipped with “jelly roll” electrodes, which allow high current to be delivered in an efficient way. These batteries are capable of delivering exceptionally high currents, can be rapidly recharged hundreds of times, and are tolerant of abuse such as over discharging or overcharging.</a:t>
            </a:r>
          </a:p>
          <a:p>
            <a:r>
              <a:rPr lang="en-IN" sz="1800" dirty="0" smtClean="0"/>
              <a:t>It produces a voltage of about 1.4 V</a:t>
            </a:r>
          </a:p>
        </p:txBody>
      </p:sp>
      <p:pic>
        <p:nvPicPr>
          <p:cNvPr id="11269" name="Picture 5" descr="C:\Users\Lenovo\Desktop\nicd-structure.png"/>
          <p:cNvPicPr>
            <a:picLocks noChangeAspect="1" noChangeArrowheads="1"/>
          </p:cNvPicPr>
          <p:nvPr/>
        </p:nvPicPr>
        <p:blipFill>
          <a:blip r:embed="rId2"/>
          <a:srcRect/>
          <a:stretch>
            <a:fillRect/>
          </a:stretch>
        </p:blipFill>
        <p:spPr bwMode="auto">
          <a:xfrm>
            <a:off x="4572000" y="4357694"/>
            <a:ext cx="3643337" cy="2214578"/>
          </a:xfrm>
          <a:prstGeom prst="rect">
            <a:avLst/>
          </a:prstGeom>
          <a:noFill/>
        </p:spPr>
      </p:pic>
      <p:sp>
        <p:nvSpPr>
          <p:cNvPr id="5" name="Title 1"/>
          <p:cNvSpPr txBox="1">
            <a:spLocks/>
          </p:cNvSpPr>
          <p:nvPr/>
        </p:nvSpPr>
        <p:spPr>
          <a:xfrm>
            <a:off x="533400" y="228600"/>
            <a:ext cx="7851648" cy="1828800"/>
          </a:xfrm>
          <a:prstGeom prst="rect">
            <a:avLst/>
          </a:prstGeom>
        </p:spPr>
        <p:txBody>
          <a:bodyPr>
            <a:normAutofit fontScale="97500"/>
          </a:bodyPr>
          <a:lst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pPr algn="ctr"/>
            <a:r>
              <a:rPr lang="en-IN" dirty="0" smtClean="0"/>
              <a:t>2. NICKEL-CADMIUM BATTERY</a:t>
            </a:r>
            <a:endParaRPr lang="en-IN" dirty="0"/>
          </a:p>
        </p:txBody>
      </p:sp>
    </p:spTree>
    <p:extLst>
      <p:ext uri="{BB962C8B-B14F-4D97-AF65-F5344CB8AC3E}">
        <p14:creationId xmlns:p14="http://schemas.microsoft.com/office/powerpoint/2010/main" val="27841331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smtClean="0"/>
              <a:t>INVENTIONS AND SCOPE</a:t>
            </a:r>
            <a:endParaRPr lang="en-IN" dirty="0"/>
          </a:p>
        </p:txBody>
      </p:sp>
      <p:sp>
        <p:nvSpPr>
          <p:cNvPr id="3" name="Content Placeholder 2"/>
          <p:cNvSpPr>
            <a:spLocks noGrp="1"/>
          </p:cNvSpPr>
          <p:nvPr>
            <p:ph idx="1"/>
          </p:nvPr>
        </p:nvSpPr>
        <p:spPr/>
        <p:txBody>
          <a:bodyPr>
            <a:noAutofit/>
          </a:bodyPr>
          <a:lstStyle/>
          <a:p>
            <a:r>
              <a:rPr lang="en-IN" sz="2000" dirty="0" smtClean="0"/>
              <a:t>Nickel-cadmium (</a:t>
            </a:r>
            <a:r>
              <a:rPr lang="en-IN" sz="2000" dirty="0" err="1" smtClean="0"/>
              <a:t>NiCd</a:t>
            </a:r>
            <a:r>
              <a:rPr lang="en-IN" sz="2000" dirty="0" smtClean="0"/>
              <a:t>)</a:t>
            </a:r>
          </a:p>
          <a:p>
            <a:r>
              <a:rPr lang="en-IN" sz="2000" dirty="0" smtClean="0"/>
              <a:t>Invented by </a:t>
            </a:r>
            <a:r>
              <a:rPr lang="en-IN" sz="2000" dirty="0" err="1" smtClean="0"/>
              <a:t>Waldemar</a:t>
            </a:r>
            <a:r>
              <a:rPr lang="en-IN" sz="2000" dirty="0" smtClean="0"/>
              <a:t> </a:t>
            </a:r>
            <a:r>
              <a:rPr lang="en-IN" sz="2000" dirty="0" err="1" smtClean="0"/>
              <a:t>Jungner</a:t>
            </a:r>
            <a:r>
              <a:rPr lang="en-IN" sz="2000" dirty="0" smtClean="0"/>
              <a:t> in 1899. Developments were slow, but in 1932, advancements were made to deposit the active materials inside a porous nickel-plated electrode. Further improvements occurred in 1947 by absorbing the gases generated during charge, which led to the modern sealed </a:t>
            </a:r>
            <a:r>
              <a:rPr lang="en-IN" sz="2000" dirty="0" err="1" smtClean="0"/>
              <a:t>NiCd</a:t>
            </a:r>
            <a:r>
              <a:rPr lang="en-IN" sz="2000" dirty="0" smtClean="0"/>
              <a:t> battery.</a:t>
            </a:r>
          </a:p>
          <a:p>
            <a:r>
              <a:rPr lang="en-IN" sz="2000" dirty="0" smtClean="0"/>
              <a:t>For many years, </a:t>
            </a:r>
            <a:r>
              <a:rPr lang="en-IN" sz="2000" dirty="0" err="1" smtClean="0"/>
              <a:t>NiCd</a:t>
            </a:r>
            <a:r>
              <a:rPr lang="en-IN" sz="2000" dirty="0" smtClean="0"/>
              <a:t> was the preferred battery choice for two-way radios, emergency medical equipment, professional video cameras and power tools. In the late 1980s, the ultra-high capacity </a:t>
            </a:r>
            <a:r>
              <a:rPr lang="en-IN" sz="2000" dirty="0" err="1" smtClean="0"/>
              <a:t>NiCd</a:t>
            </a:r>
            <a:r>
              <a:rPr lang="en-IN" sz="2000" dirty="0" smtClean="0"/>
              <a:t> rocked the world with capacities that were up to 60 percent higher than the standard </a:t>
            </a:r>
            <a:r>
              <a:rPr lang="en-IN" sz="2000" dirty="0" err="1" smtClean="0"/>
              <a:t>NiCd</a:t>
            </a:r>
            <a:r>
              <a:rPr lang="en-IN" sz="2000" dirty="0" smtClean="0"/>
              <a:t>.</a:t>
            </a:r>
          </a:p>
          <a:p>
            <a:r>
              <a:rPr lang="en-IN" sz="2000" dirty="0" smtClean="0"/>
              <a:t>Since the disposal of battery is hazardous to environment alternative cells are being used such as paper battery</a:t>
            </a:r>
            <a:endParaRPr lang="en-IN" sz="2000" dirty="0"/>
          </a:p>
        </p:txBody>
      </p:sp>
    </p:spTree>
    <p:extLst>
      <p:ext uri="{BB962C8B-B14F-4D97-AF65-F5344CB8AC3E}">
        <p14:creationId xmlns:p14="http://schemas.microsoft.com/office/powerpoint/2010/main" val="4111083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RECENT TRENDS</a:t>
            </a:r>
            <a:endParaRPr lang="en-IN" dirty="0"/>
          </a:p>
        </p:txBody>
      </p:sp>
      <p:sp>
        <p:nvSpPr>
          <p:cNvPr id="3" name="Content Placeholder 2"/>
          <p:cNvSpPr>
            <a:spLocks noGrp="1"/>
          </p:cNvSpPr>
          <p:nvPr>
            <p:ph idx="1"/>
          </p:nvPr>
        </p:nvSpPr>
        <p:spPr/>
        <p:txBody>
          <a:bodyPr>
            <a:normAutofit fontScale="70000" lnSpcReduction="20000"/>
          </a:bodyPr>
          <a:lstStyle/>
          <a:p>
            <a:pPr>
              <a:buNone/>
            </a:pPr>
            <a:r>
              <a:rPr lang="en-IN" dirty="0" smtClean="0"/>
              <a:t>The primary trade-off with Ni–</a:t>
            </a:r>
            <a:r>
              <a:rPr lang="en-IN" dirty="0" err="1" smtClean="0"/>
              <a:t>Cd</a:t>
            </a:r>
            <a:r>
              <a:rPr lang="en-IN" dirty="0" smtClean="0"/>
              <a:t> batteries is their higher cost and the use of cadmium. This heavy metal is an environmental hazard, and is highly toxic to all higher forms of  batteries.</a:t>
            </a:r>
          </a:p>
          <a:p>
            <a:pPr>
              <a:buNone/>
            </a:pPr>
            <a:r>
              <a:rPr lang="en-IN" dirty="0" smtClean="0"/>
              <a:t>Recently, nickel–metal hydride and lithium-</a:t>
            </a:r>
            <a:r>
              <a:rPr lang="en-IN" dirty="0" err="1" smtClean="0"/>
              <a:t>ionbatteries</a:t>
            </a:r>
            <a:r>
              <a:rPr lang="en-IN" dirty="0" smtClean="0"/>
              <a:t> have become commercially available and cheaper, the former type now </a:t>
            </a:r>
            <a:r>
              <a:rPr lang="en-IN" dirty="0" err="1" smtClean="0"/>
              <a:t>rivaling</a:t>
            </a:r>
            <a:r>
              <a:rPr lang="en-IN" dirty="0" smtClean="0"/>
              <a:t> Ni–</a:t>
            </a:r>
            <a:r>
              <a:rPr lang="en-IN" dirty="0" err="1" smtClean="0"/>
              <a:t>Cd</a:t>
            </a:r>
            <a:r>
              <a:rPr lang="en-IN" dirty="0" smtClean="0"/>
              <a:t> batteries in cost..</a:t>
            </a:r>
          </a:p>
          <a:p>
            <a:pPr>
              <a:buNone/>
            </a:pPr>
            <a:r>
              <a:rPr lang="en-IN" dirty="0" smtClean="0"/>
              <a:t>The batteries are more difficult to damage than other batteries, tolerating deep discharge for long periods. </a:t>
            </a:r>
          </a:p>
          <a:p>
            <a:pPr>
              <a:buNone/>
            </a:pPr>
            <a:r>
              <a:rPr lang="en-IN" dirty="0" smtClean="0"/>
              <a:t>Ni–</a:t>
            </a:r>
            <a:r>
              <a:rPr lang="en-IN" dirty="0" err="1" smtClean="0"/>
              <a:t>Cd</a:t>
            </a:r>
            <a:r>
              <a:rPr lang="en-IN" dirty="0" smtClean="0"/>
              <a:t> batteries typically last longer, in terms of number of charge/discharge cycles, than other rechargeable batteries such as lead/acid batteries.</a:t>
            </a:r>
          </a:p>
          <a:p>
            <a:pPr>
              <a:buNone/>
            </a:pPr>
            <a:r>
              <a:rPr lang="en-IN" dirty="0" smtClean="0"/>
              <a:t>Compared to lead–acid batteries, Ni–</a:t>
            </a:r>
            <a:r>
              <a:rPr lang="en-IN" dirty="0" err="1" smtClean="0"/>
              <a:t>Cd</a:t>
            </a:r>
            <a:r>
              <a:rPr lang="en-IN" dirty="0" smtClean="0"/>
              <a:t> batteries have a much higher energy density.</a:t>
            </a:r>
          </a:p>
          <a:p>
            <a:pPr>
              <a:buNone/>
            </a:pPr>
            <a:r>
              <a:rPr lang="en-IN" dirty="0" smtClean="0"/>
              <a:t> In consumer applications, Ni–</a:t>
            </a:r>
            <a:r>
              <a:rPr lang="en-IN" dirty="0" err="1" smtClean="0"/>
              <a:t>Cd</a:t>
            </a:r>
            <a:r>
              <a:rPr lang="en-IN" dirty="0" smtClean="0"/>
              <a:t> batteries compete directly with alkaline batteries. A Ni–</a:t>
            </a:r>
            <a:r>
              <a:rPr lang="en-IN" dirty="0" err="1" smtClean="0"/>
              <a:t>Cd</a:t>
            </a:r>
            <a:r>
              <a:rPr lang="en-IN" dirty="0" smtClean="0"/>
              <a:t> cell has a lower capacity than that of an equivalent alkaline cell, and costs more. </a:t>
            </a:r>
          </a:p>
          <a:p>
            <a:pPr>
              <a:buNone/>
            </a:pPr>
            <a:r>
              <a:rPr lang="en-IN" dirty="0" smtClean="0"/>
              <a:t>The capacity of a Ni–</a:t>
            </a:r>
            <a:r>
              <a:rPr lang="en-IN" dirty="0" err="1" smtClean="0"/>
              <a:t>Cd</a:t>
            </a:r>
            <a:r>
              <a:rPr lang="en-IN" dirty="0" smtClean="0"/>
              <a:t> battery is not significantly affected by very high discharge currents.</a:t>
            </a:r>
          </a:p>
          <a:p>
            <a:endParaRPr lang="en-IN" dirty="0"/>
          </a:p>
        </p:txBody>
      </p:sp>
    </p:spTree>
    <p:extLst>
      <p:ext uri="{BB962C8B-B14F-4D97-AF65-F5344CB8AC3E}">
        <p14:creationId xmlns:p14="http://schemas.microsoft.com/office/powerpoint/2010/main" val="3634178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IN" dirty="0" smtClean="0"/>
              <a:t>CELL REPRESENTATION AND</a:t>
            </a:r>
            <a:br>
              <a:rPr lang="en-IN" dirty="0" smtClean="0"/>
            </a:br>
            <a:r>
              <a:rPr lang="en-IN" dirty="0" smtClean="0"/>
              <a:t> CELL REACTION</a:t>
            </a:r>
            <a:endParaRPr lang="en-IN" dirty="0"/>
          </a:p>
        </p:txBody>
      </p:sp>
      <p:sp>
        <p:nvSpPr>
          <p:cNvPr id="3" name="Content Placeholder 2"/>
          <p:cNvSpPr>
            <a:spLocks noGrp="1"/>
          </p:cNvSpPr>
          <p:nvPr>
            <p:ph idx="1"/>
          </p:nvPr>
        </p:nvSpPr>
        <p:spPr/>
        <p:txBody>
          <a:bodyPr>
            <a:normAutofit/>
          </a:bodyPr>
          <a:lstStyle/>
          <a:p>
            <a:pPr algn="ctr">
              <a:buNone/>
            </a:pPr>
            <a:r>
              <a:rPr lang="en-IN" dirty="0" smtClean="0"/>
              <a:t>A typical Ni-Cd battery is represented as </a:t>
            </a:r>
          </a:p>
          <a:p>
            <a:pPr algn="ctr">
              <a:buNone/>
            </a:pPr>
            <a:r>
              <a:rPr lang="en-IN" dirty="0" smtClean="0"/>
              <a:t>Cd| Cd(OH)2|| NiO(OH)| Ni(OH)2</a:t>
            </a:r>
          </a:p>
          <a:p>
            <a:pPr>
              <a:buNone/>
            </a:pPr>
            <a:r>
              <a:rPr lang="en-IN" dirty="0" smtClean="0"/>
              <a:t> Cell reaction while discharging</a:t>
            </a:r>
          </a:p>
          <a:p>
            <a:pPr>
              <a:buNone/>
            </a:pPr>
            <a:r>
              <a:rPr lang="en-IN" dirty="0" smtClean="0"/>
              <a:t>At Anode: oxidation of Cd metal</a:t>
            </a:r>
          </a:p>
          <a:p>
            <a:pPr>
              <a:buNone/>
            </a:pPr>
            <a:r>
              <a:rPr lang="en-IN" dirty="0" smtClean="0"/>
              <a:t>Cd + 2OH</a:t>
            </a:r>
            <a:r>
              <a:rPr lang="en-IN" baseline="60000" dirty="0" smtClean="0"/>
              <a:t>_</a:t>
            </a:r>
            <a:r>
              <a:rPr lang="en-IN" dirty="0" smtClean="0"/>
              <a:t>            Cd(OH)</a:t>
            </a:r>
            <a:r>
              <a:rPr lang="en-IN" baseline="-25000" dirty="0" smtClean="0"/>
              <a:t>2</a:t>
            </a:r>
            <a:r>
              <a:rPr lang="en-IN" dirty="0" smtClean="0"/>
              <a:t>  + 2e</a:t>
            </a:r>
            <a:r>
              <a:rPr lang="en-IN" baseline="30000" dirty="0" smtClean="0"/>
              <a:t>-</a:t>
            </a:r>
            <a:r>
              <a:rPr lang="en-IN" dirty="0" smtClean="0"/>
              <a:t>  </a:t>
            </a:r>
          </a:p>
          <a:p>
            <a:pPr>
              <a:buNone/>
            </a:pPr>
            <a:r>
              <a:rPr lang="en-IN" dirty="0" smtClean="0"/>
              <a:t>At cathode: reduction of NiO(OH)</a:t>
            </a:r>
          </a:p>
          <a:p>
            <a:pPr>
              <a:buNone/>
            </a:pPr>
            <a:r>
              <a:rPr lang="en-IN" dirty="0" smtClean="0"/>
              <a:t>2NiO(OH) + 2H</a:t>
            </a:r>
            <a:r>
              <a:rPr lang="en-IN" baseline="-25000" dirty="0" smtClean="0"/>
              <a:t>2</a:t>
            </a:r>
            <a:r>
              <a:rPr lang="en-IN" dirty="0" smtClean="0"/>
              <a:t>O + 2e</a:t>
            </a:r>
            <a:r>
              <a:rPr lang="en-IN" baseline="30000" dirty="0" smtClean="0"/>
              <a:t>-                  </a:t>
            </a:r>
            <a:r>
              <a:rPr lang="en-IN" dirty="0" smtClean="0"/>
              <a:t> 2Ni(OH)</a:t>
            </a:r>
            <a:r>
              <a:rPr lang="en-IN" baseline="-25000" dirty="0" smtClean="0"/>
              <a:t>2</a:t>
            </a:r>
            <a:r>
              <a:rPr lang="en-IN" dirty="0" smtClean="0"/>
              <a:t> + 2OH</a:t>
            </a:r>
            <a:r>
              <a:rPr lang="en-IN" baseline="44000" dirty="0" smtClean="0"/>
              <a:t>-   </a:t>
            </a:r>
            <a:endParaRPr lang="en-IN" baseline="30000" dirty="0" smtClean="0"/>
          </a:p>
          <a:p>
            <a:pPr algn="ctr">
              <a:buNone/>
            </a:pPr>
            <a:r>
              <a:rPr lang="en-IN" dirty="0" smtClean="0"/>
              <a:t>  Net Cell reaction:      </a:t>
            </a:r>
          </a:p>
          <a:p>
            <a:pPr>
              <a:buNone/>
            </a:pPr>
            <a:r>
              <a:rPr lang="en-IN" dirty="0" smtClean="0"/>
              <a:t> 2NiO(OH) + 2H</a:t>
            </a:r>
            <a:r>
              <a:rPr lang="en-IN" baseline="-25000" dirty="0" smtClean="0"/>
              <a:t>2</a:t>
            </a:r>
            <a:r>
              <a:rPr lang="en-IN" dirty="0" smtClean="0"/>
              <a:t>O + Cd                 2Ni(OH)</a:t>
            </a:r>
            <a:r>
              <a:rPr lang="en-IN" baseline="-25000" dirty="0" smtClean="0"/>
              <a:t>2</a:t>
            </a:r>
            <a:r>
              <a:rPr lang="en-IN" dirty="0" smtClean="0"/>
              <a:t> + Cd(OH)</a:t>
            </a:r>
            <a:r>
              <a:rPr lang="en-IN" baseline="-25000" dirty="0" smtClean="0"/>
              <a:t>2</a:t>
            </a:r>
            <a:r>
              <a:rPr lang="en-IN" dirty="0" smtClean="0"/>
              <a:t> </a:t>
            </a:r>
          </a:p>
        </p:txBody>
      </p:sp>
      <p:cxnSp>
        <p:nvCxnSpPr>
          <p:cNvPr id="5" name="Straight Arrow Connector 4"/>
          <p:cNvCxnSpPr/>
          <p:nvPr/>
        </p:nvCxnSpPr>
        <p:spPr>
          <a:xfrm>
            <a:off x="2071670" y="4071942"/>
            <a:ext cx="92869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071934" y="5072074"/>
            <a:ext cx="78581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214810" y="6000768"/>
            <a:ext cx="100013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7" name="Picture 6" descr="23.jpg"/>
          <p:cNvPicPr>
            <a:picLocks noChangeAspect="1"/>
          </p:cNvPicPr>
          <p:nvPr/>
        </p:nvPicPr>
        <p:blipFill>
          <a:blip r:embed="rId2" cstate="print"/>
          <a:stretch>
            <a:fillRect/>
          </a:stretch>
        </p:blipFill>
        <p:spPr>
          <a:xfrm>
            <a:off x="5638800" y="2622539"/>
            <a:ext cx="2714644" cy="1568461"/>
          </a:xfrm>
          <a:prstGeom prst="rect">
            <a:avLst/>
          </a:prstGeom>
        </p:spPr>
      </p:pic>
    </p:spTree>
    <p:extLst>
      <p:ext uri="{BB962C8B-B14F-4D97-AF65-F5344CB8AC3E}">
        <p14:creationId xmlns:p14="http://schemas.microsoft.com/office/powerpoint/2010/main" val="18346038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ADVANTAGES</a:t>
            </a:r>
            <a:endParaRPr lang="en-IN" dirty="0"/>
          </a:p>
        </p:txBody>
      </p:sp>
      <p:sp>
        <p:nvSpPr>
          <p:cNvPr id="3" name="Content Placeholder 2"/>
          <p:cNvSpPr>
            <a:spLocks noGrp="1"/>
          </p:cNvSpPr>
          <p:nvPr>
            <p:ph idx="1"/>
          </p:nvPr>
        </p:nvSpPr>
        <p:spPr/>
        <p:txBody>
          <a:bodyPr/>
          <a:lstStyle/>
          <a:p>
            <a:r>
              <a:rPr lang="en-IN" dirty="0" smtClean="0"/>
              <a:t>Fast and simple charging process</a:t>
            </a:r>
          </a:p>
          <a:p>
            <a:r>
              <a:rPr lang="en-IN" dirty="0" smtClean="0"/>
              <a:t>It is compact and lighter than traditional batteries</a:t>
            </a:r>
          </a:p>
          <a:p>
            <a:r>
              <a:rPr lang="en-IN" dirty="0" smtClean="0"/>
              <a:t>It has a longer life than lead storage batteries</a:t>
            </a:r>
          </a:p>
          <a:p>
            <a:r>
              <a:rPr lang="en-IN" dirty="0" smtClean="0"/>
              <a:t>Available in a wide range of sizes and performance options</a:t>
            </a:r>
          </a:p>
          <a:p>
            <a:r>
              <a:rPr lang="en-IN" dirty="0" smtClean="0"/>
              <a:t>Good low-temperature performance</a:t>
            </a:r>
          </a:p>
          <a:p>
            <a:r>
              <a:rPr lang="en-IN" dirty="0" smtClean="0"/>
              <a:t>Only battery that can be ultra-fast charged with little stress</a:t>
            </a:r>
          </a:p>
          <a:p>
            <a:endParaRPr lang="en-IN" dirty="0"/>
          </a:p>
        </p:txBody>
      </p:sp>
    </p:spTree>
    <p:extLst>
      <p:ext uri="{BB962C8B-B14F-4D97-AF65-F5344CB8AC3E}">
        <p14:creationId xmlns:p14="http://schemas.microsoft.com/office/powerpoint/2010/main" val="668073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LIMITATIONS</a:t>
            </a:r>
            <a:endParaRPr lang="en-IN" dirty="0"/>
          </a:p>
        </p:txBody>
      </p:sp>
      <p:sp>
        <p:nvSpPr>
          <p:cNvPr id="3" name="Content Placeholder 2"/>
          <p:cNvSpPr>
            <a:spLocks noGrp="1"/>
          </p:cNvSpPr>
          <p:nvPr>
            <p:ph idx="1"/>
          </p:nvPr>
        </p:nvSpPr>
        <p:spPr/>
        <p:txBody>
          <a:bodyPr/>
          <a:lstStyle/>
          <a:p>
            <a:r>
              <a:rPr lang="en-IN" dirty="0" smtClean="0"/>
              <a:t>It is rather more expensive than a lead storage battery</a:t>
            </a:r>
          </a:p>
          <a:p>
            <a:r>
              <a:rPr lang="en-IN" dirty="0" smtClean="0"/>
              <a:t>It has a lower energy density value</a:t>
            </a:r>
          </a:p>
          <a:p>
            <a:r>
              <a:rPr lang="en-IN" dirty="0" smtClean="0"/>
              <a:t>Cadmium is a toxic metal. Cannot be disposed of in landfills</a:t>
            </a:r>
          </a:p>
          <a:p>
            <a:r>
              <a:rPr lang="en-IN" dirty="0" smtClean="0"/>
              <a:t>Memory effect; needs periodic full discharges</a:t>
            </a:r>
          </a:p>
          <a:p>
            <a:r>
              <a:rPr lang="en-IN" dirty="0" smtClean="0"/>
              <a:t>High self-discharge; needs recharging after storage</a:t>
            </a:r>
          </a:p>
          <a:p>
            <a:endParaRPr lang="en-IN" dirty="0" smtClean="0"/>
          </a:p>
          <a:p>
            <a:pPr>
              <a:buNone/>
            </a:pPr>
            <a:endParaRPr lang="en-IN" dirty="0"/>
          </a:p>
        </p:txBody>
      </p:sp>
    </p:spTree>
    <p:extLst>
      <p:ext uri="{BB962C8B-B14F-4D97-AF65-F5344CB8AC3E}">
        <p14:creationId xmlns:p14="http://schemas.microsoft.com/office/powerpoint/2010/main" val="2206735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smtClean="0"/>
              <a:t>APPLICATIONS</a:t>
            </a:r>
            <a:endParaRPr lang="en-IN" dirty="0"/>
          </a:p>
        </p:txBody>
      </p:sp>
      <p:sp>
        <p:nvSpPr>
          <p:cNvPr id="3" name="Content Placeholder 2"/>
          <p:cNvSpPr>
            <a:spLocks noGrp="1"/>
          </p:cNvSpPr>
          <p:nvPr>
            <p:ph idx="1"/>
          </p:nvPr>
        </p:nvSpPr>
        <p:spPr/>
        <p:txBody>
          <a:bodyPr/>
          <a:lstStyle/>
          <a:p>
            <a:r>
              <a:rPr lang="en-IN" dirty="0" smtClean="0"/>
              <a:t>Ni-</a:t>
            </a:r>
            <a:r>
              <a:rPr lang="en-IN" dirty="0" err="1" smtClean="0"/>
              <a:t>Cd</a:t>
            </a:r>
            <a:r>
              <a:rPr lang="en-IN" dirty="0" smtClean="0"/>
              <a:t> cells are popularly used in many appliances because they are available in variety of sizes and </a:t>
            </a:r>
            <a:r>
              <a:rPr lang="en-IN" dirty="0" err="1" smtClean="0"/>
              <a:t>capaciities</a:t>
            </a:r>
            <a:r>
              <a:rPr lang="en-IN" dirty="0" smtClean="0"/>
              <a:t>.</a:t>
            </a:r>
          </a:p>
          <a:p>
            <a:r>
              <a:rPr lang="en-IN" dirty="0" smtClean="0"/>
              <a:t>Few examples are:</a:t>
            </a:r>
          </a:p>
          <a:p>
            <a:pPr>
              <a:buFont typeface="Wingdings" pitchFamily="2" charset="2"/>
              <a:buChar char="v"/>
            </a:pPr>
            <a:r>
              <a:rPr lang="en-IN" dirty="0" smtClean="0"/>
              <a:t>Calculators </a:t>
            </a:r>
          </a:p>
          <a:p>
            <a:pPr>
              <a:buFont typeface="Wingdings" pitchFamily="2" charset="2"/>
              <a:buChar char="v"/>
            </a:pPr>
            <a:r>
              <a:rPr lang="en-IN" dirty="0" smtClean="0"/>
              <a:t>Electronic flash units</a:t>
            </a:r>
          </a:p>
          <a:p>
            <a:pPr>
              <a:buFont typeface="Wingdings" pitchFamily="2" charset="2"/>
              <a:buChar char="v"/>
            </a:pPr>
            <a:r>
              <a:rPr lang="en-IN" dirty="0" smtClean="0"/>
              <a:t>Transistors</a:t>
            </a:r>
          </a:p>
          <a:p>
            <a:pPr>
              <a:buFont typeface="Wingdings" pitchFamily="2" charset="2"/>
              <a:buChar char="v"/>
            </a:pPr>
            <a:r>
              <a:rPr lang="en-IN" dirty="0" smtClean="0"/>
              <a:t>Cordless appliances</a:t>
            </a:r>
          </a:p>
          <a:p>
            <a:endParaRPr lang="en-IN" dirty="0" smtClean="0"/>
          </a:p>
        </p:txBody>
      </p:sp>
      <p:pic>
        <p:nvPicPr>
          <p:cNvPr id="8" name="Picture 2" descr="C:\Users\Lenovo\Desktop\download.jpg"/>
          <p:cNvPicPr>
            <a:picLocks noChangeAspect="1" noChangeArrowheads="1"/>
          </p:cNvPicPr>
          <p:nvPr/>
        </p:nvPicPr>
        <p:blipFill>
          <a:blip r:embed="rId2"/>
          <a:srcRect/>
          <a:stretch>
            <a:fillRect/>
          </a:stretch>
        </p:blipFill>
        <p:spPr bwMode="auto">
          <a:xfrm>
            <a:off x="4357686" y="3143248"/>
            <a:ext cx="1651381" cy="1400967"/>
          </a:xfrm>
          <a:prstGeom prst="rect">
            <a:avLst/>
          </a:prstGeom>
          <a:noFill/>
        </p:spPr>
      </p:pic>
      <p:pic>
        <p:nvPicPr>
          <p:cNvPr id="9" name="Picture 3" descr="C:\Users\Lenovo\Desktop\download (1).jpg"/>
          <p:cNvPicPr>
            <a:picLocks noChangeAspect="1" noChangeArrowheads="1"/>
          </p:cNvPicPr>
          <p:nvPr/>
        </p:nvPicPr>
        <p:blipFill>
          <a:blip r:embed="rId3"/>
          <a:srcRect/>
          <a:stretch>
            <a:fillRect/>
          </a:stretch>
        </p:blipFill>
        <p:spPr bwMode="auto">
          <a:xfrm>
            <a:off x="6500827" y="3000373"/>
            <a:ext cx="1714512" cy="1714512"/>
          </a:xfrm>
          <a:prstGeom prst="rect">
            <a:avLst/>
          </a:prstGeom>
          <a:noFill/>
        </p:spPr>
      </p:pic>
      <p:pic>
        <p:nvPicPr>
          <p:cNvPr id="25606" name="Picture 6" descr="C:\Users\Lenovo\Desktop\download (2).jpg"/>
          <p:cNvPicPr>
            <a:picLocks noChangeAspect="1" noChangeArrowheads="1"/>
          </p:cNvPicPr>
          <p:nvPr/>
        </p:nvPicPr>
        <p:blipFill>
          <a:blip r:embed="rId4"/>
          <a:srcRect/>
          <a:stretch>
            <a:fillRect/>
          </a:stretch>
        </p:blipFill>
        <p:spPr bwMode="auto">
          <a:xfrm>
            <a:off x="4714876" y="5000636"/>
            <a:ext cx="1285884" cy="1469582"/>
          </a:xfrm>
          <a:prstGeom prst="rect">
            <a:avLst/>
          </a:prstGeom>
          <a:noFill/>
        </p:spPr>
      </p:pic>
      <p:pic>
        <p:nvPicPr>
          <p:cNvPr id="25607" name="Picture 7" descr="C:\Users\Lenovo\Desktop\41hFgLSJWKL._AC_SS350_.jpg"/>
          <p:cNvPicPr>
            <a:picLocks noChangeAspect="1" noChangeArrowheads="1"/>
          </p:cNvPicPr>
          <p:nvPr/>
        </p:nvPicPr>
        <p:blipFill>
          <a:blip r:embed="rId5"/>
          <a:srcRect/>
          <a:stretch>
            <a:fillRect/>
          </a:stretch>
        </p:blipFill>
        <p:spPr bwMode="auto">
          <a:xfrm>
            <a:off x="6715140" y="5143512"/>
            <a:ext cx="1238247" cy="1238247"/>
          </a:xfrm>
          <a:prstGeom prst="rect">
            <a:avLst/>
          </a:prstGeom>
          <a:noFill/>
        </p:spPr>
      </p:pic>
    </p:spTree>
    <p:extLst>
      <p:ext uri="{BB962C8B-B14F-4D97-AF65-F5344CB8AC3E}">
        <p14:creationId xmlns:p14="http://schemas.microsoft.com/office/powerpoint/2010/main" val="2157454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0" y="1981200"/>
            <a:ext cx="5111752" cy="1515533"/>
          </a:xfrm>
        </p:spPr>
        <p:txBody>
          <a:bodyPr>
            <a:noAutofit/>
          </a:bodyPr>
          <a:lstStyle/>
          <a:p>
            <a:r>
              <a:rPr lang="en-US" sz="4400" dirty="0" smtClean="0">
                <a:solidFill>
                  <a:schemeClr val="bg2">
                    <a:lumMod val="50000"/>
                  </a:schemeClr>
                </a:solidFill>
                <a:latin typeface="Algerian" pitchFamily="82" charset="0"/>
              </a:rPr>
              <a:t>3. RECHARGEABLE </a:t>
            </a:r>
            <a:r>
              <a:rPr lang="en-US" sz="4400" dirty="0" smtClean="0">
                <a:solidFill>
                  <a:schemeClr val="bg2">
                    <a:lumMod val="50000"/>
                  </a:schemeClr>
                </a:solidFill>
                <a:latin typeface="Algerian" pitchFamily="82" charset="0"/>
              </a:rPr>
              <a:t>LITHIUM   Batteries</a:t>
            </a:r>
            <a:endParaRPr lang="en-US" sz="4400" dirty="0">
              <a:solidFill>
                <a:schemeClr val="bg2">
                  <a:lumMod val="50000"/>
                </a:schemeClr>
              </a:solidFill>
              <a:latin typeface="Algerian" pitchFamily="82" charset="0"/>
            </a:endParaRPr>
          </a:p>
        </p:txBody>
      </p:sp>
    </p:spTree>
    <p:extLst>
      <p:ext uri="{BB962C8B-B14F-4D97-AF65-F5344CB8AC3E}">
        <p14:creationId xmlns:p14="http://schemas.microsoft.com/office/powerpoint/2010/main" val="40796434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Title 1048646"/>
          <p:cNvSpPr>
            <a:spLocks noGrp="1"/>
          </p:cNvSpPr>
          <p:nvPr>
            <p:ph type="title"/>
          </p:nvPr>
        </p:nvSpPr>
        <p:spPr>
          <a:xfrm>
            <a:off x="457200" y="228600"/>
            <a:ext cx="7239000" cy="899160"/>
          </a:xfrm>
        </p:spPr>
        <p:txBody>
          <a:bodyPr>
            <a:normAutofit/>
          </a:bodyPr>
          <a:lstStyle/>
          <a:p>
            <a:pPr algn="ctr"/>
            <a:r>
              <a:rPr lang="en-US" sz="4000" dirty="0" smtClean="0">
                <a:latin typeface="Algerian" pitchFamily="82" charset="0"/>
              </a:rPr>
              <a:t>DESCRIPTION</a:t>
            </a:r>
            <a:endParaRPr lang="en-US" sz="4000" dirty="0">
              <a:latin typeface="Algerian" pitchFamily="82" charset="0"/>
            </a:endParaRPr>
          </a:p>
        </p:txBody>
      </p:sp>
      <p:sp>
        <p:nvSpPr>
          <p:cNvPr id="1048648" name="Content Placeholder 1048647"/>
          <p:cNvSpPr>
            <a:spLocks noGrp="1"/>
          </p:cNvSpPr>
          <p:nvPr>
            <p:ph idx="1"/>
          </p:nvPr>
        </p:nvSpPr>
        <p:spPr>
          <a:xfrm>
            <a:off x="674809" y="1564664"/>
            <a:ext cx="7886700" cy="4351338"/>
          </a:xfrm>
        </p:spPr>
        <p:txBody>
          <a:bodyPr>
            <a:normAutofit fontScale="92500" lnSpcReduction="10000"/>
          </a:bodyPr>
          <a:lstStyle/>
          <a:p>
            <a:endParaRPr lang="en-US" dirty="0" smtClean="0"/>
          </a:p>
          <a:p>
            <a:endParaRPr lang="en-US" dirty="0" smtClean="0"/>
          </a:p>
          <a:p>
            <a:pPr marL="0" indent="0">
              <a:buNone/>
            </a:pPr>
            <a:endParaRPr lang="en-US" dirty="0"/>
          </a:p>
          <a:p>
            <a:endParaRPr lang="en-US" dirty="0" smtClean="0"/>
          </a:p>
          <a:p>
            <a:endParaRPr lang="en-US" dirty="0"/>
          </a:p>
          <a:p>
            <a:r>
              <a:rPr lang="en-US" sz="2400" dirty="0" smtClean="0">
                <a:latin typeface="Adobe Caslon Pro" pitchFamily="18" charset="0"/>
              </a:rPr>
              <a:t>A</a:t>
            </a:r>
            <a:r>
              <a:rPr lang="en-US" sz="2400" dirty="0">
                <a:latin typeface="Adobe Caslon Pro" pitchFamily="18" charset="0"/>
              </a:rPr>
              <a:t> lithium-ion battery or Li-ion battery (abbreviated as LIB) is a type of rechargeable battery in which lithium ions move from the negative electrode to the positive electrode during discharge and back when charging.</a:t>
            </a:r>
          </a:p>
          <a:p>
            <a:r>
              <a:rPr lang="en-US" sz="2400" dirty="0">
                <a:latin typeface="Adobe Caslon Pro" pitchFamily="18" charset="0"/>
              </a:rPr>
              <a:t>The electrolyte, which allows for ionic movement, and the two electrodes are the constituent components of a lithium-ion battery cell.</a:t>
            </a:r>
          </a:p>
          <a:p>
            <a:endParaRPr lang="en-US" dirty="0"/>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647" y="1421788"/>
            <a:ext cx="2846510"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0157" y="1421787"/>
            <a:ext cx="2711053"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1210" y="1421786"/>
            <a:ext cx="21431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87329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smtClean="0">
                <a:latin typeface="Algerian" pitchFamily="82" charset="0"/>
              </a:rPr>
              <a:t>Electrolytes</a:t>
            </a:r>
            <a:endParaRPr lang="en-US" sz="4000" dirty="0">
              <a:latin typeface="Algerian" pitchFamily="82" charset="0"/>
            </a:endParaRPr>
          </a:p>
        </p:txBody>
      </p:sp>
      <p:sp>
        <p:nvSpPr>
          <p:cNvPr id="3" name="Content Placeholder 2"/>
          <p:cNvSpPr>
            <a:spLocks noGrp="1"/>
          </p:cNvSpPr>
          <p:nvPr>
            <p:ph idx="1"/>
          </p:nvPr>
        </p:nvSpPr>
        <p:spPr/>
        <p:txBody>
          <a:bodyPr>
            <a:normAutofit/>
          </a:bodyPr>
          <a:lstStyle/>
          <a:p>
            <a:r>
              <a:rPr lang="en-US" sz="2200" dirty="0" smtClean="0">
                <a:latin typeface="Adobe Caslon Pro" pitchFamily="18" charset="0"/>
              </a:rPr>
              <a:t>Role-</a:t>
            </a:r>
          </a:p>
          <a:p>
            <a:pPr marL="514350" indent="-514350">
              <a:buFont typeface="+mj-lt"/>
              <a:buAutoNum type="arabicPeriod"/>
            </a:pPr>
            <a:r>
              <a:rPr lang="en-US" sz="2200" dirty="0" smtClean="0">
                <a:latin typeface="Adobe Caslon Pro" pitchFamily="18" charset="0"/>
              </a:rPr>
              <a:t>Ion conduction between cathode and anode.</a:t>
            </a:r>
          </a:p>
          <a:p>
            <a:pPr marL="514350" indent="-514350">
              <a:buFont typeface="+mj-lt"/>
              <a:buAutoNum type="arabicPeriod"/>
            </a:pPr>
            <a:r>
              <a:rPr lang="en-US" sz="2200" dirty="0" smtClean="0">
                <a:latin typeface="Adobe Caslon Pro" pitchFamily="18" charset="0"/>
              </a:rPr>
              <a:t>They are generally, Lithium salts dissolved in organic solvent.</a:t>
            </a:r>
          </a:p>
          <a:p>
            <a:r>
              <a:rPr lang="en-US" sz="2200" dirty="0" smtClean="0">
                <a:latin typeface="Adobe Caslon Pro" pitchFamily="18" charset="0"/>
              </a:rPr>
              <a:t>Commercial electrolytes:            in </a:t>
            </a:r>
            <a:r>
              <a:rPr lang="en-US" sz="2200" dirty="0">
                <a:latin typeface="Adobe Caslon Pro" pitchFamily="18" charset="0"/>
              </a:rPr>
              <a:t>C</a:t>
            </a:r>
            <a:r>
              <a:rPr lang="en-US" sz="2200" dirty="0" smtClean="0">
                <a:latin typeface="Adobe Caslon Pro" pitchFamily="18" charset="0"/>
              </a:rPr>
              <a:t>arbonate solvent.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6324" y="3088663"/>
            <a:ext cx="685800"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6324" y="4249614"/>
            <a:ext cx="2581275" cy="223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2897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smtClean="0">
                <a:latin typeface="Algerian" pitchFamily="82" charset="0"/>
              </a:rPr>
              <a:t>Anode Materials</a:t>
            </a:r>
            <a:endParaRPr lang="en-US" sz="4000" dirty="0">
              <a:latin typeface="Algerian" pitchFamily="82" charset="0"/>
            </a:endParaRPr>
          </a:p>
        </p:txBody>
      </p:sp>
      <p:sp>
        <p:nvSpPr>
          <p:cNvPr id="3" name="Content Placeholder 2"/>
          <p:cNvSpPr>
            <a:spLocks noGrp="1"/>
          </p:cNvSpPr>
          <p:nvPr>
            <p:ph idx="1"/>
          </p:nvPr>
        </p:nvSpPr>
        <p:spPr/>
        <p:txBody>
          <a:bodyPr>
            <a:normAutofit/>
          </a:bodyPr>
          <a:lstStyle/>
          <a:p>
            <a:r>
              <a:rPr lang="en-US" sz="2400" dirty="0" smtClean="0">
                <a:latin typeface="Adobe Caslon Pro" pitchFamily="18" charset="0"/>
              </a:rPr>
              <a:t>Requirements:</a:t>
            </a:r>
          </a:p>
          <a:p>
            <a:pPr marL="514350" indent="-514350">
              <a:buFont typeface="+mj-lt"/>
              <a:buAutoNum type="arabicPeriod"/>
            </a:pPr>
            <a:r>
              <a:rPr lang="en-US" sz="2400" dirty="0" smtClean="0">
                <a:latin typeface="Adobe Caslon Pro" pitchFamily="18" charset="0"/>
              </a:rPr>
              <a:t>Large </a:t>
            </a:r>
            <a:r>
              <a:rPr lang="en-US" sz="2400" dirty="0" err="1" smtClean="0">
                <a:latin typeface="Adobe Caslon Pro" pitchFamily="18" charset="0"/>
              </a:rPr>
              <a:t>capabilites</a:t>
            </a:r>
            <a:r>
              <a:rPr lang="en-US" sz="2400" dirty="0" smtClean="0">
                <a:latin typeface="Adobe Caslon Pro" pitchFamily="18" charset="0"/>
              </a:rPr>
              <a:t> of adsorption.</a:t>
            </a:r>
          </a:p>
          <a:p>
            <a:pPr marL="514350" indent="-514350">
              <a:buFont typeface="+mj-lt"/>
              <a:buAutoNum type="arabicPeriod"/>
            </a:pPr>
            <a:r>
              <a:rPr lang="en-US" sz="2400" dirty="0" smtClean="0">
                <a:latin typeface="Adobe Caslon Pro" pitchFamily="18" charset="0"/>
              </a:rPr>
              <a:t>High </a:t>
            </a:r>
            <a:r>
              <a:rPr lang="en-US" sz="2400" dirty="0" err="1" smtClean="0">
                <a:latin typeface="Adobe Caslon Pro" pitchFamily="18" charset="0"/>
              </a:rPr>
              <a:t>efficency</a:t>
            </a:r>
            <a:r>
              <a:rPr lang="en-US" sz="2400" dirty="0" smtClean="0">
                <a:latin typeface="Adobe Caslon Pro" pitchFamily="18" charset="0"/>
              </a:rPr>
              <a:t> of charge/discharge.</a:t>
            </a:r>
          </a:p>
          <a:p>
            <a:pPr marL="514350" indent="-514350">
              <a:buFont typeface="+mj-lt"/>
              <a:buAutoNum type="arabicPeriod"/>
            </a:pPr>
            <a:r>
              <a:rPr lang="en-US" sz="2400" dirty="0" smtClean="0">
                <a:latin typeface="Adobe Caslon Pro" pitchFamily="18" charset="0"/>
              </a:rPr>
              <a:t>Low reactivity against electrolyte.</a:t>
            </a:r>
          </a:p>
          <a:p>
            <a:pPr marL="514350" indent="-514350">
              <a:buFont typeface="+mj-lt"/>
              <a:buAutoNum type="arabicPeriod"/>
            </a:pPr>
            <a:r>
              <a:rPr lang="en-US" sz="2400" dirty="0" smtClean="0">
                <a:latin typeface="Adobe Caslon Pro" pitchFamily="18" charset="0"/>
              </a:rPr>
              <a:t>Fast reaction rate.</a:t>
            </a:r>
          </a:p>
          <a:p>
            <a:pPr marL="514350" indent="-514350">
              <a:buFont typeface="+mj-lt"/>
              <a:buAutoNum type="arabicPeriod"/>
            </a:pPr>
            <a:r>
              <a:rPr lang="en-US" sz="2400" dirty="0" smtClean="0">
                <a:latin typeface="Adobe Caslon Pro" pitchFamily="18" charset="0"/>
              </a:rPr>
              <a:t>Low cost</a:t>
            </a:r>
          </a:p>
          <a:p>
            <a:pPr marL="514350" indent="-514350">
              <a:buFont typeface="+mj-lt"/>
              <a:buAutoNum type="arabicPeriod"/>
            </a:pPr>
            <a:r>
              <a:rPr lang="en-US" sz="2400" dirty="0" smtClean="0">
                <a:latin typeface="Adobe Caslon Pro" pitchFamily="18" charset="0"/>
              </a:rPr>
              <a:t>Environment friendly</a:t>
            </a:r>
          </a:p>
          <a:p>
            <a:r>
              <a:rPr lang="en-US" sz="2400" dirty="0" smtClean="0">
                <a:latin typeface="Adobe Caslon Pro" pitchFamily="18" charset="0"/>
              </a:rPr>
              <a:t>Commercial anode materials:</a:t>
            </a:r>
          </a:p>
          <a:p>
            <a:pPr marL="0" indent="0">
              <a:buNone/>
            </a:pPr>
            <a:r>
              <a:rPr lang="en-US" sz="2400" dirty="0" smtClean="0">
                <a:latin typeface="Adobe Caslon Pro" pitchFamily="18" charset="0"/>
              </a:rPr>
              <a:t>   Hard Carbon, Graphite</a:t>
            </a:r>
            <a:endParaRPr lang="en-US" sz="2400" dirty="0">
              <a:latin typeface="Adobe Caslon Pro" pitchFamily="18" charset="0"/>
            </a:endParaRPr>
          </a:p>
        </p:txBody>
      </p:sp>
    </p:spTree>
    <p:extLst>
      <p:ext uri="{BB962C8B-B14F-4D97-AF65-F5344CB8AC3E}">
        <p14:creationId xmlns:p14="http://schemas.microsoft.com/office/powerpoint/2010/main" val="39750768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smtClean="0">
                <a:latin typeface="Algerian" pitchFamily="82" charset="0"/>
              </a:rPr>
              <a:t>Cathode Materials</a:t>
            </a:r>
            <a:endParaRPr lang="en-US" sz="4000" dirty="0">
              <a:latin typeface="Algerian" pitchFamily="82" charset="0"/>
            </a:endParaRPr>
          </a:p>
        </p:txBody>
      </p:sp>
      <p:sp>
        <p:nvSpPr>
          <p:cNvPr id="3" name="Content Placeholder 2"/>
          <p:cNvSpPr>
            <a:spLocks noGrp="1"/>
          </p:cNvSpPr>
          <p:nvPr>
            <p:ph idx="1"/>
          </p:nvPr>
        </p:nvSpPr>
        <p:spPr>
          <a:xfrm>
            <a:off x="505191" y="1684948"/>
            <a:ext cx="7886700" cy="4351338"/>
          </a:xfrm>
        </p:spPr>
        <p:txBody>
          <a:bodyPr>
            <a:normAutofit/>
          </a:bodyPr>
          <a:lstStyle/>
          <a:p>
            <a:r>
              <a:rPr lang="en-US" sz="2400" dirty="0" smtClean="0">
                <a:latin typeface="Adobe Caslon Pro" pitchFamily="18" charset="0"/>
              </a:rPr>
              <a:t>Requirements:</a:t>
            </a:r>
          </a:p>
          <a:p>
            <a:pPr marL="514350" indent="-514350">
              <a:buFont typeface="+mj-lt"/>
              <a:buAutoNum type="arabicPeriod"/>
            </a:pPr>
            <a:r>
              <a:rPr lang="en-US" sz="2400" dirty="0" smtClean="0">
                <a:latin typeface="Adobe Caslon Pro" pitchFamily="18" charset="0"/>
              </a:rPr>
              <a:t>A high discharge voltage</a:t>
            </a:r>
          </a:p>
          <a:p>
            <a:pPr marL="514350" indent="-514350">
              <a:buFont typeface="+mj-lt"/>
              <a:buAutoNum type="arabicPeriod"/>
            </a:pPr>
            <a:r>
              <a:rPr lang="en-US" sz="2400" dirty="0" smtClean="0">
                <a:latin typeface="Adobe Caslon Pro" pitchFamily="18" charset="0"/>
              </a:rPr>
              <a:t>A high energy capacity</a:t>
            </a:r>
          </a:p>
          <a:p>
            <a:pPr marL="514350" indent="-514350">
              <a:buFont typeface="+mj-lt"/>
              <a:buAutoNum type="arabicPeriod"/>
            </a:pPr>
            <a:r>
              <a:rPr lang="en-US" sz="2400" dirty="0" smtClean="0">
                <a:latin typeface="Adobe Caslon Pro" pitchFamily="18" charset="0"/>
              </a:rPr>
              <a:t>A high power density</a:t>
            </a:r>
          </a:p>
          <a:p>
            <a:pPr marL="514350" indent="-514350">
              <a:buFont typeface="+mj-lt"/>
              <a:buAutoNum type="arabicPeriod"/>
            </a:pPr>
            <a:r>
              <a:rPr lang="en-US" sz="2400" dirty="0" smtClean="0">
                <a:latin typeface="Adobe Caslon Pro" pitchFamily="18" charset="0"/>
              </a:rPr>
              <a:t>Light weight</a:t>
            </a:r>
          </a:p>
          <a:p>
            <a:pPr marL="514350" indent="-514350">
              <a:buFont typeface="+mj-lt"/>
              <a:buAutoNum type="arabicPeriod"/>
            </a:pPr>
            <a:r>
              <a:rPr lang="en-US" sz="2400" dirty="0" smtClean="0">
                <a:latin typeface="Adobe Caslon Pro" pitchFamily="18" charset="0"/>
              </a:rPr>
              <a:t>Low self discharge</a:t>
            </a:r>
          </a:p>
          <a:p>
            <a:pPr marL="514350" indent="-514350">
              <a:buFont typeface="+mj-lt"/>
              <a:buAutoNum type="arabicPeriod"/>
            </a:pPr>
            <a:r>
              <a:rPr lang="en-US" sz="2400" dirty="0">
                <a:latin typeface="Adobe Caslon Pro" pitchFamily="18" charset="0"/>
              </a:rPr>
              <a:t>Environment </a:t>
            </a:r>
            <a:r>
              <a:rPr lang="en-US" sz="2400" dirty="0" smtClean="0">
                <a:latin typeface="Adobe Caslon Pro" pitchFamily="18" charset="0"/>
              </a:rPr>
              <a:t>friendly</a:t>
            </a:r>
          </a:p>
          <a:p>
            <a:r>
              <a:rPr lang="en-US" sz="2400" dirty="0">
                <a:latin typeface="Adobe Caslon Pro" pitchFamily="18" charset="0"/>
              </a:rPr>
              <a:t>Commercial </a:t>
            </a:r>
            <a:r>
              <a:rPr lang="en-US" sz="2400" dirty="0" smtClean="0">
                <a:latin typeface="Adobe Caslon Pro" pitchFamily="18" charset="0"/>
              </a:rPr>
              <a:t>cathode </a:t>
            </a:r>
            <a:r>
              <a:rPr lang="en-US" sz="2400" dirty="0">
                <a:latin typeface="Adobe Caslon Pro" pitchFamily="18" charset="0"/>
              </a:rPr>
              <a:t>materials:</a:t>
            </a:r>
          </a:p>
          <a:p>
            <a:pPr marL="0" indent="0">
              <a:buNone/>
            </a:pPr>
            <a:r>
              <a:rPr lang="en-US" sz="2400" dirty="0" smtClean="0">
                <a:latin typeface="Adobe Caslon Pro" pitchFamily="18" charset="0"/>
              </a:rPr>
              <a:t>LiCoO2, LiFePO4 etc.</a:t>
            </a:r>
          </a:p>
          <a:p>
            <a:pPr marL="514350" indent="-514350">
              <a:buFont typeface="+mj-lt"/>
              <a:buAutoNum type="arabicPeriod"/>
            </a:pPr>
            <a:endParaRPr lang="en-US" dirty="0" smtClean="0"/>
          </a:p>
          <a:p>
            <a:pPr marL="514350" indent="-514350">
              <a:buFont typeface="+mj-lt"/>
              <a:buAutoNum type="arabicPeriod"/>
            </a:pPr>
            <a:endParaRPr lang="en-US" dirty="0"/>
          </a:p>
        </p:txBody>
      </p:sp>
    </p:spTree>
    <p:extLst>
      <p:ext uri="{BB962C8B-B14F-4D97-AF65-F5344CB8AC3E}">
        <p14:creationId xmlns:p14="http://schemas.microsoft.com/office/powerpoint/2010/main" val="9019521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smtClean="0">
                <a:latin typeface="Algerian" pitchFamily="82" charset="0"/>
              </a:rPr>
              <a:t>Chemical Reactions</a:t>
            </a:r>
            <a:endParaRPr lang="en-US" sz="4000" dirty="0">
              <a:latin typeface="Algerian" pitchFamily="82" charset="0"/>
            </a:endParaRPr>
          </a:p>
        </p:txBody>
      </p:sp>
      <p:sp>
        <p:nvSpPr>
          <p:cNvPr id="3" name="Content Placeholder 2"/>
          <p:cNvSpPr>
            <a:spLocks noGrp="1"/>
          </p:cNvSpPr>
          <p:nvPr>
            <p:ph idx="1"/>
          </p:nvPr>
        </p:nvSpPr>
        <p:spPr/>
        <p:txBody>
          <a:bodyPr>
            <a:normAutofit/>
          </a:bodyPr>
          <a:lstStyle/>
          <a:p>
            <a:r>
              <a:rPr lang="en-US" sz="2200" dirty="0">
                <a:latin typeface="Adobe Caslon Pro" pitchFamily="18" charset="0"/>
              </a:rPr>
              <a:t>Main essential components...</a:t>
            </a:r>
          </a:p>
          <a:p>
            <a:r>
              <a:rPr lang="en-US" sz="2200" dirty="0">
                <a:latin typeface="Adobe Caslon Pro" pitchFamily="18" charset="0"/>
              </a:rPr>
              <a:t>Anode: Graphite [carbon] - C(s)</a:t>
            </a:r>
          </a:p>
          <a:p>
            <a:r>
              <a:rPr lang="en-US" sz="2200" dirty="0">
                <a:latin typeface="Adobe Caslon Pro" pitchFamily="18" charset="0"/>
              </a:rPr>
              <a:t>Cathode: Lithium Cobalt Oxide - LiCoO2</a:t>
            </a:r>
          </a:p>
          <a:p>
            <a:r>
              <a:rPr lang="en-US" sz="2200" dirty="0">
                <a:latin typeface="Adobe Caslon Pro" pitchFamily="18" charset="0"/>
              </a:rPr>
              <a:t>Electrolyte: Typically a combination of lithium salts - LiPF6, LiBF4, or LiClO4, in an organic solvent, such as either. </a:t>
            </a:r>
          </a:p>
          <a:p>
            <a:r>
              <a:rPr lang="en-US" sz="2200" dirty="0">
                <a:latin typeface="Adobe Caslon Pro" pitchFamily="18" charset="0"/>
              </a:rPr>
              <a:t>Separator: The separator is a very thin sheet of micro perforated plastic. - </a:t>
            </a:r>
            <a:r>
              <a:rPr lang="en-US" sz="2200" dirty="0" smtClean="0">
                <a:latin typeface="Adobe Caslon Pro" pitchFamily="18" charset="0"/>
              </a:rPr>
              <a:t>CH2=</a:t>
            </a:r>
            <a:r>
              <a:rPr lang="en-US" sz="2200" dirty="0" err="1" smtClean="0">
                <a:latin typeface="Adobe Caslon Pro" pitchFamily="18" charset="0"/>
              </a:rPr>
              <a:t>CHCl</a:t>
            </a:r>
            <a:endParaRPr lang="en-US" sz="2200" dirty="0" smtClean="0">
              <a:latin typeface="Adobe Caslon Pro" pitchFamily="18" charset="0"/>
            </a:endParaRPr>
          </a:p>
          <a:p>
            <a:endParaRPr lang="en-US" dirty="0"/>
          </a:p>
          <a:p>
            <a:endParaRPr lang="en-US" dirty="0"/>
          </a:p>
        </p:txBody>
      </p:sp>
    </p:spTree>
    <p:extLst>
      <p:ext uri="{BB962C8B-B14F-4D97-AF65-F5344CB8AC3E}">
        <p14:creationId xmlns:p14="http://schemas.microsoft.com/office/powerpoint/2010/main" val="17520533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sz="4000" dirty="0" smtClean="0">
                <a:latin typeface="Algerian" pitchFamily="82" charset="0"/>
              </a:rPr>
              <a:t>Reactions while charging</a:t>
            </a:r>
            <a:endParaRPr lang="en-US" sz="4000" dirty="0">
              <a:latin typeface="Algerian" pitchFamily="82" charset="0"/>
            </a:endParaRPr>
          </a:p>
        </p:txBody>
      </p:sp>
      <p:sp>
        <p:nvSpPr>
          <p:cNvPr id="1048654" name="Content Placeholder 1048653"/>
          <p:cNvSpPr>
            <a:spLocks noGrp="1"/>
          </p:cNvSpPr>
          <p:nvPr>
            <p:ph idx="1"/>
          </p:nvPr>
        </p:nvSpPr>
        <p:spPr/>
        <p:txBody>
          <a:bodyPr/>
          <a:lstStyle/>
          <a:p>
            <a:r>
              <a:rPr lang="en-US" dirty="0">
                <a:latin typeface="Adobe Caslon Pro" pitchFamily="18" charset="0"/>
              </a:rPr>
              <a:t> </a:t>
            </a:r>
            <a:r>
              <a:rPr lang="en-US" sz="2200" dirty="0">
                <a:latin typeface="Adobe Caslon Pro" pitchFamily="18" charset="0"/>
              </a:rPr>
              <a:t>On charge the positive electrode, cathode, material is oxidized, Li+ ions are de-intercalated from the layered lithium </a:t>
            </a:r>
            <a:r>
              <a:rPr lang="en-US" sz="2200" dirty="0" smtClean="0">
                <a:latin typeface="Adobe Caslon Pro" pitchFamily="18" charset="0"/>
              </a:rPr>
              <a:t>LiCoO2</a:t>
            </a:r>
            <a:r>
              <a:rPr lang="en-US" sz="2200" dirty="0">
                <a:latin typeface="Adobe Caslon Pro" pitchFamily="18" charset="0"/>
              </a:rPr>
              <a:t>, pass across the electrolyte and are intercalated between the graphite layers in graphite by an electrochemical reduction reaction proceeding at the negative electrode</a:t>
            </a:r>
            <a:r>
              <a:rPr lang="en-US" sz="2200" dirty="0" smtClean="0">
                <a:latin typeface="Adobe Caslon Pro" pitchFamily="18" charset="0"/>
              </a:rPr>
              <a:t>.</a:t>
            </a:r>
          </a:p>
          <a:p>
            <a:endParaRPr lang="en-US" dirty="0" smtClean="0">
              <a:latin typeface="Adobe Caslon Pro" pitchFamily="18" charset="0"/>
            </a:endParaRPr>
          </a:p>
          <a:p>
            <a:endParaRPr lang="en-US"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9933" y="3842972"/>
            <a:ext cx="4086225"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29177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smtClean="0">
                <a:latin typeface="Algerian" pitchFamily="82" charset="0"/>
              </a:rPr>
              <a:t>Reactions while discharging  </a:t>
            </a:r>
            <a:endParaRPr lang="en-US" sz="4000" dirty="0">
              <a:latin typeface="Algerian" pitchFamily="82" charset="0"/>
            </a:endParaRPr>
          </a:p>
        </p:txBody>
      </p:sp>
      <p:sp>
        <p:nvSpPr>
          <p:cNvPr id="3" name="Content Placeholder 2"/>
          <p:cNvSpPr>
            <a:spLocks noGrp="1"/>
          </p:cNvSpPr>
          <p:nvPr>
            <p:ph idx="1"/>
          </p:nvPr>
        </p:nvSpPr>
        <p:spPr>
          <a:xfrm>
            <a:off x="628650" y="1884240"/>
            <a:ext cx="7886700" cy="4351338"/>
          </a:xfrm>
        </p:spPr>
        <p:txBody>
          <a:bodyPr>
            <a:normAutofit/>
          </a:bodyPr>
          <a:lstStyle/>
          <a:p>
            <a:r>
              <a:rPr lang="en-US" sz="2200" dirty="0">
                <a:latin typeface="Adobe Caslon Pro" pitchFamily="18" charset="0"/>
              </a:rPr>
              <a:t>When the cell is discharged, an oxidation reaction occurs at the negative electrode, Li+ ions are de-intercalated from the anode and migrate across the electrolyte to be re-intercalated into the cathode material, due to charge balance the equivalent number of electrons travel through the external circuit.  A simultaneous electrochemical reduction reaction proceeds at the positive electrode and accepts electrons from the external circuit, Li+ ions from the electrolyte, to reform the starting material. A change from electronic current to ionic current occurs at the electrode/electrolyte interface</a:t>
            </a:r>
            <a:r>
              <a:rPr lang="en-US" sz="2200" dirty="0" smtClean="0">
                <a:latin typeface="Adobe Caslon Pro" pitchFamily="18" charset="0"/>
              </a:rPr>
              <a:t>.</a:t>
            </a:r>
          </a:p>
          <a:p>
            <a:pPr marL="0" indent="0">
              <a:buNone/>
            </a:pPr>
            <a:endParaRPr lang="en-US" sz="2200" dirty="0">
              <a:latin typeface="Adobe Caslon Pro"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4893062"/>
            <a:ext cx="3759787" cy="1947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85660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879" y="4657963"/>
            <a:ext cx="6236676" cy="1308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72" y="1059224"/>
            <a:ext cx="4426560" cy="2586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4032" y="1059223"/>
            <a:ext cx="3240466" cy="2586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05220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latin typeface="Algerian" pitchFamily="82" charset="0"/>
              </a:rPr>
              <a:t>Applications</a:t>
            </a:r>
          </a:p>
        </p:txBody>
      </p:sp>
      <p:sp>
        <p:nvSpPr>
          <p:cNvPr id="3" name="Content Placeholder 2"/>
          <p:cNvSpPr>
            <a:spLocks noGrp="1"/>
          </p:cNvSpPr>
          <p:nvPr>
            <p:ph idx="1"/>
          </p:nvPr>
        </p:nvSpPr>
        <p:spPr/>
        <p:txBody>
          <a:bodyPr>
            <a:normAutofit/>
          </a:bodyPr>
          <a:lstStyle/>
          <a:p>
            <a:r>
              <a:rPr lang="en-US" sz="2400" dirty="0">
                <a:latin typeface="Adobe Caslon Pro" pitchFamily="18" charset="0"/>
              </a:rPr>
              <a:t>Emergency Power Backup Or UPS </a:t>
            </a:r>
          </a:p>
          <a:p>
            <a:r>
              <a:rPr lang="en-US" sz="2400" dirty="0">
                <a:latin typeface="Adobe Caslon Pro" pitchFamily="18" charset="0"/>
              </a:rPr>
              <a:t>Dependable Electric And Recreational Vehicle Power</a:t>
            </a:r>
          </a:p>
          <a:p>
            <a:r>
              <a:rPr lang="en-US" sz="2400" dirty="0">
                <a:latin typeface="Adobe Caslon Pro" pitchFamily="18" charset="0"/>
              </a:rPr>
              <a:t>Solar Power Storage</a:t>
            </a:r>
          </a:p>
          <a:p>
            <a:r>
              <a:rPr lang="en-US" sz="2400" dirty="0">
                <a:latin typeface="Adobe Caslon Pro" pitchFamily="18" charset="0"/>
              </a:rPr>
              <a:t>Reliable And Lightweight Marine Performance</a:t>
            </a:r>
          </a:p>
          <a:p>
            <a:r>
              <a:rPr lang="en-US" sz="2400" dirty="0">
                <a:latin typeface="Adobe Caslon Pro" pitchFamily="18" charset="0"/>
              </a:rPr>
              <a:t>Solar Power Storage</a:t>
            </a:r>
          </a:p>
          <a:p>
            <a:r>
              <a:rPr lang="en-US" sz="2400" dirty="0">
                <a:latin typeface="Adobe Caslon Pro" pitchFamily="18" charset="0"/>
              </a:rPr>
              <a:t>Surveillance Or Alarm Systems In Remote Locations</a:t>
            </a:r>
          </a:p>
          <a:p>
            <a:r>
              <a:rPr lang="en-US" sz="2400" dirty="0">
                <a:latin typeface="Adobe Caslon Pro" pitchFamily="18" charset="0"/>
              </a:rPr>
              <a:t>Personal Freedom With Mobility Equipment</a:t>
            </a:r>
          </a:p>
          <a:p>
            <a:r>
              <a:rPr lang="en-US" sz="2400" dirty="0">
                <a:latin typeface="Adobe Caslon Pro" pitchFamily="18" charset="0"/>
              </a:rPr>
              <a:t>Portable Power Packs That Eliminate Downtime</a:t>
            </a:r>
          </a:p>
          <a:p>
            <a:endParaRPr lang="en-US" sz="2400" dirty="0">
              <a:latin typeface="Adobe Caslon Pro" pitchFamily="18" charset="0"/>
            </a:endParaRPr>
          </a:p>
        </p:txBody>
      </p:sp>
    </p:spTree>
    <p:extLst>
      <p:ext uri="{BB962C8B-B14F-4D97-AF65-F5344CB8AC3E}">
        <p14:creationId xmlns:p14="http://schemas.microsoft.com/office/powerpoint/2010/main" val="157883335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262" y="490054"/>
            <a:ext cx="6284956" cy="5711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343946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218</TotalTime>
  <Words>739</Words>
  <Application>Microsoft Office PowerPoint</Application>
  <PresentationFormat>On-screen Show (4:3)</PresentationFormat>
  <Paragraphs>195</Paragraphs>
  <Slides>32</Slides>
  <Notes>1</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Opulent</vt:lpstr>
      <vt:lpstr>SECONDARY BATTERIES</vt:lpstr>
      <vt:lpstr>INTRODUCTION</vt:lpstr>
      <vt:lpstr>working</vt:lpstr>
      <vt:lpstr>PowerPoint Presentation</vt:lpstr>
      <vt:lpstr>PowerPoint Presentation</vt:lpstr>
      <vt:lpstr>Working(charging)</vt:lpstr>
      <vt:lpstr>PowerPoint Presentation</vt:lpstr>
      <vt:lpstr>1.Lead acid Batteries</vt:lpstr>
      <vt:lpstr>PowerPoint Presentation</vt:lpstr>
      <vt:lpstr>PowerPoint Presentation</vt:lpstr>
      <vt:lpstr>PowerPoint Presentation</vt:lpstr>
      <vt:lpstr>PowerPoint Presentation</vt:lpstr>
      <vt:lpstr>PowerPoint Presentation</vt:lpstr>
      <vt:lpstr>PowerPoint Presentation</vt:lpstr>
      <vt:lpstr>INTRODUCTION</vt:lpstr>
      <vt:lpstr>INVENTIONS AND SCOPE</vt:lpstr>
      <vt:lpstr>RECENT TRENDS</vt:lpstr>
      <vt:lpstr>CELL REPRESENTATION AND  CELL REACTION</vt:lpstr>
      <vt:lpstr>ADVANTAGES</vt:lpstr>
      <vt:lpstr>LIMITATIONS</vt:lpstr>
      <vt:lpstr>APPLICATIONS</vt:lpstr>
      <vt:lpstr>3. RECHARGEABLE LITHIUM   Batteries</vt:lpstr>
      <vt:lpstr>DESCRIPTION</vt:lpstr>
      <vt:lpstr>Electrolytes</vt:lpstr>
      <vt:lpstr>Anode Materials</vt:lpstr>
      <vt:lpstr>Cathode Materials</vt:lpstr>
      <vt:lpstr>Chemical Reactions</vt:lpstr>
      <vt:lpstr>Reactions while charging</vt:lpstr>
      <vt:lpstr>Reactions while discharging  </vt:lpstr>
      <vt:lpstr>PowerPoint Presentation</vt:lpstr>
      <vt:lpstr>Applications</vt:lpstr>
      <vt:lpstr>PowerPoint Presentation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SECONDARY BATTERIES</dc:title>
  <dc:creator>Dell</dc:creator>
  <cp:lastModifiedBy>FACULTY</cp:lastModifiedBy>
  <cp:revision>46</cp:revision>
  <dcterms:created xsi:type="dcterms:W3CDTF">2017-11-27T11:22:42Z</dcterms:created>
  <dcterms:modified xsi:type="dcterms:W3CDTF">2022-04-30T13:06:25Z</dcterms:modified>
</cp:coreProperties>
</file>